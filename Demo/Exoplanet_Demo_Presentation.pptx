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8" d="100"/>
          <a:sy n="98" d="100"/>
        </p:scale>
        <p:origin x="82"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593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"Where data meets discovery." Welcome — this is Exoplanet Habitability Zone Analysis, our graduation project for the Digital Egypt Pioneers Initiative, Data Analysis Track. In the next five minutes, we'll show you how we turned raw NASA data into a tool that helps answer one of humanity's biggest questions: are we alone?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[0:15–0:40] Our mission: explore distant worlds through data. We took real, continuously-updated exoplanet measurements from NASA and built a full pipeline — data engineering, scientific feature engineering, dimensional modeling, an interactive dashboard, and predictive machine learning — to identify which planets could plausibly support life, and rank how Earth-like each one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[0:40–1:10] We started with NASA's Exoplanet Archive — 6,128 planets, 19 raw columns, and about 43% missing or placeholder data. Rather than dropping incomplete rows, we recovered missing values using real physics — Kepler's Third Law, stellar mass-radius relationships — wherever possible. The result: a clean 5,394-row dataset, processed through a Bronze-Silver-Gold medallion pipeline into a star-schema data model ready for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[1:10–1:40] On top of that clean data, we engineered the science that makes habitability analysis possible — stellar luminosity, received flux, equilibrium temperature, escape velocity — and combined them into the Earth Similarity Index, weighted heavily toward temperature. The result: GJ 1002 b scores 0.9935 — essentially Earth's closest known twin among all confirmed exoplanets.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[1:40–2:10] We didn't stop at descriptive analysis — we built two machine learning models. A Random Forest classifier predicts Habitable or Not Habitable with over 99% test accuracy. An XGBoost regressor scores Earth similarity on a 0-to-100 scale with an R-squared of 87%. Both run live — through a Streamlit app and directly inside our dashboard.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[2:10–2:25] Now let's walk through the dashboard itself — a seven-page data story, designed first in Figma with a consistent cosmic identity, from the branded cover page through the mission statement.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[2:25–2:50] The Overview page sets the scene: 5,877 confirmed planets, 4,024 unique host stars, spanning distances up to 7,200 parsecs. We can see discovery history over time — the Transit method dominates — and how single-star versus multi-star systems break down.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[2:50–3:15] The Habitability page dives into planet physics — size, mass, density, and orbital shape. Our Kepler's Third Law scatter plot visually confirms the physics we used to clean the data, and we can clearly separate rocky planets from gas giants.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[3:15–3:40] The Star Systems page turns to the host stars themselves — average temperature close to our own Sun, and a correlation heatmap showing how stellar mass and luminosity move together.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[3:40–4:10] This is the heart of the project — Planet Explorer. Here we isolate the 281 planets that fall inside the habitable zone, cross-reference size against stellar flux, and rank the top 10 most Earth-like candidates by ESI score.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[4:10–4:30] And finally, the AI Model page brings our machine learning to life inside the dashboard — six live sliders let anyone test a hypothetical planet and instantly see whether it's predicted habitable, with a confidence score and Earth Similarity Index.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[4:30–4:50] To sum up the impact: from 5,877 confirmed exoplanets, we found 281 inside the habitable zone, 45 that are both habitable and rocky, and one standout — GJ 1002 b — Earth's closest known twin.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[4:50–5:00] Thank you for watching. This project was built by Nourhan Khalifa, Hannah Hany, Reham Osama, Mohamed Essam, Youssef Abdullah, and Youssef Amir, under the supervision of Eng. Mohamed El-Eman. Where data meets discovery.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jpg"/><Relationship Id="rId7" Type="http://schemas.openxmlformats.org/officeDocument/2006/relationships/image" Target="../media/image7.png"/><Relationship Id="rId12"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17252"/>
            <a:ext cx="12188952" cy="6858000"/>
          </a:xfrm>
          <a:prstGeom prst="rect">
            <a:avLst/>
          </a:prstGeom>
        </p:spPr>
      </p:pic>
      <p:sp>
        <p:nvSpPr>
          <p:cNvPr id="3" name="Shape 0"/>
          <p:cNvSpPr/>
          <p:nvPr/>
        </p:nvSpPr>
        <p:spPr>
          <a:xfrm>
            <a:off x="9372600" y="685800"/>
            <a:ext cx="1371600" cy="1371600"/>
          </a:xfrm>
          <a:prstGeom prst="ellipse">
            <a:avLst/>
          </a:prstGeom>
          <a:solidFill>
            <a:srgbClr val="241640"/>
          </a:solidFill>
          <a:ln w="19050">
            <a:solidFill>
              <a:srgbClr val="F4B942"/>
            </a:solidFill>
            <a:prstDash val="solid"/>
          </a:ln>
        </p:spPr>
        <p:txBody>
          <a:bodyPr/>
          <a:lstStyle/>
          <a:p>
            <a:endParaRPr lang="en-US"/>
          </a:p>
        </p:txBody>
      </p:sp>
      <p:pic>
        <p:nvPicPr>
          <p:cNvPr id="4" name="Image 1" descr="/home/claude/pptx_build/icons/planet_gold.png"/>
          <p:cNvPicPr>
            <a:picLocks noChangeAspect="1"/>
          </p:cNvPicPr>
          <p:nvPr/>
        </p:nvPicPr>
        <p:blipFill>
          <a:blip r:embed="rId4"/>
          <a:stretch>
            <a:fillRect/>
          </a:stretch>
        </p:blipFill>
        <p:spPr>
          <a:xfrm>
            <a:off x="9715500" y="1028700"/>
            <a:ext cx="685800" cy="685800"/>
          </a:xfrm>
          <a:prstGeom prst="rect">
            <a:avLst/>
          </a:prstGeom>
        </p:spPr>
      </p:pic>
      <p:sp>
        <p:nvSpPr>
          <p:cNvPr id="5" name="Shape 1"/>
          <p:cNvSpPr/>
          <p:nvPr/>
        </p:nvSpPr>
        <p:spPr>
          <a:xfrm>
            <a:off x="8778240" y="91440"/>
            <a:ext cx="2560320" cy="2560320"/>
          </a:xfrm>
          <a:prstGeom prst="ellipse">
            <a:avLst/>
          </a:prstGeom>
          <a:ln w="12700">
            <a:solidFill>
              <a:srgbClr val="9B7FD4"/>
            </a:solidFill>
            <a:prstDash val="sysDot"/>
          </a:ln>
        </p:spPr>
        <p:txBody>
          <a:bodyPr/>
          <a:lstStyle/>
          <a:p>
            <a:endParaRPr lang="en-US"/>
          </a:p>
        </p:txBody>
      </p:sp>
      <p:sp>
        <p:nvSpPr>
          <p:cNvPr id="6" name="Text 2"/>
          <p:cNvSpPr/>
          <p:nvPr/>
        </p:nvSpPr>
        <p:spPr>
          <a:xfrm>
            <a:off x="731520" y="1965960"/>
            <a:ext cx="9144000" cy="365760"/>
          </a:xfrm>
          <a:prstGeom prst="rect">
            <a:avLst/>
          </a:prstGeom>
          <a:noFill/>
          <a:ln/>
        </p:spPr>
        <p:txBody>
          <a:bodyPr wrap="square" lIns="0" tIns="0" rIns="0" bIns="0" rtlCol="0" anchor="ctr"/>
          <a:lstStyle/>
          <a:p>
            <a:pPr marL="0" indent="0">
              <a:buNone/>
            </a:pPr>
            <a:r>
              <a:rPr lang="en-US" sz="1300" b="1" kern="0" spc="300" dirty="0">
                <a:solidFill>
                  <a:srgbClr val="F4B942"/>
                </a:solidFill>
                <a:latin typeface="Calibri" pitchFamily="34" charset="0"/>
                <a:ea typeface="Calibri" pitchFamily="34" charset="-122"/>
                <a:cs typeface="Calibri" pitchFamily="34" charset="-120"/>
              </a:rPr>
              <a:t>DIGITAL EGYPT PIONEERS INITIATIVE  ·  DATA ANALYSIS TRACK</a:t>
            </a:r>
            <a:endParaRPr lang="en-US" sz="1300" dirty="0"/>
          </a:p>
        </p:txBody>
      </p:sp>
      <p:sp>
        <p:nvSpPr>
          <p:cNvPr id="7" name="Text 3"/>
          <p:cNvSpPr/>
          <p:nvPr/>
        </p:nvSpPr>
        <p:spPr>
          <a:xfrm>
            <a:off x="685800" y="2423160"/>
            <a:ext cx="10058400" cy="9144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EXOPLANET</a:t>
            </a:r>
            <a:endParaRPr lang="en-US" sz="5400" dirty="0"/>
          </a:p>
        </p:txBody>
      </p:sp>
      <p:sp>
        <p:nvSpPr>
          <p:cNvPr id="8" name="Text 4"/>
          <p:cNvSpPr/>
          <p:nvPr/>
        </p:nvSpPr>
        <p:spPr>
          <a:xfrm>
            <a:off x="685800" y="3200400"/>
            <a:ext cx="10515600" cy="822960"/>
          </a:xfrm>
          <a:prstGeom prst="rect">
            <a:avLst/>
          </a:prstGeom>
          <a:noFill/>
          <a:ln/>
        </p:spPr>
        <p:txBody>
          <a:bodyPr wrap="square" lIns="0" tIns="0" rIns="0" bIns="0" rtlCol="0" anchor="ctr"/>
          <a:lstStyle/>
          <a:p>
            <a:pPr marL="0" indent="0">
              <a:buNone/>
            </a:pPr>
            <a:r>
              <a:rPr lang="en-US" sz="4000" b="1" dirty="0">
                <a:solidFill>
                  <a:srgbClr val="9B7FD4"/>
                </a:solidFill>
                <a:latin typeface="Cambria" pitchFamily="34" charset="0"/>
                <a:ea typeface="Cambria" pitchFamily="34" charset="-122"/>
                <a:cs typeface="Cambria" pitchFamily="34" charset="-120"/>
              </a:rPr>
              <a:t>HABITABILITY ZONE ANALYSIS</a:t>
            </a:r>
            <a:endParaRPr lang="en-US" sz="4000" dirty="0"/>
          </a:p>
        </p:txBody>
      </p:sp>
      <p:sp>
        <p:nvSpPr>
          <p:cNvPr id="9" name="Text 5"/>
          <p:cNvSpPr/>
          <p:nvPr/>
        </p:nvSpPr>
        <p:spPr>
          <a:xfrm>
            <a:off x="731520" y="4114800"/>
            <a:ext cx="7315200" cy="457200"/>
          </a:xfrm>
          <a:prstGeom prst="rect">
            <a:avLst/>
          </a:prstGeom>
          <a:noFill/>
          <a:ln/>
        </p:spPr>
        <p:txBody>
          <a:bodyPr wrap="square" lIns="0" tIns="0" rIns="0" bIns="0" rtlCol="0" anchor="ctr"/>
          <a:lstStyle/>
          <a:p>
            <a:pPr marL="0" indent="0">
              <a:buNone/>
            </a:pPr>
            <a:r>
              <a:rPr lang="en-US" sz="1800" i="1" dirty="0">
                <a:solidFill>
                  <a:srgbClr val="CFC6E0"/>
                </a:solidFill>
                <a:latin typeface="Cambria" pitchFamily="34" charset="0"/>
                <a:ea typeface="Cambria" pitchFamily="34" charset="-122"/>
                <a:cs typeface="Cambria" pitchFamily="34" charset="-120"/>
              </a:rPr>
              <a:t>"Where Data Meets Discovery"</a:t>
            </a:r>
            <a:endParaRPr lang="en-US" sz="1800" dirty="0"/>
          </a:p>
        </p:txBody>
      </p:sp>
      <p:sp>
        <p:nvSpPr>
          <p:cNvPr id="10" name="Shape 6"/>
          <p:cNvSpPr/>
          <p:nvPr/>
        </p:nvSpPr>
        <p:spPr>
          <a:xfrm>
            <a:off x="731520" y="4892040"/>
            <a:ext cx="4206240" cy="0"/>
          </a:xfrm>
          <a:prstGeom prst="line">
            <a:avLst/>
          </a:prstGeom>
          <a:noFill/>
          <a:ln w="12700">
            <a:solidFill>
              <a:srgbClr val="6C3FA6"/>
            </a:solidFill>
            <a:prstDash val="solid"/>
          </a:ln>
        </p:spPr>
        <p:txBody>
          <a:bodyPr/>
          <a:lstStyle/>
          <a:p>
            <a:endParaRPr lang="en-US"/>
          </a:p>
        </p:txBody>
      </p:sp>
      <p:sp>
        <p:nvSpPr>
          <p:cNvPr id="11" name="Text 7"/>
          <p:cNvSpPr/>
          <p:nvPr/>
        </p:nvSpPr>
        <p:spPr>
          <a:xfrm>
            <a:off x="731520" y="5029200"/>
            <a:ext cx="7315200" cy="548640"/>
          </a:xfrm>
          <a:prstGeom prst="rect">
            <a:avLst/>
          </a:prstGeom>
          <a:noFill/>
          <a:ln/>
        </p:spPr>
        <p:txBody>
          <a:bodyPr wrap="square" lIns="0" tIns="0" rIns="0" bIns="0" rtlCol="0" anchor="ctr"/>
          <a:lstStyle/>
          <a:p>
            <a:pPr marL="0" indent="0">
              <a:lnSpc>
                <a:spcPct val="130000"/>
              </a:lnSpc>
              <a:buNone/>
            </a:pPr>
            <a:r>
              <a:rPr lang="en-US" sz="1200" dirty="0">
                <a:solidFill>
                  <a:srgbClr val="CFC6E0"/>
                </a:solidFill>
                <a:latin typeface="Calibri" pitchFamily="34" charset="0"/>
                <a:ea typeface="Calibri" pitchFamily="34" charset="-122"/>
                <a:cs typeface="Calibri" pitchFamily="34" charset="-120"/>
              </a:rPr>
              <a:t>Nourhan Khalifa  ·  Hannah Hany  ·  Reham Osama</a:t>
            </a:r>
            <a:endParaRPr lang="en-US" sz="1200" dirty="0"/>
          </a:p>
          <a:p>
            <a:pPr marL="0" indent="0">
              <a:lnSpc>
                <a:spcPct val="130000"/>
              </a:lnSpc>
              <a:buNone/>
            </a:pPr>
            <a:r>
              <a:rPr lang="en-US" sz="1200" dirty="0">
                <a:solidFill>
                  <a:srgbClr val="CFC6E0"/>
                </a:solidFill>
                <a:latin typeface="Calibri" pitchFamily="34" charset="0"/>
                <a:ea typeface="Calibri" pitchFamily="34" charset="-122"/>
                <a:cs typeface="Calibri" pitchFamily="34" charset="-120"/>
              </a:rPr>
              <a:t>Mohamed Essam  ·  Youssef Abdullah  ·  Youssef Amir</a:t>
            </a:r>
            <a:endParaRPr lang="en-US" sz="1200" dirty="0"/>
          </a:p>
        </p:txBody>
      </p:sp>
      <p:sp>
        <p:nvSpPr>
          <p:cNvPr id="12" name="Text 8"/>
          <p:cNvSpPr/>
          <p:nvPr/>
        </p:nvSpPr>
        <p:spPr>
          <a:xfrm>
            <a:off x="731520" y="5806440"/>
            <a:ext cx="7315200" cy="320040"/>
          </a:xfrm>
          <a:prstGeom prst="rect">
            <a:avLst/>
          </a:prstGeom>
          <a:noFill/>
          <a:ln/>
        </p:spPr>
        <p:txBody>
          <a:bodyPr wrap="square" lIns="0" tIns="0" rIns="0" bIns="0" rtlCol="0" anchor="ctr"/>
          <a:lstStyle/>
          <a:p>
            <a:pPr marL="0" indent="0">
              <a:buNone/>
            </a:pPr>
            <a:r>
              <a:rPr lang="en-US" sz="1100" i="1" dirty="0">
                <a:solidFill>
                  <a:srgbClr val="9A8AC2"/>
                </a:solidFill>
                <a:latin typeface="Calibri" pitchFamily="34" charset="0"/>
                <a:ea typeface="Calibri" pitchFamily="34" charset="-122"/>
                <a:cs typeface="Calibri" pitchFamily="34" charset="-120"/>
              </a:rPr>
              <a:t>Supervisor: Eng. Mohamed </a:t>
            </a:r>
            <a:r>
              <a:rPr lang="en-US" sz="1100" i="1" dirty="0" err="1">
                <a:solidFill>
                  <a:srgbClr val="9A8AC2"/>
                </a:solidFill>
                <a:latin typeface="Calibri" pitchFamily="34" charset="0"/>
                <a:ea typeface="Calibri" pitchFamily="34" charset="-122"/>
                <a:cs typeface="Calibri" pitchFamily="34" charset="-120"/>
              </a:rPr>
              <a:t>Alemam</a:t>
            </a:r>
            <a:endParaRPr lang="en-US" sz="1100" dirty="0"/>
          </a:p>
        </p:txBody>
      </p:sp>
      <p:sp>
        <p:nvSpPr>
          <p:cNvPr id="13" name="Text 9"/>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01</a:t>
            </a:r>
            <a:endParaRPr lang="en-US" sz="1000" dirty="0"/>
          </a:p>
        </p:txBody>
      </p:sp>
      <p:sp>
        <p:nvSpPr>
          <p:cNvPr id="14" name="Text 10"/>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pptx_build/bg_dark2.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PROJECT CONCEPT</a:t>
            </a:r>
            <a:endParaRPr lang="en-US" sz="1200" dirty="0"/>
          </a:p>
        </p:txBody>
      </p:sp>
      <p:sp>
        <p:nvSpPr>
          <p:cNvPr id="4" name="Text 1"/>
          <p:cNvSpPr/>
          <p:nvPr/>
        </p:nvSpPr>
        <p:spPr>
          <a:xfrm>
            <a:off x="548640" y="658368"/>
            <a:ext cx="9601200" cy="118872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Turning NASA's Raw Numbers Into a</a:t>
            </a:r>
            <a:endParaRPr lang="en-US" sz="3000" dirty="0"/>
          </a:p>
          <a:p>
            <a:pPr marL="0" indent="0" algn="l">
              <a:buNone/>
            </a:pPr>
            <a:r>
              <a:rPr lang="en-US" sz="3000" b="1" dirty="0">
                <a:solidFill>
                  <a:srgbClr val="FFFFFF"/>
                </a:solidFill>
                <a:latin typeface="Cambria" pitchFamily="34" charset="0"/>
                <a:ea typeface="Cambria" pitchFamily="34" charset="-122"/>
                <a:cs typeface="Cambria" pitchFamily="34" charset="-120"/>
              </a:rPr>
              <a:t>Habitability Story</a:t>
            </a:r>
            <a:endParaRPr lang="en-US" sz="3000" dirty="0"/>
          </a:p>
        </p:txBody>
      </p:sp>
      <p:sp>
        <p:nvSpPr>
          <p:cNvPr id="5" name="Text 2"/>
          <p:cNvSpPr/>
          <p:nvPr/>
        </p:nvSpPr>
        <p:spPr>
          <a:xfrm>
            <a:off x="548640" y="2011680"/>
            <a:ext cx="5943600" cy="1645920"/>
          </a:xfrm>
          <a:prstGeom prst="rect">
            <a:avLst/>
          </a:prstGeom>
          <a:noFill/>
          <a:ln/>
        </p:spPr>
        <p:txBody>
          <a:bodyPr wrap="square" lIns="0" tIns="0" rIns="0" bIns="0" rtlCol="0" anchor="ctr"/>
          <a:lstStyle/>
          <a:p>
            <a:pPr marL="0" indent="0">
              <a:lnSpc>
                <a:spcPct val="130000"/>
              </a:lnSpc>
              <a:buNone/>
            </a:pPr>
            <a:r>
              <a:rPr lang="en-US" sz="1450" dirty="0">
                <a:solidFill>
                  <a:srgbClr val="CFC6E0"/>
                </a:solidFill>
                <a:latin typeface="Calibri" pitchFamily="34" charset="0"/>
                <a:ea typeface="Calibri" pitchFamily="34" charset="-122"/>
                <a:cs typeface="Calibri" pitchFamily="34" charset="-120"/>
              </a:rPr>
              <a:t>A graduation project built entirely on real, continuously-updated observational data from NASA’s Exoplanet Archive — identifying which confirmed exoplanets fall inside their star’s habitable “Goldilocks Zone,” and ranking how Earth-like each one is.</a:t>
            </a:r>
            <a:endParaRPr lang="en-US" sz="1450" dirty="0"/>
          </a:p>
        </p:txBody>
      </p:sp>
      <p:sp>
        <p:nvSpPr>
          <p:cNvPr id="6" name="Shape 3"/>
          <p:cNvSpPr/>
          <p:nvPr/>
        </p:nvSpPr>
        <p:spPr>
          <a:xfrm>
            <a:off x="548640" y="3886200"/>
            <a:ext cx="2788920" cy="1170432"/>
          </a:xfrm>
          <a:prstGeom prst="rect">
            <a:avLst/>
          </a:prstGeom>
          <a:solidFill>
            <a:srgbClr val="1B1030">
              <a:alpha val="75000"/>
            </a:srgbClr>
          </a:solidFill>
          <a:ln w="12700">
            <a:solidFill>
              <a:srgbClr val="352655"/>
            </a:solidFill>
            <a:prstDash val="solid"/>
          </a:ln>
        </p:spPr>
        <p:txBody>
          <a:bodyPr/>
          <a:lstStyle/>
          <a:p>
            <a:endParaRPr lang="en-US"/>
          </a:p>
        </p:txBody>
      </p:sp>
      <p:sp>
        <p:nvSpPr>
          <p:cNvPr id="7" name="Shape 4"/>
          <p:cNvSpPr/>
          <p:nvPr/>
        </p:nvSpPr>
        <p:spPr>
          <a:xfrm>
            <a:off x="722376" y="4187952"/>
            <a:ext cx="566928" cy="566928"/>
          </a:xfrm>
          <a:prstGeom prst="ellipse">
            <a:avLst/>
          </a:prstGeom>
          <a:solidFill>
            <a:srgbClr val="241640"/>
          </a:solidFill>
          <a:ln w="19050">
            <a:solidFill>
              <a:srgbClr val="F4B942"/>
            </a:solidFill>
            <a:prstDash val="solid"/>
          </a:ln>
        </p:spPr>
        <p:txBody>
          <a:bodyPr/>
          <a:lstStyle/>
          <a:p>
            <a:endParaRPr lang="en-US"/>
          </a:p>
        </p:txBody>
      </p:sp>
      <p:pic>
        <p:nvPicPr>
          <p:cNvPr id="8" name="Image 1" descr="/home/claude/pptx_build/icons/database_gold.png"/>
          <p:cNvPicPr>
            <a:picLocks noChangeAspect="1"/>
          </p:cNvPicPr>
          <p:nvPr/>
        </p:nvPicPr>
        <p:blipFill>
          <a:blip r:embed="rId4"/>
          <a:stretch>
            <a:fillRect/>
          </a:stretch>
        </p:blipFill>
        <p:spPr>
          <a:xfrm>
            <a:off x="864108" y="4329684"/>
            <a:ext cx="283464" cy="283464"/>
          </a:xfrm>
          <a:prstGeom prst="rect">
            <a:avLst/>
          </a:prstGeom>
        </p:spPr>
      </p:pic>
      <p:sp>
        <p:nvSpPr>
          <p:cNvPr id="9" name="Text 5"/>
          <p:cNvSpPr/>
          <p:nvPr/>
        </p:nvSpPr>
        <p:spPr>
          <a:xfrm>
            <a:off x="1325880" y="4005072"/>
            <a:ext cx="19202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Data Engineering</a:t>
            </a:r>
            <a:endParaRPr lang="en-US" sz="1250" dirty="0"/>
          </a:p>
        </p:txBody>
      </p:sp>
      <p:sp>
        <p:nvSpPr>
          <p:cNvPr id="10" name="Text 6"/>
          <p:cNvSpPr/>
          <p:nvPr/>
        </p:nvSpPr>
        <p:spPr>
          <a:xfrm>
            <a:off x="1325880" y="4288536"/>
            <a:ext cx="1938528" cy="713232"/>
          </a:xfrm>
          <a:prstGeom prst="rect">
            <a:avLst/>
          </a:prstGeom>
          <a:noFill/>
          <a:ln/>
        </p:spPr>
        <p:txBody>
          <a:bodyPr wrap="square" lIns="0" tIns="0" rIns="0" bIns="0" rtlCol="0" anchor="ctr"/>
          <a:lstStyle/>
          <a:p>
            <a:pPr marL="0" indent="0">
              <a:lnSpc>
                <a:spcPct val="115000"/>
              </a:lnSpc>
              <a:buNone/>
            </a:pPr>
            <a:r>
              <a:rPr lang="en-US" sz="950" dirty="0">
                <a:solidFill>
                  <a:srgbClr val="CFC6E0"/>
                </a:solidFill>
                <a:latin typeface="Calibri" pitchFamily="34" charset="0"/>
                <a:ea typeface="Calibri" pitchFamily="34" charset="-122"/>
                <a:cs typeface="Calibri" pitchFamily="34" charset="-120"/>
              </a:rPr>
              <a:t>Clean ~6,100 real exoplanets across a Bronze → Silver → Gold pipeline</a:t>
            </a:r>
            <a:endParaRPr lang="en-US" sz="950" dirty="0"/>
          </a:p>
        </p:txBody>
      </p:sp>
      <p:sp>
        <p:nvSpPr>
          <p:cNvPr id="11" name="Shape 7"/>
          <p:cNvSpPr/>
          <p:nvPr/>
        </p:nvSpPr>
        <p:spPr>
          <a:xfrm>
            <a:off x="3611880" y="3886200"/>
            <a:ext cx="2788920" cy="1170432"/>
          </a:xfrm>
          <a:prstGeom prst="rect">
            <a:avLst/>
          </a:prstGeom>
          <a:solidFill>
            <a:srgbClr val="1B1030">
              <a:alpha val="75000"/>
            </a:srgbClr>
          </a:solidFill>
          <a:ln w="12700">
            <a:solidFill>
              <a:srgbClr val="352655"/>
            </a:solidFill>
            <a:prstDash val="solid"/>
          </a:ln>
        </p:spPr>
        <p:txBody>
          <a:bodyPr/>
          <a:lstStyle/>
          <a:p>
            <a:endParaRPr lang="en-US"/>
          </a:p>
        </p:txBody>
      </p:sp>
      <p:sp>
        <p:nvSpPr>
          <p:cNvPr id="12" name="Shape 8"/>
          <p:cNvSpPr/>
          <p:nvPr/>
        </p:nvSpPr>
        <p:spPr>
          <a:xfrm>
            <a:off x="3785616" y="4187952"/>
            <a:ext cx="566928" cy="566928"/>
          </a:xfrm>
          <a:prstGeom prst="ellipse">
            <a:avLst/>
          </a:prstGeom>
          <a:solidFill>
            <a:srgbClr val="241640"/>
          </a:solidFill>
          <a:ln w="19050">
            <a:solidFill>
              <a:srgbClr val="F4B942"/>
            </a:solidFill>
            <a:prstDash val="solid"/>
          </a:ln>
        </p:spPr>
        <p:txBody>
          <a:bodyPr/>
          <a:lstStyle/>
          <a:p>
            <a:endParaRPr lang="en-US"/>
          </a:p>
        </p:txBody>
      </p:sp>
      <p:pic>
        <p:nvPicPr>
          <p:cNvPr id="13" name="Image 2" descr="/home/claude/pptx_build/icons/dna_gold.png"/>
          <p:cNvPicPr>
            <a:picLocks noChangeAspect="1"/>
          </p:cNvPicPr>
          <p:nvPr/>
        </p:nvPicPr>
        <p:blipFill>
          <a:blip r:embed="rId5"/>
          <a:stretch>
            <a:fillRect/>
          </a:stretch>
        </p:blipFill>
        <p:spPr>
          <a:xfrm>
            <a:off x="3927348" y="4329684"/>
            <a:ext cx="283464" cy="283464"/>
          </a:xfrm>
          <a:prstGeom prst="rect">
            <a:avLst/>
          </a:prstGeom>
        </p:spPr>
      </p:pic>
      <p:sp>
        <p:nvSpPr>
          <p:cNvPr id="14" name="Text 9"/>
          <p:cNvSpPr/>
          <p:nvPr/>
        </p:nvSpPr>
        <p:spPr>
          <a:xfrm>
            <a:off x="4389120" y="4005072"/>
            <a:ext cx="19202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Feature Engineering</a:t>
            </a:r>
            <a:endParaRPr lang="en-US" sz="1250" dirty="0"/>
          </a:p>
        </p:txBody>
      </p:sp>
      <p:sp>
        <p:nvSpPr>
          <p:cNvPr id="15" name="Text 10"/>
          <p:cNvSpPr/>
          <p:nvPr/>
        </p:nvSpPr>
        <p:spPr>
          <a:xfrm>
            <a:off x="4389120" y="4288536"/>
            <a:ext cx="1938528" cy="713232"/>
          </a:xfrm>
          <a:prstGeom prst="rect">
            <a:avLst/>
          </a:prstGeom>
          <a:noFill/>
          <a:ln/>
        </p:spPr>
        <p:txBody>
          <a:bodyPr wrap="square" lIns="0" tIns="0" rIns="0" bIns="0" rtlCol="0" anchor="ctr"/>
          <a:lstStyle/>
          <a:p>
            <a:pPr marL="0" indent="0">
              <a:lnSpc>
                <a:spcPct val="115000"/>
              </a:lnSpc>
              <a:buNone/>
            </a:pPr>
            <a:r>
              <a:rPr lang="en-US" sz="950" dirty="0">
                <a:solidFill>
                  <a:srgbClr val="CFC6E0"/>
                </a:solidFill>
                <a:latin typeface="Calibri" pitchFamily="34" charset="0"/>
                <a:ea typeface="Calibri" pitchFamily="34" charset="-122"/>
                <a:cs typeface="Calibri" pitchFamily="34" charset="-120"/>
              </a:rPr>
              <a:t>Derive luminosity, flux, equilibrium temperature &amp; Earth Similarity Index</a:t>
            </a:r>
            <a:endParaRPr lang="en-US" sz="950" dirty="0"/>
          </a:p>
        </p:txBody>
      </p:sp>
      <p:sp>
        <p:nvSpPr>
          <p:cNvPr id="16" name="Shape 11"/>
          <p:cNvSpPr/>
          <p:nvPr/>
        </p:nvSpPr>
        <p:spPr>
          <a:xfrm>
            <a:off x="548640" y="5257800"/>
            <a:ext cx="2788920" cy="1170432"/>
          </a:xfrm>
          <a:prstGeom prst="rect">
            <a:avLst/>
          </a:prstGeom>
          <a:solidFill>
            <a:srgbClr val="1B1030">
              <a:alpha val="75000"/>
            </a:srgbClr>
          </a:solidFill>
          <a:ln w="12700">
            <a:solidFill>
              <a:srgbClr val="352655"/>
            </a:solidFill>
            <a:prstDash val="solid"/>
          </a:ln>
        </p:spPr>
        <p:txBody>
          <a:bodyPr/>
          <a:lstStyle/>
          <a:p>
            <a:endParaRPr lang="en-US"/>
          </a:p>
        </p:txBody>
      </p:sp>
      <p:sp>
        <p:nvSpPr>
          <p:cNvPr id="17" name="Shape 12"/>
          <p:cNvSpPr/>
          <p:nvPr/>
        </p:nvSpPr>
        <p:spPr>
          <a:xfrm>
            <a:off x="722376" y="5559552"/>
            <a:ext cx="566928" cy="566928"/>
          </a:xfrm>
          <a:prstGeom prst="ellipse">
            <a:avLst/>
          </a:prstGeom>
          <a:solidFill>
            <a:srgbClr val="241640"/>
          </a:solidFill>
          <a:ln w="19050">
            <a:solidFill>
              <a:srgbClr val="F4B942"/>
            </a:solidFill>
            <a:prstDash val="solid"/>
          </a:ln>
        </p:spPr>
        <p:txBody>
          <a:bodyPr/>
          <a:lstStyle/>
          <a:p>
            <a:endParaRPr lang="en-US"/>
          </a:p>
        </p:txBody>
      </p:sp>
      <p:pic>
        <p:nvPicPr>
          <p:cNvPr id="18" name="Image 3" descr="/home/claude/pptx_build/icons/chartbar_gold.png"/>
          <p:cNvPicPr>
            <a:picLocks noChangeAspect="1"/>
          </p:cNvPicPr>
          <p:nvPr/>
        </p:nvPicPr>
        <p:blipFill>
          <a:blip r:embed="rId6"/>
          <a:stretch>
            <a:fillRect/>
          </a:stretch>
        </p:blipFill>
        <p:spPr>
          <a:xfrm>
            <a:off x="864108" y="5701284"/>
            <a:ext cx="283464" cy="283464"/>
          </a:xfrm>
          <a:prstGeom prst="rect">
            <a:avLst/>
          </a:prstGeom>
        </p:spPr>
      </p:pic>
      <p:sp>
        <p:nvSpPr>
          <p:cNvPr id="19" name="Text 13"/>
          <p:cNvSpPr/>
          <p:nvPr/>
        </p:nvSpPr>
        <p:spPr>
          <a:xfrm>
            <a:off x="1325880" y="5376672"/>
            <a:ext cx="19202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Dashboard</a:t>
            </a:r>
            <a:endParaRPr lang="en-US" sz="1250" dirty="0"/>
          </a:p>
        </p:txBody>
      </p:sp>
      <p:sp>
        <p:nvSpPr>
          <p:cNvPr id="20" name="Text 14"/>
          <p:cNvSpPr/>
          <p:nvPr/>
        </p:nvSpPr>
        <p:spPr>
          <a:xfrm>
            <a:off x="1325880" y="5660136"/>
            <a:ext cx="1938528" cy="713232"/>
          </a:xfrm>
          <a:prstGeom prst="rect">
            <a:avLst/>
          </a:prstGeom>
          <a:noFill/>
          <a:ln/>
        </p:spPr>
        <p:txBody>
          <a:bodyPr wrap="square" lIns="0" tIns="0" rIns="0" bIns="0" rtlCol="0" anchor="ctr"/>
          <a:lstStyle/>
          <a:p>
            <a:pPr marL="0" indent="0">
              <a:lnSpc>
                <a:spcPct val="115000"/>
              </a:lnSpc>
              <a:buNone/>
            </a:pPr>
            <a:r>
              <a:rPr lang="en-US" sz="950" dirty="0">
                <a:solidFill>
                  <a:srgbClr val="CFC6E0"/>
                </a:solidFill>
                <a:latin typeface="Calibri" pitchFamily="34" charset="0"/>
                <a:ea typeface="Calibri" pitchFamily="34" charset="-122"/>
                <a:cs typeface="Calibri" pitchFamily="34" charset="-120"/>
              </a:rPr>
              <a:t>A 7-page interactive Power BI habitability story</a:t>
            </a:r>
            <a:endParaRPr lang="en-US" sz="950" dirty="0"/>
          </a:p>
        </p:txBody>
      </p:sp>
      <p:sp>
        <p:nvSpPr>
          <p:cNvPr id="21" name="Shape 15"/>
          <p:cNvSpPr/>
          <p:nvPr/>
        </p:nvSpPr>
        <p:spPr>
          <a:xfrm>
            <a:off x="3611880" y="5257800"/>
            <a:ext cx="2788920" cy="1170432"/>
          </a:xfrm>
          <a:prstGeom prst="rect">
            <a:avLst/>
          </a:prstGeom>
          <a:solidFill>
            <a:srgbClr val="1B1030">
              <a:alpha val="75000"/>
            </a:srgbClr>
          </a:solidFill>
          <a:ln w="12700">
            <a:solidFill>
              <a:srgbClr val="352655"/>
            </a:solidFill>
            <a:prstDash val="solid"/>
          </a:ln>
        </p:spPr>
        <p:txBody>
          <a:bodyPr/>
          <a:lstStyle/>
          <a:p>
            <a:endParaRPr lang="en-US"/>
          </a:p>
        </p:txBody>
      </p:sp>
      <p:sp>
        <p:nvSpPr>
          <p:cNvPr id="22" name="Shape 16"/>
          <p:cNvSpPr/>
          <p:nvPr/>
        </p:nvSpPr>
        <p:spPr>
          <a:xfrm>
            <a:off x="3785616" y="5559552"/>
            <a:ext cx="566928" cy="566928"/>
          </a:xfrm>
          <a:prstGeom prst="ellipse">
            <a:avLst/>
          </a:prstGeom>
          <a:solidFill>
            <a:srgbClr val="241640"/>
          </a:solidFill>
          <a:ln w="19050">
            <a:solidFill>
              <a:srgbClr val="F4B942"/>
            </a:solidFill>
            <a:prstDash val="solid"/>
          </a:ln>
        </p:spPr>
        <p:txBody>
          <a:bodyPr/>
          <a:lstStyle/>
          <a:p>
            <a:endParaRPr lang="en-US"/>
          </a:p>
        </p:txBody>
      </p:sp>
      <p:pic>
        <p:nvPicPr>
          <p:cNvPr id="23" name="Image 4" descr="/home/claude/pptx_build/icons/brain_gold.png"/>
          <p:cNvPicPr>
            <a:picLocks noChangeAspect="1"/>
          </p:cNvPicPr>
          <p:nvPr/>
        </p:nvPicPr>
        <p:blipFill>
          <a:blip r:embed="rId7"/>
          <a:stretch>
            <a:fillRect/>
          </a:stretch>
        </p:blipFill>
        <p:spPr>
          <a:xfrm>
            <a:off x="3927348" y="5701284"/>
            <a:ext cx="283464" cy="283464"/>
          </a:xfrm>
          <a:prstGeom prst="rect">
            <a:avLst/>
          </a:prstGeom>
        </p:spPr>
      </p:pic>
      <p:sp>
        <p:nvSpPr>
          <p:cNvPr id="24" name="Text 17"/>
          <p:cNvSpPr/>
          <p:nvPr/>
        </p:nvSpPr>
        <p:spPr>
          <a:xfrm>
            <a:off x="4389120" y="5376672"/>
            <a:ext cx="19202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Predictive Modeling</a:t>
            </a:r>
            <a:endParaRPr lang="en-US" sz="1250" dirty="0"/>
          </a:p>
        </p:txBody>
      </p:sp>
      <p:sp>
        <p:nvSpPr>
          <p:cNvPr id="25" name="Text 18"/>
          <p:cNvSpPr/>
          <p:nvPr/>
        </p:nvSpPr>
        <p:spPr>
          <a:xfrm>
            <a:off x="4389120" y="5660136"/>
            <a:ext cx="1938528" cy="713232"/>
          </a:xfrm>
          <a:prstGeom prst="rect">
            <a:avLst/>
          </a:prstGeom>
          <a:noFill/>
          <a:ln/>
        </p:spPr>
        <p:txBody>
          <a:bodyPr wrap="square" lIns="0" tIns="0" rIns="0" bIns="0" rtlCol="0" anchor="ctr"/>
          <a:lstStyle/>
          <a:p>
            <a:pPr marL="0" indent="0">
              <a:lnSpc>
                <a:spcPct val="115000"/>
              </a:lnSpc>
              <a:buNone/>
            </a:pPr>
            <a:r>
              <a:rPr lang="en-US" sz="950" dirty="0">
                <a:solidFill>
                  <a:srgbClr val="CFC6E0"/>
                </a:solidFill>
                <a:latin typeface="Calibri" pitchFamily="34" charset="0"/>
                <a:ea typeface="Calibri" pitchFamily="34" charset="-122"/>
                <a:cs typeface="Calibri" pitchFamily="34" charset="-120"/>
              </a:rPr>
              <a:t>ML models that judge a planet’s habitability live</a:t>
            </a:r>
            <a:endParaRPr lang="en-US" sz="950" dirty="0"/>
          </a:p>
        </p:txBody>
      </p:sp>
      <p:sp>
        <p:nvSpPr>
          <p:cNvPr id="26" name="Shape 19"/>
          <p:cNvSpPr/>
          <p:nvPr/>
        </p:nvSpPr>
        <p:spPr>
          <a:xfrm>
            <a:off x="8686800" y="1645920"/>
            <a:ext cx="2377440" cy="2377440"/>
          </a:xfrm>
          <a:prstGeom prst="ellipse">
            <a:avLst/>
          </a:prstGeom>
          <a:solidFill>
            <a:srgbClr val="241640"/>
          </a:solidFill>
          <a:ln w="19050">
            <a:solidFill>
              <a:srgbClr val="F4B942"/>
            </a:solidFill>
            <a:prstDash val="solid"/>
          </a:ln>
        </p:spPr>
        <p:txBody>
          <a:bodyPr/>
          <a:lstStyle/>
          <a:p>
            <a:endParaRPr lang="en-US"/>
          </a:p>
        </p:txBody>
      </p:sp>
      <p:pic>
        <p:nvPicPr>
          <p:cNvPr id="27" name="Image 5" descr="/home/claude/pptx_build/icons/planet_gold.png"/>
          <p:cNvPicPr>
            <a:picLocks noChangeAspect="1"/>
          </p:cNvPicPr>
          <p:nvPr/>
        </p:nvPicPr>
        <p:blipFill>
          <a:blip r:embed="rId8"/>
          <a:stretch>
            <a:fillRect/>
          </a:stretch>
        </p:blipFill>
        <p:spPr>
          <a:xfrm>
            <a:off x="9281160" y="2240280"/>
            <a:ext cx="1188720" cy="1188720"/>
          </a:xfrm>
          <a:prstGeom prst="rect">
            <a:avLst/>
          </a:prstGeom>
        </p:spPr>
      </p:pic>
      <p:sp>
        <p:nvSpPr>
          <p:cNvPr id="28" name="Shape 20"/>
          <p:cNvSpPr/>
          <p:nvPr/>
        </p:nvSpPr>
        <p:spPr>
          <a:xfrm>
            <a:off x="8366760" y="1325880"/>
            <a:ext cx="3017520" cy="3017520"/>
          </a:xfrm>
          <a:prstGeom prst="ellipse">
            <a:avLst/>
          </a:prstGeom>
          <a:ln w="12700">
            <a:solidFill>
              <a:srgbClr val="9B7FD4"/>
            </a:solidFill>
            <a:prstDash val="sysDot"/>
          </a:ln>
        </p:spPr>
        <p:txBody>
          <a:bodyPr/>
          <a:lstStyle/>
          <a:p>
            <a:endParaRPr lang="en-US"/>
          </a:p>
        </p:txBody>
      </p:sp>
      <p:sp>
        <p:nvSpPr>
          <p:cNvPr id="29" name="Shape 21"/>
          <p:cNvSpPr/>
          <p:nvPr/>
        </p:nvSpPr>
        <p:spPr>
          <a:xfrm>
            <a:off x="10797370" y="3756490"/>
            <a:ext cx="548640" cy="548640"/>
          </a:xfrm>
          <a:prstGeom prst="ellipse">
            <a:avLst/>
          </a:prstGeom>
          <a:solidFill>
            <a:srgbClr val="241640"/>
          </a:solidFill>
          <a:ln w="19050">
            <a:solidFill>
              <a:srgbClr val="9B7FD4"/>
            </a:solidFill>
            <a:prstDash val="solid"/>
          </a:ln>
        </p:spPr>
        <p:txBody>
          <a:bodyPr/>
          <a:lstStyle/>
          <a:p>
            <a:endParaRPr lang="en-US"/>
          </a:p>
        </p:txBody>
      </p:sp>
      <p:pic>
        <p:nvPicPr>
          <p:cNvPr id="30" name="Image 6" descr="/home/claude/pptx_build/icons/telescope_violet.png"/>
          <p:cNvPicPr>
            <a:picLocks noChangeAspect="1"/>
          </p:cNvPicPr>
          <p:nvPr/>
        </p:nvPicPr>
        <p:blipFill>
          <a:blip r:embed="rId9"/>
          <a:stretch>
            <a:fillRect/>
          </a:stretch>
        </p:blipFill>
        <p:spPr>
          <a:xfrm>
            <a:off x="10934530" y="3893650"/>
            <a:ext cx="274320" cy="274320"/>
          </a:xfrm>
          <a:prstGeom prst="rect">
            <a:avLst/>
          </a:prstGeom>
        </p:spPr>
      </p:pic>
      <p:sp>
        <p:nvSpPr>
          <p:cNvPr id="31" name="Shape 22"/>
          <p:cNvSpPr/>
          <p:nvPr/>
        </p:nvSpPr>
        <p:spPr>
          <a:xfrm>
            <a:off x="8405030" y="3756490"/>
            <a:ext cx="548640" cy="548640"/>
          </a:xfrm>
          <a:prstGeom prst="ellipse">
            <a:avLst/>
          </a:prstGeom>
          <a:solidFill>
            <a:srgbClr val="241640"/>
          </a:solidFill>
          <a:ln w="19050">
            <a:solidFill>
              <a:srgbClr val="9B7FD4"/>
            </a:solidFill>
            <a:prstDash val="solid"/>
          </a:ln>
        </p:spPr>
        <p:txBody>
          <a:bodyPr/>
          <a:lstStyle/>
          <a:p>
            <a:endParaRPr lang="en-US"/>
          </a:p>
        </p:txBody>
      </p:sp>
      <p:pic>
        <p:nvPicPr>
          <p:cNvPr id="32" name="Image 7" descr="/home/claude/pptx_build/icons/chartline_violet.png"/>
          <p:cNvPicPr>
            <a:picLocks noChangeAspect="1"/>
          </p:cNvPicPr>
          <p:nvPr/>
        </p:nvPicPr>
        <p:blipFill>
          <a:blip r:embed="rId10"/>
          <a:stretch>
            <a:fillRect/>
          </a:stretch>
        </p:blipFill>
        <p:spPr>
          <a:xfrm>
            <a:off x="8542190" y="3893650"/>
            <a:ext cx="274320" cy="274320"/>
          </a:xfrm>
          <a:prstGeom prst="rect">
            <a:avLst/>
          </a:prstGeom>
        </p:spPr>
      </p:pic>
      <p:sp>
        <p:nvSpPr>
          <p:cNvPr id="33" name="Shape 23"/>
          <p:cNvSpPr/>
          <p:nvPr/>
        </p:nvSpPr>
        <p:spPr>
          <a:xfrm>
            <a:off x="8405030" y="1364150"/>
            <a:ext cx="548640" cy="548640"/>
          </a:xfrm>
          <a:prstGeom prst="ellipse">
            <a:avLst/>
          </a:prstGeom>
          <a:solidFill>
            <a:srgbClr val="241640"/>
          </a:solidFill>
          <a:ln w="19050">
            <a:solidFill>
              <a:srgbClr val="9B7FD4"/>
            </a:solidFill>
            <a:prstDash val="solid"/>
          </a:ln>
        </p:spPr>
        <p:txBody>
          <a:bodyPr/>
          <a:lstStyle/>
          <a:p>
            <a:endParaRPr lang="en-US"/>
          </a:p>
        </p:txBody>
      </p:sp>
      <p:pic>
        <p:nvPicPr>
          <p:cNvPr id="34" name="Image 8" descr="/home/claude/pptx_build/icons/stars_violet.png"/>
          <p:cNvPicPr>
            <a:picLocks noChangeAspect="1"/>
          </p:cNvPicPr>
          <p:nvPr/>
        </p:nvPicPr>
        <p:blipFill>
          <a:blip r:embed="rId11"/>
          <a:stretch>
            <a:fillRect/>
          </a:stretch>
        </p:blipFill>
        <p:spPr>
          <a:xfrm>
            <a:off x="8542190" y="1501310"/>
            <a:ext cx="274320" cy="274320"/>
          </a:xfrm>
          <a:prstGeom prst="rect">
            <a:avLst/>
          </a:prstGeom>
        </p:spPr>
      </p:pic>
      <p:sp>
        <p:nvSpPr>
          <p:cNvPr id="35" name="Shape 24"/>
          <p:cNvSpPr/>
          <p:nvPr/>
        </p:nvSpPr>
        <p:spPr>
          <a:xfrm>
            <a:off x="10797370" y="1364150"/>
            <a:ext cx="548640" cy="548640"/>
          </a:xfrm>
          <a:prstGeom prst="ellipse">
            <a:avLst/>
          </a:prstGeom>
          <a:solidFill>
            <a:srgbClr val="241640"/>
          </a:solidFill>
          <a:ln w="19050">
            <a:solidFill>
              <a:srgbClr val="9B7FD4"/>
            </a:solidFill>
            <a:prstDash val="solid"/>
          </a:ln>
        </p:spPr>
        <p:txBody>
          <a:bodyPr/>
          <a:lstStyle/>
          <a:p>
            <a:endParaRPr lang="en-US"/>
          </a:p>
        </p:txBody>
      </p:sp>
      <p:pic>
        <p:nvPicPr>
          <p:cNvPr id="36" name="Image 9" descr="/home/claude/pptx_build/icons/orbital_violet.png"/>
          <p:cNvPicPr>
            <a:picLocks noChangeAspect="1"/>
          </p:cNvPicPr>
          <p:nvPr/>
        </p:nvPicPr>
        <p:blipFill>
          <a:blip r:embed="rId12"/>
          <a:stretch>
            <a:fillRect/>
          </a:stretch>
        </p:blipFill>
        <p:spPr>
          <a:xfrm>
            <a:off x="10934530" y="1501310"/>
            <a:ext cx="274320" cy="274320"/>
          </a:xfrm>
          <a:prstGeom prst="rect">
            <a:avLst/>
          </a:prstGeom>
        </p:spPr>
      </p:pic>
      <p:sp>
        <p:nvSpPr>
          <p:cNvPr id="37" name="Text 25"/>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02</a:t>
            </a:r>
            <a:endParaRPr lang="en-US" sz="1000" dirty="0"/>
          </a:p>
        </p:txBody>
      </p:sp>
      <p:sp>
        <p:nvSpPr>
          <p:cNvPr id="38" name="Text 26"/>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pptx_build/bg_dark2.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DATA &amp; ENGINEERING PIPELINE</a:t>
            </a:r>
            <a:endParaRPr lang="en-US" sz="1200" dirty="0"/>
          </a:p>
        </p:txBody>
      </p:sp>
      <p:sp>
        <p:nvSpPr>
          <p:cNvPr id="4" name="Text 1"/>
          <p:cNvSpPr/>
          <p:nvPr/>
        </p:nvSpPr>
        <p:spPr>
          <a:xfrm>
            <a:off x="548640" y="658368"/>
            <a:ext cx="9601200" cy="1097280"/>
          </a:xfrm>
          <a:prstGeom prst="rect">
            <a:avLst/>
          </a:prstGeom>
          <a:noFill/>
          <a:ln/>
        </p:spPr>
        <p:txBody>
          <a:bodyPr wrap="square" lIns="0" tIns="0" rIns="0" bIns="0" rtlCol="0" anchor="ctr"/>
          <a:lstStyle/>
          <a:p>
            <a:pPr marL="0" indent="0" algn="l">
              <a:buNone/>
            </a:pPr>
            <a:r>
              <a:rPr lang="en-US" sz="2700" b="1" dirty="0">
                <a:solidFill>
                  <a:srgbClr val="FFFFFF"/>
                </a:solidFill>
                <a:latin typeface="Cambria" pitchFamily="34" charset="0"/>
                <a:ea typeface="Cambria" pitchFamily="34" charset="-122"/>
                <a:cs typeface="Cambria" pitchFamily="34" charset="-120"/>
              </a:rPr>
              <a:t>From a Live NASA Archive to a Clean,</a:t>
            </a:r>
            <a:endParaRPr lang="en-US" sz="2700" dirty="0"/>
          </a:p>
          <a:p>
            <a:pPr marL="0" indent="0" algn="l">
              <a:buNone/>
            </a:pPr>
            <a:r>
              <a:rPr lang="en-US" sz="2700" b="1" dirty="0">
                <a:solidFill>
                  <a:srgbClr val="FFFFFF"/>
                </a:solidFill>
                <a:latin typeface="Cambria" pitchFamily="34" charset="0"/>
                <a:ea typeface="Cambria" pitchFamily="34" charset="-122"/>
                <a:cs typeface="Cambria" pitchFamily="34" charset="-120"/>
              </a:rPr>
              <a:t>Analysis-Ready Dataset</a:t>
            </a:r>
            <a:endParaRPr lang="en-US" sz="2700" dirty="0"/>
          </a:p>
        </p:txBody>
      </p:sp>
      <p:sp>
        <p:nvSpPr>
          <p:cNvPr id="5" name="Text 2"/>
          <p:cNvSpPr/>
          <p:nvPr/>
        </p:nvSpPr>
        <p:spPr>
          <a:xfrm>
            <a:off x="548640" y="1965960"/>
            <a:ext cx="2560320" cy="502920"/>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6,128</a:t>
            </a:r>
            <a:endParaRPr lang="en-US" sz="2600" dirty="0"/>
          </a:p>
        </p:txBody>
      </p:sp>
      <p:sp>
        <p:nvSpPr>
          <p:cNvPr id="6" name="Text 3"/>
          <p:cNvSpPr/>
          <p:nvPr/>
        </p:nvSpPr>
        <p:spPr>
          <a:xfrm>
            <a:off x="548640" y="2468880"/>
            <a:ext cx="2560320" cy="45720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Planets in the raw snapshot</a:t>
            </a:r>
            <a:endParaRPr lang="en-US" sz="1000" dirty="0"/>
          </a:p>
        </p:txBody>
      </p:sp>
      <p:sp>
        <p:nvSpPr>
          <p:cNvPr id="7" name="Text 4"/>
          <p:cNvSpPr/>
          <p:nvPr/>
        </p:nvSpPr>
        <p:spPr>
          <a:xfrm>
            <a:off x="3291840" y="1965960"/>
            <a:ext cx="2560320" cy="502920"/>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19</a:t>
            </a:r>
            <a:endParaRPr lang="en-US" sz="2600" dirty="0"/>
          </a:p>
        </p:txBody>
      </p:sp>
      <p:sp>
        <p:nvSpPr>
          <p:cNvPr id="8" name="Text 5"/>
          <p:cNvSpPr/>
          <p:nvPr/>
        </p:nvSpPr>
        <p:spPr>
          <a:xfrm>
            <a:off x="3291840" y="2468880"/>
            <a:ext cx="2560320" cy="45720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Raw columns selected</a:t>
            </a:r>
            <a:endParaRPr lang="en-US" sz="1000" dirty="0"/>
          </a:p>
        </p:txBody>
      </p:sp>
      <p:sp>
        <p:nvSpPr>
          <p:cNvPr id="9" name="Text 6"/>
          <p:cNvSpPr/>
          <p:nvPr/>
        </p:nvSpPr>
        <p:spPr>
          <a:xfrm>
            <a:off x="548640" y="3017520"/>
            <a:ext cx="2560320" cy="502920"/>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~43%</a:t>
            </a:r>
            <a:endParaRPr lang="en-US" sz="2600" dirty="0"/>
          </a:p>
        </p:txBody>
      </p:sp>
      <p:sp>
        <p:nvSpPr>
          <p:cNvPr id="10" name="Text 7"/>
          <p:cNvSpPr/>
          <p:nvPr/>
        </p:nvSpPr>
        <p:spPr>
          <a:xfrm>
            <a:off x="548640" y="3520440"/>
            <a:ext cx="2560320" cy="45720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Cells missing or placeholder zeros</a:t>
            </a:r>
            <a:endParaRPr lang="en-US" sz="1000" dirty="0"/>
          </a:p>
        </p:txBody>
      </p:sp>
      <p:sp>
        <p:nvSpPr>
          <p:cNvPr id="11" name="Text 8"/>
          <p:cNvSpPr/>
          <p:nvPr/>
        </p:nvSpPr>
        <p:spPr>
          <a:xfrm>
            <a:off x="3291840" y="3017520"/>
            <a:ext cx="2560320" cy="502920"/>
          </a:xfrm>
          <a:prstGeom prst="rect">
            <a:avLst/>
          </a:prstGeom>
          <a:noFill/>
          <a:ln/>
        </p:spPr>
        <p:txBody>
          <a:bodyPr wrap="square" lIns="0" tIns="0" rIns="0" bIns="0" rtlCol="0" anchor="ctr"/>
          <a:lstStyle/>
          <a:p>
            <a:pPr marL="0" indent="0">
              <a:buNone/>
            </a:pPr>
            <a:r>
              <a:rPr lang="en-US" sz="2600" b="1" dirty="0">
                <a:solidFill>
                  <a:srgbClr val="F4B942"/>
                </a:solidFill>
                <a:latin typeface="Cambria" pitchFamily="34" charset="0"/>
                <a:ea typeface="Cambria" pitchFamily="34" charset="-122"/>
                <a:cs typeface="Cambria" pitchFamily="34" charset="-120"/>
              </a:rPr>
              <a:t>5,394</a:t>
            </a:r>
            <a:endParaRPr lang="en-US" sz="2600" dirty="0"/>
          </a:p>
        </p:txBody>
      </p:sp>
      <p:sp>
        <p:nvSpPr>
          <p:cNvPr id="12" name="Text 9"/>
          <p:cNvSpPr/>
          <p:nvPr/>
        </p:nvSpPr>
        <p:spPr>
          <a:xfrm>
            <a:off x="3291840" y="3520440"/>
            <a:ext cx="2560320" cy="45720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Rows after physics-based cleaning</a:t>
            </a:r>
            <a:endParaRPr lang="en-US" sz="1000" dirty="0"/>
          </a:p>
        </p:txBody>
      </p:sp>
      <p:sp>
        <p:nvSpPr>
          <p:cNvPr id="13" name="Text 10"/>
          <p:cNvSpPr/>
          <p:nvPr/>
        </p:nvSpPr>
        <p:spPr>
          <a:xfrm>
            <a:off x="548640" y="4160520"/>
            <a:ext cx="5303520" cy="548640"/>
          </a:xfrm>
          <a:prstGeom prst="rect">
            <a:avLst/>
          </a:prstGeom>
          <a:noFill/>
          <a:ln/>
        </p:spPr>
        <p:txBody>
          <a:bodyPr wrap="square" lIns="0" tIns="0" rIns="0" bIns="0" rtlCol="0" anchor="ctr"/>
          <a:lstStyle/>
          <a:p>
            <a:pPr marL="0" indent="0">
              <a:lnSpc>
                <a:spcPct val="120000"/>
              </a:lnSpc>
              <a:buNone/>
            </a:pPr>
            <a:r>
              <a:rPr lang="en-US" sz="1050" i="1" dirty="0">
                <a:solidFill>
                  <a:srgbClr val="9A8AC2"/>
                </a:solidFill>
                <a:latin typeface="Calibri" pitchFamily="34" charset="0"/>
                <a:ea typeface="Calibri" pitchFamily="34" charset="-122"/>
                <a:cs typeface="Calibri" pitchFamily="34" charset="-120"/>
              </a:rPr>
              <a:t>Source: NASA Exoplanet Archive (Caltech / IPAC) — Planetary Systems table, updated daily.</a:t>
            </a:r>
            <a:endParaRPr lang="en-US" sz="1050" dirty="0"/>
          </a:p>
        </p:txBody>
      </p:sp>
      <p:sp>
        <p:nvSpPr>
          <p:cNvPr id="14" name="Text 11"/>
          <p:cNvSpPr/>
          <p:nvPr/>
        </p:nvSpPr>
        <p:spPr>
          <a:xfrm>
            <a:off x="548640" y="4892040"/>
            <a:ext cx="5394960" cy="1280160"/>
          </a:xfrm>
          <a:prstGeom prst="rect">
            <a:avLst/>
          </a:prstGeom>
          <a:noFill/>
          <a:ln/>
        </p:spPr>
        <p:txBody>
          <a:bodyPr wrap="square" lIns="0" tIns="0" rIns="0" bIns="0" rtlCol="0" anchor="ctr"/>
          <a:lstStyle/>
          <a:p>
            <a:pPr marL="0" indent="0">
              <a:lnSpc>
                <a:spcPct val="125000"/>
              </a:lnSpc>
              <a:buNone/>
            </a:pPr>
            <a:r>
              <a:rPr lang="en-US" sz="1150" dirty="0">
                <a:solidFill>
                  <a:srgbClr val="CFC6E0"/>
                </a:solidFill>
                <a:latin typeface="Calibri" pitchFamily="34" charset="0"/>
                <a:ea typeface="Calibri" pitchFamily="34" charset="-122"/>
                <a:cs typeface="Calibri" pitchFamily="34" charset="-120"/>
              </a:rPr>
              <a:t>Missing values were recovered with real astrophysics — Kepler’s Third Law, the stellar Radius–Mass relation, and Mass–Radius regimes — before any row was dropped.</a:t>
            </a:r>
            <a:endParaRPr lang="en-US" sz="1150" dirty="0"/>
          </a:p>
        </p:txBody>
      </p:sp>
      <p:sp>
        <p:nvSpPr>
          <p:cNvPr id="15" name="Shape 12"/>
          <p:cNvSpPr/>
          <p:nvPr/>
        </p:nvSpPr>
        <p:spPr>
          <a:xfrm>
            <a:off x="6492240" y="1965960"/>
            <a:ext cx="5120640" cy="987552"/>
          </a:xfrm>
          <a:prstGeom prst="rect">
            <a:avLst/>
          </a:prstGeom>
          <a:solidFill>
            <a:srgbClr val="1B1030">
              <a:alpha val="80000"/>
            </a:srgbClr>
          </a:solidFill>
          <a:ln w="12700">
            <a:solidFill>
              <a:srgbClr val="F4B942"/>
            </a:solidFill>
            <a:prstDash val="solid"/>
          </a:ln>
        </p:spPr>
        <p:txBody>
          <a:bodyPr/>
          <a:lstStyle/>
          <a:p>
            <a:endParaRPr lang="en-US"/>
          </a:p>
        </p:txBody>
      </p:sp>
      <p:sp>
        <p:nvSpPr>
          <p:cNvPr id="16" name="Text 13"/>
          <p:cNvSpPr/>
          <p:nvPr/>
        </p:nvSpPr>
        <p:spPr>
          <a:xfrm>
            <a:off x="6720840" y="2057400"/>
            <a:ext cx="4480560" cy="320040"/>
          </a:xfrm>
          <a:prstGeom prst="rect">
            <a:avLst/>
          </a:prstGeom>
          <a:noFill/>
          <a:ln/>
        </p:spPr>
        <p:txBody>
          <a:bodyPr wrap="square" lIns="0" tIns="0" rIns="0" bIns="0" rtlCol="0" anchor="ctr"/>
          <a:lstStyle/>
          <a:p>
            <a:pPr marL="0" indent="0">
              <a:buNone/>
            </a:pPr>
            <a:r>
              <a:rPr lang="en-US" sz="1500" b="1" dirty="0">
                <a:solidFill>
                  <a:srgbClr val="F4B942"/>
                </a:solidFill>
                <a:latin typeface="Cambria" pitchFamily="34" charset="0"/>
                <a:ea typeface="Cambria" pitchFamily="34" charset="-122"/>
                <a:cs typeface="Cambria" pitchFamily="34" charset="-120"/>
              </a:rPr>
              <a:t>Bronze</a:t>
            </a:r>
            <a:endParaRPr lang="en-US" sz="1500" dirty="0"/>
          </a:p>
        </p:txBody>
      </p:sp>
      <p:sp>
        <p:nvSpPr>
          <p:cNvPr id="17" name="Text 14"/>
          <p:cNvSpPr/>
          <p:nvPr/>
        </p:nvSpPr>
        <p:spPr>
          <a:xfrm>
            <a:off x="6720840" y="2386584"/>
            <a:ext cx="4663440" cy="502920"/>
          </a:xfrm>
          <a:prstGeom prst="rect">
            <a:avLst/>
          </a:prstGeom>
          <a:noFill/>
          <a:ln/>
        </p:spPr>
        <p:txBody>
          <a:bodyPr wrap="square" lIns="0" tIns="0" rIns="0" bIns="0" rtlCol="0" anchor="ctr"/>
          <a:lstStyle/>
          <a:p>
            <a:pPr marL="0" indent="0">
              <a:lnSpc>
                <a:spcPct val="115000"/>
              </a:lnSpc>
              <a:buNone/>
            </a:pPr>
            <a:r>
              <a:rPr lang="en-US" sz="1000" dirty="0">
                <a:solidFill>
                  <a:srgbClr val="CFC6E0"/>
                </a:solidFill>
                <a:latin typeface="Calibri" pitchFamily="34" charset="0"/>
                <a:ea typeface="Calibri" pitchFamily="34" charset="-122"/>
                <a:cs typeface="Calibri" pitchFamily="34" charset="-120"/>
              </a:rPr>
              <a:t>Raw ingestion — NASA extract + parallax file, structure &amp; null inspection</a:t>
            </a:r>
            <a:endParaRPr lang="en-US" sz="1000" dirty="0"/>
          </a:p>
        </p:txBody>
      </p:sp>
      <p:sp>
        <p:nvSpPr>
          <p:cNvPr id="18" name="Shape 15"/>
          <p:cNvSpPr/>
          <p:nvPr/>
        </p:nvSpPr>
        <p:spPr>
          <a:xfrm rot="10800000">
            <a:off x="8869680" y="2953512"/>
            <a:ext cx="201168" cy="182880"/>
          </a:xfrm>
          <a:prstGeom prst="triangle">
            <a:avLst/>
          </a:prstGeom>
          <a:solidFill>
            <a:srgbClr val="9B7FD4"/>
          </a:solidFill>
          <a:ln/>
        </p:spPr>
        <p:txBody>
          <a:bodyPr/>
          <a:lstStyle/>
          <a:p>
            <a:endParaRPr lang="en-US"/>
          </a:p>
        </p:txBody>
      </p:sp>
      <p:sp>
        <p:nvSpPr>
          <p:cNvPr id="19" name="Shape 16"/>
          <p:cNvSpPr/>
          <p:nvPr/>
        </p:nvSpPr>
        <p:spPr>
          <a:xfrm>
            <a:off x="6492240" y="3200400"/>
            <a:ext cx="5120640" cy="987552"/>
          </a:xfrm>
          <a:prstGeom prst="rect">
            <a:avLst/>
          </a:prstGeom>
          <a:solidFill>
            <a:srgbClr val="1B1030">
              <a:alpha val="80000"/>
            </a:srgbClr>
          </a:solidFill>
          <a:ln w="12700">
            <a:solidFill>
              <a:srgbClr val="F4B942"/>
            </a:solidFill>
            <a:prstDash val="solid"/>
          </a:ln>
        </p:spPr>
        <p:txBody>
          <a:bodyPr/>
          <a:lstStyle/>
          <a:p>
            <a:endParaRPr lang="en-US"/>
          </a:p>
        </p:txBody>
      </p:sp>
      <p:sp>
        <p:nvSpPr>
          <p:cNvPr id="20" name="Text 17"/>
          <p:cNvSpPr/>
          <p:nvPr/>
        </p:nvSpPr>
        <p:spPr>
          <a:xfrm>
            <a:off x="6720840" y="3291840"/>
            <a:ext cx="4480560" cy="320040"/>
          </a:xfrm>
          <a:prstGeom prst="rect">
            <a:avLst/>
          </a:prstGeom>
          <a:noFill/>
          <a:ln/>
        </p:spPr>
        <p:txBody>
          <a:bodyPr wrap="square" lIns="0" tIns="0" rIns="0" bIns="0" rtlCol="0" anchor="ctr"/>
          <a:lstStyle/>
          <a:p>
            <a:pPr marL="0" indent="0">
              <a:buNone/>
            </a:pPr>
            <a:r>
              <a:rPr lang="en-US" sz="1500" b="1" dirty="0">
                <a:solidFill>
                  <a:srgbClr val="F4B942"/>
                </a:solidFill>
                <a:latin typeface="Cambria" pitchFamily="34" charset="0"/>
                <a:ea typeface="Cambria" pitchFamily="34" charset="-122"/>
                <a:cs typeface="Cambria" pitchFamily="34" charset="-120"/>
              </a:rPr>
              <a:t>Silver</a:t>
            </a:r>
            <a:endParaRPr lang="en-US" sz="1500" dirty="0"/>
          </a:p>
        </p:txBody>
      </p:sp>
      <p:sp>
        <p:nvSpPr>
          <p:cNvPr id="21" name="Text 18"/>
          <p:cNvSpPr/>
          <p:nvPr/>
        </p:nvSpPr>
        <p:spPr>
          <a:xfrm>
            <a:off x="6720840" y="3621024"/>
            <a:ext cx="4663440" cy="502920"/>
          </a:xfrm>
          <a:prstGeom prst="rect">
            <a:avLst/>
          </a:prstGeom>
          <a:noFill/>
          <a:ln/>
        </p:spPr>
        <p:txBody>
          <a:bodyPr wrap="square" lIns="0" tIns="0" rIns="0" bIns="0" rtlCol="0" anchor="ctr"/>
          <a:lstStyle/>
          <a:p>
            <a:pPr marL="0" indent="0">
              <a:lnSpc>
                <a:spcPct val="115000"/>
              </a:lnSpc>
              <a:buNone/>
            </a:pPr>
            <a:r>
              <a:rPr lang="en-US" sz="1000" dirty="0">
                <a:solidFill>
                  <a:srgbClr val="CFC6E0"/>
                </a:solidFill>
                <a:latin typeface="Calibri" pitchFamily="34" charset="0"/>
                <a:ea typeface="Calibri" pitchFamily="34" charset="-122"/>
                <a:cs typeface="Calibri" pitchFamily="34" charset="-120"/>
              </a:rPr>
              <a:t>All imputation logic — physics-based fills, dedup, distance merge</a:t>
            </a:r>
            <a:endParaRPr lang="en-US" sz="1000" dirty="0"/>
          </a:p>
        </p:txBody>
      </p:sp>
      <p:sp>
        <p:nvSpPr>
          <p:cNvPr id="22" name="Shape 19"/>
          <p:cNvSpPr/>
          <p:nvPr/>
        </p:nvSpPr>
        <p:spPr>
          <a:xfrm rot="10800000">
            <a:off x="8869680" y="4187952"/>
            <a:ext cx="201168" cy="182880"/>
          </a:xfrm>
          <a:prstGeom prst="triangle">
            <a:avLst/>
          </a:prstGeom>
          <a:solidFill>
            <a:srgbClr val="9B7FD4"/>
          </a:solidFill>
          <a:ln/>
        </p:spPr>
        <p:txBody>
          <a:bodyPr/>
          <a:lstStyle/>
          <a:p>
            <a:endParaRPr lang="en-US"/>
          </a:p>
        </p:txBody>
      </p:sp>
      <p:sp>
        <p:nvSpPr>
          <p:cNvPr id="23" name="Shape 20"/>
          <p:cNvSpPr/>
          <p:nvPr/>
        </p:nvSpPr>
        <p:spPr>
          <a:xfrm>
            <a:off x="6492240" y="4434840"/>
            <a:ext cx="5120640" cy="987552"/>
          </a:xfrm>
          <a:prstGeom prst="rect">
            <a:avLst/>
          </a:prstGeom>
          <a:solidFill>
            <a:srgbClr val="1B1030">
              <a:alpha val="80000"/>
            </a:srgbClr>
          </a:solidFill>
          <a:ln w="12700">
            <a:solidFill>
              <a:srgbClr val="F4B942"/>
            </a:solidFill>
            <a:prstDash val="solid"/>
          </a:ln>
        </p:spPr>
        <p:txBody>
          <a:bodyPr/>
          <a:lstStyle/>
          <a:p>
            <a:endParaRPr lang="en-US"/>
          </a:p>
        </p:txBody>
      </p:sp>
      <p:sp>
        <p:nvSpPr>
          <p:cNvPr id="24" name="Text 21"/>
          <p:cNvSpPr/>
          <p:nvPr/>
        </p:nvSpPr>
        <p:spPr>
          <a:xfrm>
            <a:off x="6720840" y="4526280"/>
            <a:ext cx="4480560" cy="320040"/>
          </a:xfrm>
          <a:prstGeom prst="rect">
            <a:avLst/>
          </a:prstGeom>
          <a:noFill/>
          <a:ln/>
        </p:spPr>
        <p:txBody>
          <a:bodyPr wrap="square" lIns="0" tIns="0" rIns="0" bIns="0" rtlCol="0" anchor="ctr"/>
          <a:lstStyle/>
          <a:p>
            <a:pPr marL="0" indent="0">
              <a:buNone/>
            </a:pPr>
            <a:r>
              <a:rPr lang="en-US" sz="1500" b="1" dirty="0">
                <a:solidFill>
                  <a:srgbClr val="F4B942"/>
                </a:solidFill>
                <a:latin typeface="Cambria" pitchFamily="34" charset="0"/>
                <a:ea typeface="Cambria" pitchFamily="34" charset="-122"/>
                <a:cs typeface="Cambria" pitchFamily="34" charset="-120"/>
              </a:rPr>
              <a:t>Gold</a:t>
            </a:r>
            <a:endParaRPr lang="en-US" sz="1500" dirty="0"/>
          </a:p>
        </p:txBody>
      </p:sp>
      <p:sp>
        <p:nvSpPr>
          <p:cNvPr id="25" name="Text 22"/>
          <p:cNvSpPr/>
          <p:nvPr/>
        </p:nvSpPr>
        <p:spPr>
          <a:xfrm>
            <a:off x="6720840" y="4855464"/>
            <a:ext cx="4663440" cy="502920"/>
          </a:xfrm>
          <a:prstGeom prst="rect">
            <a:avLst/>
          </a:prstGeom>
          <a:noFill/>
          <a:ln/>
        </p:spPr>
        <p:txBody>
          <a:bodyPr wrap="square" lIns="0" tIns="0" rIns="0" bIns="0" rtlCol="0" anchor="ctr"/>
          <a:lstStyle/>
          <a:p>
            <a:pPr marL="0" indent="0">
              <a:lnSpc>
                <a:spcPct val="115000"/>
              </a:lnSpc>
              <a:buNone/>
            </a:pPr>
            <a:r>
              <a:rPr lang="en-US" sz="1000" dirty="0">
                <a:solidFill>
                  <a:srgbClr val="CFC6E0"/>
                </a:solidFill>
                <a:latin typeface="Calibri" pitchFamily="34" charset="0"/>
                <a:ea typeface="Calibri" pitchFamily="34" charset="-122"/>
                <a:cs typeface="Calibri" pitchFamily="34" charset="-120"/>
              </a:rPr>
              <a:t>Star-schema dimensional model — 1 fact + 4 dimension tables</a:t>
            </a:r>
            <a:endParaRPr lang="en-US" sz="1000" dirty="0"/>
          </a:p>
        </p:txBody>
      </p:sp>
      <p:sp>
        <p:nvSpPr>
          <p:cNvPr id="26" name="Text 23"/>
          <p:cNvSpPr/>
          <p:nvPr/>
        </p:nvSpPr>
        <p:spPr>
          <a:xfrm>
            <a:off x="6492240" y="5715000"/>
            <a:ext cx="5120640" cy="365760"/>
          </a:xfrm>
          <a:prstGeom prst="rect">
            <a:avLst/>
          </a:prstGeom>
          <a:noFill/>
          <a:ln/>
        </p:spPr>
        <p:txBody>
          <a:bodyPr wrap="square" lIns="0" tIns="0" rIns="0" bIns="0" rtlCol="0" anchor="ctr"/>
          <a:lstStyle/>
          <a:p>
            <a:pPr marL="0" indent="0">
              <a:buNone/>
            </a:pPr>
            <a:r>
              <a:rPr lang="en-US" sz="1050" i="1" dirty="0">
                <a:solidFill>
                  <a:srgbClr val="9B7FD4"/>
                </a:solidFill>
                <a:latin typeface="Calibri" pitchFamily="34" charset="0"/>
                <a:ea typeface="Calibri" pitchFamily="34" charset="-122"/>
                <a:cs typeface="Calibri" pitchFamily="34" charset="-120"/>
              </a:rPr>
              <a:t>+ Enrichment: ESI, escape velocity &amp; habitability flags layered on top of Gold</a:t>
            </a:r>
            <a:endParaRPr lang="en-US" sz="1050" dirty="0"/>
          </a:p>
        </p:txBody>
      </p:sp>
      <p:sp>
        <p:nvSpPr>
          <p:cNvPr id="27" name="Text 24"/>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03</a:t>
            </a:r>
            <a:endParaRPr lang="en-US" sz="1000" dirty="0"/>
          </a:p>
        </p:txBody>
      </p:sp>
      <p:sp>
        <p:nvSpPr>
          <p:cNvPr id="28" name="Text 25"/>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pptx_build/bg_dark2.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FEATURE ENGINEERING</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Scoring Every Planet Against Earth</a:t>
            </a:r>
            <a:endParaRPr lang="en-US" sz="3000" dirty="0"/>
          </a:p>
        </p:txBody>
      </p:sp>
      <p:sp>
        <p:nvSpPr>
          <p:cNvPr id="5" name="Text 2"/>
          <p:cNvSpPr/>
          <p:nvPr/>
        </p:nvSpPr>
        <p:spPr>
          <a:xfrm>
            <a:off x="548640" y="1965960"/>
            <a:ext cx="5577840" cy="1417320"/>
          </a:xfrm>
          <a:prstGeom prst="rect">
            <a:avLst/>
          </a:prstGeom>
          <a:noFill/>
          <a:ln/>
        </p:spPr>
        <p:txBody>
          <a:bodyPr wrap="square" lIns="0" tIns="0" rIns="0" bIns="0" rtlCol="0" anchor="ctr"/>
          <a:lstStyle/>
          <a:p>
            <a:pPr marL="0" indent="0">
              <a:lnSpc>
                <a:spcPct val="130000"/>
              </a:lnSpc>
              <a:buNone/>
            </a:pPr>
            <a:r>
              <a:rPr lang="en-US" sz="1300" dirty="0">
                <a:solidFill>
                  <a:srgbClr val="CFC6E0"/>
                </a:solidFill>
                <a:latin typeface="Calibri" pitchFamily="34" charset="0"/>
                <a:ea typeface="Calibri" pitchFamily="34" charset="-122"/>
                <a:cs typeface="Calibri" pitchFamily="34" charset="-120"/>
              </a:rPr>
              <a:t>Properties NASA doesn’t measure directly — stellar luminosity, received flux, equilibrium temperature, escape velocity — were derived from physics, then combined into the Earth Similarity Index (ESI): a 0–1 score where 1.0 means identical to Earth.</a:t>
            </a:r>
            <a:endParaRPr lang="en-US" sz="1300" dirty="0"/>
          </a:p>
        </p:txBody>
      </p:sp>
      <p:sp>
        <p:nvSpPr>
          <p:cNvPr id="6" name="Text 3"/>
          <p:cNvSpPr/>
          <p:nvPr/>
        </p:nvSpPr>
        <p:spPr>
          <a:xfrm>
            <a:off x="548640" y="3520440"/>
            <a:ext cx="192024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Radius</a:t>
            </a:r>
            <a:endParaRPr lang="en-US" sz="1050" dirty="0"/>
          </a:p>
        </p:txBody>
      </p:sp>
      <p:sp>
        <p:nvSpPr>
          <p:cNvPr id="7" name="Shape 4"/>
          <p:cNvSpPr/>
          <p:nvPr/>
        </p:nvSpPr>
        <p:spPr>
          <a:xfrm>
            <a:off x="2514600" y="3566160"/>
            <a:ext cx="4023360" cy="201168"/>
          </a:xfrm>
          <a:prstGeom prst="rect">
            <a:avLst/>
          </a:prstGeom>
          <a:solidFill>
            <a:srgbClr val="241640"/>
          </a:solidFill>
          <a:ln/>
        </p:spPr>
        <p:txBody>
          <a:bodyPr/>
          <a:lstStyle/>
          <a:p>
            <a:endParaRPr lang="en-US"/>
          </a:p>
        </p:txBody>
      </p:sp>
      <p:sp>
        <p:nvSpPr>
          <p:cNvPr id="8" name="Shape 5"/>
          <p:cNvSpPr/>
          <p:nvPr/>
        </p:nvSpPr>
        <p:spPr>
          <a:xfrm>
            <a:off x="2514600" y="3566160"/>
            <a:ext cx="410988" cy="201168"/>
          </a:xfrm>
          <a:prstGeom prst="rect">
            <a:avLst/>
          </a:prstGeom>
          <a:solidFill>
            <a:srgbClr val="9B7FD4"/>
          </a:solidFill>
          <a:ln/>
        </p:spPr>
        <p:txBody>
          <a:bodyPr/>
          <a:lstStyle/>
          <a:p>
            <a:endParaRPr lang="en-US"/>
          </a:p>
        </p:txBody>
      </p:sp>
      <p:sp>
        <p:nvSpPr>
          <p:cNvPr id="9" name="Text 6"/>
          <p:cNvSpPr/>
          <p:nvPr/>
        </p:nvSpPr>
        <p:spPr>
          <a:xfrm>
            <a:off x="6629400" y="3520440"/>
            <a:ext cx="548640" cy="32004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0.57</a:t>
            </a:r>
            <a:endParaRPr lang="en-US" sz="1000" dirty="0"/>
          </a:p>
        </p:txBody>
      </p:sp>
      <p:sp>
        <p:nvSpPr>
          <p:cNvPr id="10" name="Text 7"/>
          <p:cNvSpPr/>
          <p:nvPr/>
        </p:nvSpPr>
        <p:spPr>
          <a:xfrm>
            <a:off x="548640" y="3977640"/>
            <a:ext cx="192024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Density</a:t>
            </a:r>
            <a:endParaRPr lang="en-US" sz="1050" dirty="0"/>
          </a:p>
        </p:txBody>
      </p:sp>
      <p:sp>
        <p:nvSpPr>
          <p:cNvPr id="11" name="Shape 8"/>
          <p:cNvSpPr/>
          <p:nvPr/>
        </p:nvSpPr>
        <p:spPr>
          <a:xfrm>
            <a:off x="2514600" y="4023360"/>
            <a:ext cx="4023360" cy="201168"/>
          </a:xfrm>
          <a:prstGeom prst="rect">
            <a:avLst/>
          </a:prstGeom>
          <a:solidFill>
            <a:srgbClr val="241640"/>
          </a:solidFill>
          <a:ln/>
        </p:spPr>
        <p:txBody>
          <a:bodyPr/>
          <a:lstStyle/>
          <a:p>
            <a:endParaRPr lang="en-US"/>
          </a:p>
        </p:txBody>
      </p:sp>
      <p:sp>
        <p:nvSpPr>
          <p:cNvPr id="12" name="Shape 9"/>
          <p:cNvSpPr/>
          <p:nvPr/>
        </p:nvSpPr>
        <p:spPr>
          <a:xfrm>
            <a:off x="2514600" y="4023360"/>
            <a:ext cx="771505" cy="201168"/>
          </a:xfrm>
          <a:prstGeom prst="rect">
            <a:avLst/>
          </a:prstGeom>
          <a:solidFill>
            <a:srgbClr val="9B7FD4"/>
          </a:solidFill>
          <a:ln/>
        </p:spPr>
        <p:txBody>
          <a:bodyPr/>
          <a:lstStyle/>
          <a:p>
            <a:endParaRPr lang="en-US"/>
          </a:p>
        </p:txBody>
      </p:sp>
      <p:sp>
        <p:nvSpPr>
          <p:cNvPr id="13" name="Text 10"/>
          <p:cNvSpPr/>
          <p:nvPr/>
        </p:nvSpPr>
        <p:spPr>
          <a:xfrm>
            <a:off x="6629400" y="3977640"/>
            <a:ext cx="548640" cy="32004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1.07</a:t>
            </a:r>
            <a:endParaRPr lang="en-US" sz="1000" dirty="0"/>
          </a:p>
        </p:txBody>
      </p:sp>
      <p:sp>
        <p:nvSpPr>
          <p:cNvPr id="14" name="Text 11"/>
          <p:cNvSpPr/>
          <p:nvPr/>
        </p:nvSpPr>
        <p:spPr>
          <a:xfrm>
            <a:off x="548640" y="4434840"/>
            <a:ext cx="192024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Escape Velocity</a:t>
            </a:r>
            <a:endParaRPr lang="en-US" sz="1050" dirty="0"/>
          </a:p>
        </p:txBody>
      </p:sp>
      <p:sp>
        <p:nvSpPr>
          <p:cNvPr id="15" name="Shape 12"/>
          <p:cNvSpPr/>
          <p:nvPr/>
        </p:nvSpPr>
        <p:spPr>
          <a:xfrm>
            <a:off x="2514600" y="4480560"/>
            <a:ext cx="4023360" cy="201168"/>
          </a:xfrm>
          <a:prstGeom prst="rect">
            <a:avLst/>
          </a:prstGeom>
          <a:solidFill>
            <a:srgbClr val="241640"/>
          </a:solidFill>
          <a:ln/>
        </p:spPr>
        <p:txBody>
          <a:bodyPr/>
          <a:lstStyle/>
          <a:p>
            <a:endParaRPr lang="en-US"/>
          </a:p>
        </p:txBody>
      </p:sp>
      <p:sp>
        <p:nvSpPr>
          <p:cNvPr id="16" name="Shape 13"/>
          <p:cNvSpPr/>
          <p:nvPr/>
        </p:nvSpPr>
        <p:spPr>
          <a:xfrm>
            <a:off x="2514600" y="4480560"/>
            <a:ext cx="504723" cy="201168"/>
          </a:xfrm>
          <a:prstGeom prst="rect">
            <a:avLst/>
          </a:prstGeom>
          <a:solidFill>
            <a:srgbClr val="9B7FD4"/>
          </a:solidFill>
          <a:ln/>
        </p:spPr>
        <p:txBody>
          <a:bodyPr/>
          <a:lstStyle/>
          <a:p>
            <a:endParaRPr lang="en-US"/>
          </a:p>
        </p:txBody>
      </p:sp>
      <p:sp>
        <p:nvSpPr>
          <p:cNvPr id="17" name="Text 14"/>
          <p:cNvSpPr/>
          <p:nvPr/>
        </p:nvSpPr>
        <p:spPr>
          <a:xfrm>
            <a:off x="6629400" y="4434840"/>
            <a:ext cx="548640" cy="32004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0.7</a:t>
            </a:r>
            <a:endParaRPr lang="en-US" sz="1000" dirty="0"/>
          </a:p>
        </p:txBody>
      </p:sp>
      <p:sp>
        <p:nvSpPr>
          <p:cNvPr id="18" name="Text 15"/>
          <p:cNvSpPr/>
          <p:nvPr/>
        </p:nvSpPr>
        <p:spPr>
          <a:xfrm>
            <a:off x="548640" y="4892040"/>
            <a:ext cx="1920240" cy="32004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Temperature (dominant)</a:t>
            </a:r>
            <a:endParaRPr lang="en-US" sz="1050" dirty="0"/>
          </a:p>
        </p:txBody>
      </p:sp>
      <p:sp>
        <p:nvSpPr>
          <p:cNvPr id="19" name="Shape 16"/>
          <p:cNvSpPr/>
          <p:nvPr/>
        </p:nvSpPr>
        <p:spPr>
          <a:xfrm>
            <a:off x="2514600" y="4937760"/>
            <a:ext cx="4023360" cy="201168"/>
          </a:xfrm>
          <a:prstGeom prst="rect">
            <a:avLst/>
          </a:prstGeom>
          <a:solidFill>
            <a:srgbClr val="241640"/>
          </a:solidFill>
          <a:ln/>
        </p:spPr>
        <p:txBody>
          <a:bodyPr/>
          <a:lstStyle/>
          <a:p>
            <a:endParaRPr lang="en-US"/>
          </a:p>
        </p:txBody>
      </p:sp>
      <p:sp>
        <p:nvSpPr>
          <p:cNvPr id="20" name="Shape 17"/>
          <p:cNvSpPr/>
          <p:nvPr/>
        </p:nvSpPr>
        <p:spPr>
          <a:xfrm>
            <a:off x="2514600" y="4937760"/>
            <a:ext cx="4023360" cy="201168"/>
          </a:xfrm>
          <a:prstGeom prst="rect">
            <a:avLst/>
          </a:prstGeom>
          <a:solidFill>
            <a:srgbClr val="F4B942"/>
          </a:solidFill>
          <a:ln/>
        </p:spPr>
        <p:txBody>
          <a:bodyPr/>
          <a:lstStyle/>
          <a:p>
            <a:endParaRPr lang="en-US"/>
          </a:p>
        </p:txBody>
      </p:sp>
      <p:sp>
        <p:nvSpPr>
          <p:cNvPr id="21" name="Text 18"/>
          <p:cNvSpPr/>
          <p:nvPr/>
        </p:nvSpPr>
        <p:spPr>
          <a:xfrm>
            <a:off x="6629400" y="4892040"/>
            <a:ext cx="548640" cy="320040"/>
          </a:xfrm>
          <a:prstGeom prst="rect">
            <a:avLst/>
          </a:prstGeom>
          <a:noFill/>
          <a:ln/>
        </p:spPr>
        <p:txBody>
          <a:bodyPr wrap="square" lIns="0" tIns="0" rIns="0" bIns="0" rtlCol="0" anchor="ctr"/>
          <a:lstStyle/>
          <a:p>
            <a:pPr marL="0" indent="0">
              <a:buNone/>
            </a:pPr>
            <a:r>
              <a:rPr lang="en-US" sz="1000" dirty="0">
                <a:solidFill>
                  <a:srgbClr val="CFC6E0"/>
                </a:solidFill>
                <a:latin typeface="Calibri" pitchFamily="34" charset="0"/>
                <a:ea typeface="Calibri" pitchFamily="34" charset="-122"/>
                <a:cs typeface="Calibri" pitchFamily="34" charset="-120"/>
              </a:rPr>
              <a:t>5.58</a:t>
            </a:r>
            <a:endParaRPr lang="en-US" sz="1000" dirty="0"/>
          </a:p>
        </p:txBody>
      </p:sp>
      <p:sp>
        <p:nvSpPr>
          <p:cNvPr id="22" name="Text 19"/>
          <p:cNvSpPr/>
          <p:nvPr/>
        </p:nvSpPr>
        <p:spPr>
          <a:xfrm>
            <a:off x="548640" y="3200400"/>
            <a:ext cx="3657600" cy="274320"/>
          </a:xfrm>
          <a:prstGeom prst="rect">
            <a:avLst/>
          </a:prstGeom>
          <a:noFill/>
          <a:ln/>
        </p:spPr>
        <p:txBody>
          <a:bodyPr wrap="square" lIns="0" tIns="0" rIns="0" bIns="0" rtlCol="0" anchor="ctr"/>
          <a:lstStyle/>
          <a:p>
            <a:pPr marL="0" indent="0">
              <a:buNone/>
            </a:pPr>
            <a:r>
              <a:rPr lang="en-US" sz="1000" i="1" dirty="0">
                <a:solidFill>
                  <a:srgbClr val="9A8AC2"/>
                </a:solidFill>
                <a:latin typeface="Calibri" pitchFamily="34" charset="0"/>
                <a:ea typeface="Calibri" pitchFamily="34" charset="-122"/>
                <a:cs typeface="Calibri" pitchFamily="34" charset="-120"/>
              </a:rPr>
              <a:t>ESI weighting by property</a:t>
            </a:r>
            <a:endParaRPr lang="en-US" sz="1000" dirty="0"/>
          </a:p>
        </p:txBody>
      </p:sp>
      <p:sp>
        <p:nvSpPr>
          <p:cNvPr id="23" name="Text 20"/>
          <p:cNvSpPr/>
          <p:nvPr/>
        </p:nvSpPr>
        <p:spPr>
          <a:xfrm>
            <a:off x="548640" y="5577840"/>
            <a:ext cx="5669280" cy="640080"/>
          </a:xfrm>
          <a:prstGeom prst="rect">
            <a:avLst/>
          </a:prstGeom>
          <a:noFill/>
          <a:ln/>
        </p:spPr>
        <p:txBody>
          <a:bodyPr wrap="square" lIns="0" tIns="0" rIns="0" bIns="0" rtlCol="0" anchor="ctr"/>
          <a:lstStyle/>
          <a:p>
            <a:pPr marL="0" indent="0">
              <a:lnSpc>
                <a:spcPct val="120000"/>
              </a:lnSpc>
              <a:buNone/>
            </a:pPr>
            <a:r>
              <a:rPr lang="en-US" sz="1100" i="1" dirty="0">
                <a:solidFill>
                  <a:srgbClr val="F4B942"/>
                </a:solidFill>
                <a:latin typeface="Calibri" pitchFamily="34" charset="0"/>
                <a:ea typeface="Calibri" pitchFamily="34" charset="-122"/>
                <a:cs typeface="Calibri" pitchFamily="34" charset="-120"/>
              </a:rPr>
              <a:t>GJ 1002 b scores highest — ESI = 0.9935, Earth’s closest known physical twin among confirmed exoplanets in this dataset.</a:t>
            </a:r>
            <a:endParaRPr lang="en-US" sz="1100" dirty="0"/>
          </a:p>
        </p:txBody>
      </p:sp>
      <p:sp>
        <p:nvSpPr>
          <p:cNvPr id="24" name="Text 21"/>
          <p:cNvSpPr/>
          <p:nvPr/>
        </p:nvSpPr>
        <p:spPr>
          <a:xfrm>
            <a:off x="8046720" y="1532224"/>
            <a:ext cx="4937760" cy="320040"/>
          </a:xfrm>
          <a:prstGeom prst="rect">
            <a:avLst/>
          </a:prstGeom>
          <a:noFill/>
          <a:ln/>
        </p:spPr>
        <p:txBody>
          <a:bodyPr wrap="square" lIns="0" tIns="0" rIns="0" bIns="0" rtlCol="0" anchor="ctr"/>
          <a:lstStyle/>
          <a:p>
            <a:pPr marL="0" indent="0">
              <a:buNone/>
            </a:pPr>
            <a:r>
              <a:rPr lang="en-US" sz="1100" b="1" kern="0" spc="200" dirty="0">
                <a:solidFill>
                  <a:srgbClr val="F4B942"/>
                </a:solidFill>
                <a:latin typeface="Calibri" pitchFamily="34" charset="0"/>
                <a:ea typeface="Calibri" pitchFamily="34" charset="-122"/>
                <a:cs typeface="Calibri" pitchFamily="34" charset="-120"/>
              </a:rPr>
              <a:t>GOLD LAYER — STAR SCHEMA</a:t>
            </a:r>
            <a:endParaRPr lang="en-US" sz="1100" dirty="0"/>
          </a:p>
        </p:txBody>
      </p:sp>
      <p:grpSp>
        <p:nvGrpSpPr>
          <p:cNvPr id="41" name="Group 40">
            <a:extLst>
              <a:ext uri="{FF2B5EF4-FFF2-40B4-BE49-F238E27FC236}">
                <a16:creationId xmlns:a16="http://schemas.microsoft.com/office/drawing/2014/main" id="{1D723BED-379B-4A60-2FDD-D18179553317}"/>
              </a:ext>
            </a:extLst>
          </p:cNvPr>
          <p:cNvGrpSpPr/>
          <p:nvPr/>
        </p:nvGrpSpPr>
        <p:grpSpPr>
          <a:xfrm>
            <a:off x="7310801" y="2074912"/>
            <a:ext cx="4478101" cy="4151376"/>
            <a:chOff x="6487841" y="2011680"/>
            <a:chExt cx="4478101" cy="4151376"/>
          </a:xfrm>
        </p:grpSpPr>
        <p:sp>
          <p:nvSpPr>
            <p:cNvPr id="25" name="Shape 22"/>
            <p:cNvSpPr/>
            <p:nvPr/>
          </p:nvSpPr>
          <p:spPr>
            <a:xfrm>
              <a:off x="7635240" y="3383280"/>
              <a:ext cx="1737360" cy="822960"/>
            </a:xfrm>
            <a:prstGeom prst="rect">
              <a:avLst/>
            </a:prstGeom>
            <a:solidFill>
              <a:srgbClr val="6C3FA6"/>
            </a:solidFill>
            <a:ln w="19050">
              <a:solidFill>
                <a:srgbClr val="F4B942"/>
              </a:solidFill>
              <a:prstDash val="solid"/>
            </a:ln>
          </p:spPr>
          <p:txBody>
            <a:bodyPr/>
            <a:lstStyle/>
            <a:p>
              <a:endParaRPr lang="en-US"/>
            </a:p>
          </p:txBody>
        </p:sp>
        <p:sp>
          <p:nvSpPr>
            <p:cNvPr id="26" name="Text 23"/>
            <p:cNvSpPr/>
            <p:nvPr/>
          </p:nvSpPr>
          <p:spPr>
            <a:xfrm>
              <a:off x="7635240" y="3383280"/>
              <a:ext cx="1737360" cy="8229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Fact_</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Exoplanets</a:t>
              </a:r>
              <a:endParaRPr lang="en-US" sz="1100" dirty="0"/>
            </a:p>
          </p:txBody>
        </p:sp>
        <p:sp>
          <p:nvSpPr>
            <p:cNvPr id="27" name="Shape 24"/>
            <p:cNvSpPr/>
            <p:nvPr/>
          </p:nvSpPr>
          <p:spPr>
            <a:xfrm flipH="1" flipV="1">
              <a:off x="7593918" y="2789955"/>
              <a:ext cx="452801" cy="557439"/>
            </a:xfrm>
            <a:prstGeom prst="line">
              <a:avLst/>
            </a:prstGeom>
            <a:noFill/>
            <a:ln w="12700">
              <a:solidFill>
                <a:srgbClr val="4A3A6B"/>
              </a:solidFill>
              <a:prstDash val="solid"/>
            </a:ln>
          </p:spPr>
          <p:txBody>
            <a:bodyPr/>
            <a:lstStyle/>
            <a:p>
              <a:endParaRPr lang="en-US"/>
            </a:p>
          </p:txBody>
        </p:sp>
        <p:sp>
          <p:nvSpPr>
            <p:cNvPr id="28" name="Shape 25"/>
            <p:cNvSpPr/>
            <p:nvPr/>
          </p:nvSpPr>
          <p:spPr>
            <a:xfrm>
              <a:off x="6487841" y="2230446"/>
              <a:ext cx="1463040" cy="585216"/>
            </a:xfrm>
            <a:prstGeom prst="rect">
              <a:avLst/>
            </a:prstGeom>
            <a:solidFill>
              <a:srgbClr val="241640"/>
            </a:solidFill>
            <a:ln w="12700">
              <a:solidFill>
                <a:srgbClr val="9B7FD4"/>
              </a:solidFill>
              <a:prstDash val="solid"/>
            </a:ln>
          </p:spPr>
          <p:txBody>
            <a:bodyPr/>
            <a:lstStyle/>
            <a:p>
              <a:endParaRPr lang="en-US"/>
            </a:p>
          </p:txBody>
        </p:sp>
        <p:sp>
          <p:nvSpPr>
            <p:cNvPr id="29" name="Text 26"/>
            <p:cNvSpPr/>
            <p:nvPr/>
          </p:nvSpPr>
          <p:spPr>
            <a:xfrm>
              <a:off x="6490472" y="2245628"/>
              <a:ext cx="1463040" cy="585216"/>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Dim_Planet</a:t>
              </a:r>
              <a:endParaRPr lang="en-US" sz="950" dirty="0"/>
            </a:p>
          </p:txBody>
        </p:sp>
        <p:sp>
          <p:nvSpPr>
            <p:cNvPr id="30" name="Shape 27"/>
            <p:cNvSpPr/>
            <p:nvPr/>
          </p:nvSpPr>
          <p:spPr>
            <a:xfrm flipV="1">
              <a:off x="9221724" y="2606212"/>
              <a:ext cx="928116" cy="777068"/>
            </a:xfrm>
            <a:prstGeom prst="line">
              <a:avLst/>
            </a:prstGeom>
            <a:noFill/>
            <a:ln w="12700">
              <a:solidFill>
                <a:srgbClr val="4A3A6B"/>
              </a:solidFill>
              <a:prstDash val="solid"/>
            </a:ln>
          </p:spPr>
          <p:txBody>
            <a:bodyPr/>
            <a:lstStyle/>
            <a:p>
              <a:endParaRPr lang="en-US"/>
            </a:p>
          </p:txBody>
        </p:sp>
        <p:sp>
          <p:nvSpPr>
            <p:cNvPr id="31" name="Shape 28"/>
            <p:cNvSpPr/>
            <p:nvPr/>
          </p:nvSpPr>
          <p:spPr>
            <a:xfrm>
              <a:off x="9327312" y="2011680"/>
              <a:ext cx="1463040" cy="585216"/>
            </a:xfrm>
            <a:prstGeom prst="rect">
              <a:avLst/>
            </a:prstGeom>
            <a:solidFill>
              <a:srgbClr val="241640"/>
            </a:solidFill>
            <a:ln w="12700">
              <a:solidFill>
                <a:srgbClr val="9B7FD4"/>
              </a:solidFill>
              <a:prstDash val="solid"/>
            </a:ln>
          </p:spPr>
          <p:txBody>
            <a:bodyPr/>
            <a:lstStyle/>
            <a:p>
              <a:endParaRPr lang="en-US"/>
            </a:p>
          </p:txBody>
        </p:sp>
        <p:sp>
          <p:nvSpPr>
            <p:cNvPr id="32" name="Text 29"/>
            <p:cNvSpPr/>
            <p:nvPr/>
          </p:nvSpPr>
          <p:spPr>
            <a:xfrm>
              <a:off x="9244757" y="2020996"/>
              <a:ext cx="1463040" cy="585216"/>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Dim_Star</a:t>
              </a:r>
              <a:endParaRPr lang="en-US" sz="950" dirty="0"/>
            </a:p>
          </p:txBody>
        </p:sp>
        <p:sp>
          <p:nvSpPr>
            <p:cNvPr id="33" name="Shape 30"/>
            <p:cNvSpPr/>
            <p:nvPr/>
          </p:nvSpPr>
          <p:spPr>
            <a:xfrm flipH="1">
              <a:off x="7635240" y="4242126"/>
              <a:ext cx="274320" cy="1088826"/>
            </a:xfrm>
            <a:prstGeom prst="line">
              <a:avLst/>
            </a:prstGeom>
            <a:noFill/>
            <a:ln w="12700">
              <a:solidFill>
                <a:srgbClr val="4A3A6B"/>
              </a:solidFill>
              <a:prstDash val="solid"/>
            </a:ln>
          </p:spPr>
          <p:txBody>
            <a:bodyPr/>
            <a:lstStyle/>
            <a:p>
              <a:endParaRPr lang="en-US"/>
            </a:p>
          </p:txBody>
        </p:sp>
        <p:sp>
          <p:nvSpPr>
            <p:cNvPr id="34" name="Shape 31"/>
            <p:cNvSpPr/>
            <p:nvPr/>
          </p:nvSpPr>
          <p:spPr>
            <a:xfrm>
              <a:off x="7008876" y="5349240"/>
              <a:ext cx="1463040" cy="585216"/>
            </a:xfrm>
            <a:prstGeom prst="rect">
              <a:avLst/>
            </a:prstGeom>
            <a:solidFill>
              <a:srgbClr val="241640"/>
            </a:solidFill>
            <a:ln w="12700">
              <a:solidFill>
                <a:srgbClr val="9B7FD4"/>
              </a:solidFill>
              <a:prstDash val="solid"/>
            </a:ln>
          </p:spPr>
          <p:txBody>
            <a:bodyPr/>
            <a:lstStyle/>
            <a:p>
              <a:endParaRPr lang="en-US"/>
            </a:p>
          </p:txBody>
        </p:sp>
        <p:sp>
          <p:nvSpPr>
            <p:cNvPr id="35" name="Text 32"/>
            <p:cNvSpPr/>
            <p:nvPr/>
          </p:nvSpPr>
          <p:spPr>
            <a:xfrm>
              <a:off x="7008876" y="5330952"/>
              <a:ext cx="1463040" cy="585216"/>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Dim_Discovery</a:t>
              </a:r>
              <a:endParaRPr lang="en-US" sz="950" dirty="0"/>
            </a:p>
          </p:txBody>
        </p:sp>
        <p:sp>
          <p:nvSpPr>
            <p:cNvPr id="36" name="Shape 33"/>
            <p:cNvSpPr/>
            <p:nvPr/>
          </p:nvSpPr>
          <p:spPr>
            <a:xfrm>
              <a:off x="9221724" y="4206240"/>
              <a:ext cx="1073257" cy="1362284"/>
            </a:xfrm>
            <a:prstGeom prst="line">
              <a:avLst/>
            </a:prstGeom>
            <a:noFill/>
            <a:ln w="12700">
              <a:solidFill>
                <a:srgbClr val="4A3A6B"/>
              </a:solidFill>
              <a:prstDash val="solid"/>
            </a:ln>
          </p:spPr>
          <p:txBody>
            <a:bodyPr/>
            <a:lstStyle/>
            <a:p>
              <a:endParaRPr lang="en-US"/>
            </a:p>
          </p:txBody>
        </p:sp>
        <p:sp>
          <p:nvSpPr>
            <p:cNvPr id="37" name="Shape 34"/>
            <p:cNvSpPr/>
            <p:nvPr/>
          </p:nvSpPr>
          <p:spPr>
            <a:xfrm>
              <a:off x="9502902" y="5577840"/>
              <a:ext cx="1463040" cy="585216"/>
            </a:xfrm>
            <a:prstGeom prst="rect">
              <a:avLst/>
            </a:prstGeom>
            <a:solidFill>
              <a:srgbClr val="241640"/>
            </a:solidFill>
            <a:ln w="12700">
              <a:solidFill>
                <a:srgbClr val="9B7FD4"/>
              </a:solidFill>
              <a:prstDash val="solid"/>
            </a:ln>
          </p:spPr>
          <p:txBody>
            <a:bodyPr/>
            <a:lstStyle/>
            <a:p>
              <a:endParaRPr lang="en-US" dirty="0"/>
            </a:p>
          </p:txBody>
        </p:sp>
        <p:sp>
          <p:nvSpPr>
            <p:cNvPr id="38" name="Text 35"/>
            <p:cNvSpPr/>
            <p:nvPr/>
          </p:nvSpPr>
          <p:spPr>
            <a:xfrm>
              <a:off x="9418320" y="5577840"/>
              <a:ext cx="1463040" cy="585216"/>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Dim_Date</a:t>
              </a:r>
              <a:endParaRPr lang="en-US" sz="950" dirty="0"/>
            </a:p>
          </p:txBody>
        </p:sp>
      </p:grpSp>
      <p:sp>
        <p:nvSpPr>
          <p:cNvPr id="39" name="Text 36"/>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04</a:t>
            </a:r>
            <a:endParaRPr lang="en-US" sz="1000" dirty="0"/>
          </a:p>
        </p:txBody>
      </p:sp>
      <p:sp>
        <p:nvSpPr>
          <p:cNvPr id="40" name="Text 37"/>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pptx_build/bg_dark2.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PREDICTIVE MODELING</a:t>
            </a:r>
            <a:endParaRPr lang="en-US" sz="1200" dirty="0"/>
          </a:p>
        </p:txBody>
      </p:sp>
      <p:sp>
        <p:nvSpPr>
          <p:cNvPr id="4" name="Text 1"/>
          <p:cNvSpPr/>
          <p:nvPr/>
        </p:nvSpPr>
        <p:spPr>
          <a:xfrm>
            <a:off x="548640" y="658368"/>
            <a:ext cx="9601200" cy="1097280"/>
          </a:xfrm>
          <a:prstGeom prst="rect">
            <a:avLst/>
          </a:prstGeom>
          <a:noFill/>
          <a:ln/>
        </p:spPr>
        <p:txBody>
          <a:bodyPr wrap="square" lIns="0" tIns="0" rIns="0" bIns="0" rtlCol="0" anchor="ctr"/>
          <a:lstStyle/>
          <a:p>
            <a:pPr marL="0" indent="0" algn="l">
              <a:buNone/>
            </a:pPr>
            <a:r>
              <a:rPr lang="en-US" sz="2700" b="1" dirty="0">
                <a:solidFill>
                  <a:srgbClr val="FFFFFF"/>
                </a:solidFill>
                <a:latin typeface="Cambria" pitchFamily="34" charset="0"/>
                <a:ea typeface="Cambria" pitchFamily="34" charset="-122"/>
                <a:cs typeface="Cambria" pitchFamily="34" charset="-120"/>
              </a:rPr>
              <a:t>Two Models, One Question: Could This</a:t>
            </a:r>
            <a:endParaRPr lang="en-US" sz="2700" dirty="0"/>
          </a:p>
          <a:p>
            <a:pPr marL="0" indent="0" algn="l">
              <a:buNone/>
            </a:pPr>
            <a:r>
              <a:rPr lang="en-US" sz="2700" b="1" dirty="0">
                <a:solidFill>
                  <a:srgbClr val="FFFFFF"/>
                </a:solidFill>
                <a:latin typeface="Cambria" pitchFamily="34" charset="0"/>
                <a:ea typeface="Cambria" pitchFamily="34" charset="-122"/>
                <a:cs typeface="Cambria" pitchFamily="34" charset="-120"/>
              </a:rPr>
              <a:t>Planet Support Life?</a:t>
            </a:r>
            <a:endParaRPr lang="en-US" sz="2700" dirty="0"/>
          </a:p>
        </p:txBody>
      </p:sp>
      <p:sp>
        <p:nvSpPr>
          <p:cNvPr id="5" name="Shape 2"/>
          <p:cNvSpPr/>
          <p:nvPr/>
        </p:nvSpPr>
        <p:spPr>
          <a:xfrm>
            <a:off x="548640" y="1965960"/>
            <a:ext cx="5349240" cy="3200400"/>
          </a:xfrm>
          <a:prstGeom prst="rect">
            <a:avLst/>
          </a:prstGeom>
          <a:solidFill>
            <a:srgbClr val="1B1030">
              <a:alpha val="78000"/>
            </a:srgbClr>
          </a:solidFill>
          <a:ln w="12700">
            <a:solidFill>
              <a:srgbClr val="352655"/>
            </a:solidFill>
            <a:prstDash val="solid"/>
          </a:ln>
        </p:spPr>
        <p:txBody>
          <a:bodyPr/>
          <a:lstStyle/>
          <a:p>
            <a:endParaRPr lang="en-US"/>
          </a:p>
        </p:txBody>
      </p:sp>
      <p:sp>
        <p:nvSpPr>
          <p:cNvPr id="6" name="Shape 3"/>
          <p:cNvSpPr/>
          <p:nvPr/>
        </p:nvSpPr>
        <p:spPr>
          <a:xfrm>
            <a:off x="891540" y="2263140"/>
            <a:ext cx="685800" cy="685800"/>
          </a:xfrm>
          <a:prstGeom prst="ellipse">
            <a:avLst/>
          </a:prstGeom>
          <a:solidFill>
            <a:srgbClr val="241640"/>
          </a:solidFill>
          <a:ln w="19050">
            <a:solidFill>
              <a:srgbClr val="F4B942"/>
            </a:solidFill>
            <a:prstDash val="solid"/>
          </a:ln>
        </p:spPr>
        <p:txBody>
          <a:bodyPr/>
          <a:lstStyle/>
          <a:p>
            <a:endParaRPr lang="en-US"/>
          </a:p>
        </p:txBody>
      </p:sp>
      <p:pic>
        <p:nvPicPr>
          <p:cNvPr id="7" name="Image 1" descr="/home/claude/pptx_build/icons/brain_gold.png"/>
          <p:cNvPicPr>
            <a:picLocks noChangeAspect="1"/>
          </p:cNvPicPr>
          <p:nvPr/>
        </p:nvPicPr>
        <p:blipFill>
          <a:blip r:embed="rId4"/>
          <a:stretch>
            <a:fillRect/>
          </a:stretch>
        </p:blipFill>
        <p:spPr>
          <a:xfrm>
            <a:off x="1062990" y="2434590"/>
            <a:ext cx="342900" cy="342900"/>
          </a:xfrm>
          <a:prstGeom prst="rect">
            <a:avLst/>
          </a:prstGeom>
        </p:spPr>
      </p:pic>
      <p:sp>
        <p:nvSpPr>
          <p:cNvPr id="8" name="Text 4"/>
          <p:cNvSpPr/>
          <p:nvPr/>
        </p:nvSpPr>
        <p:spPr>
          <a:xfrm>
            <a:off x="1691640" y="2286000"/>
            <a:ext cx="393192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Habitability Classifier</a:t>
            </a:r>
            <a:endParaRPr lang="en-US" sz="1500" dirty="0"/>
          </a:p>
        </p:txBody>
      </p:sp>
      <p:sp>
        <p:nvSpPr>
          <p:cNvPr id="9" name="Text 5"/>
          <p:cNvSpPr/>
          <p:nvPr/>
        </p:nvSpPr>
        <p:spPr>
          <a:xfrm>
            <a:off x="1691640" y="2624328"/>
            <a:ext cx="3931920" cy="274320"/>
          </a:xfrm>
          <a:prstGeom prst="rect">
            <a:avLst/>
          </a:prstGeom>
          <a:noFill/>
          <a:ln/>
        </p:spPr>
        <p:txBody>
          <a:bodyPr wrap="square" lIns="0" tIns="0" rIns="0" bIns="0" rtlCol="0" anchor="ctr"/>
          <a:lstStyle/>
          <a:p>
            <a:pPr marL="0" indent="0">
              <a:buNone/>
            </a:pPr>
            <a:r>
              <a:rPr lang="en-US" sz="1000" i="1" dirty="0">
                <a:solidFill>
                  <a:srgbClr val="9B7FD4"/>
                </a:solidFill>
                <a:latin typeface="Calibri" pitchFamily="34" charset="0"/>
                <a:ea typeface="Calibri" pitchFamily="34" charset="-122"/>
                <a:cs typeface="Calibri" pitchFamily="34" charset="-120"/>
              </a:rPr>
              <a:t>Random Forest + SMOTE</a:t>
            </a:r>
            <a:endParaRPr lang="en-US" sz="1000" dirty="0"/>
          </a:p>
        </p:txBody>
      </p:sp>
      <p:sp>
        <p:nvSpPr>
          <p:cNvPr id="10" name="Text 6"/>
          <p:cNvSpPr/>
          <p:nvPr/>
        </p:nvSpPr>
        <p:spPr>
          <a:xfrm>
            <a:off x="868680" y="3200400"/>
            <a:ext cx="4754880" cy="960120"/>
          </a:xfrm>
          <a:prstGeom prst="rect">
            <a:avLst/>
          </a:prstGeom>
          <a:noFill/>
          <a:ln/>
        </p:spPr>
        <p:txBody>
          <a:bodyPr wrap="square" lIns="0" tIns="0" rIns="0" bIns="0" rtlCol="0" anchor="ctr"/>
          <a:lstStyle/>
          <a:p>
            <a:pPr marL="0" indent="0">
              <a:lnSpc>
                <a:spcPct val="125000"/>
              </a:lnSpc>
              <a:buNone/>
            </a:pPr>
            <a:r>
              <a:rPr lang="en-US" sz="1100" dirty="0">
                <a:solidFill>
                  <a:srgbClr val="CFC6E0"/>
                </a:solidFill>
                <a:latin typeface="Calibri" pitchFamily="34" charset="0"/>
                <a:ea typeface="Calibri" pitchFamily="34" charset="-122"/>
                <a:cs typeface="Calibri" pitchFamily="34" charset="-120"/>
              </a:rPr>
              <a:t>Predicts Habitable / Not Habitable from radius, mass, flux, temperature, semi-major axis &amp; eccentricity.</a:t>
            </a:r>
            <a:endParaRPr lang="en-US" sz="1100" dirty="0"/>
          </a:p>
        </p:txBody>
      </p:sp>
      <p:sp>
        <p:nvSpPr>
          <p:cNvPr id="11" name="Text 7"/>
          <p:cNvSpPr/>
          <p:nvPr/>
        </p:nvSpPr>
        <p:spPr>
          <a:xfrm>
            <a:off x="868680" y="4251960"/>
            <a:ext cx="2377440" cy="45720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99.06%</a:t>
            </a:r>
            <a:endParaRPr lang="en-US" sz="2200" dirty="0"/>
          </a:p>
        </p:txBody>
      </p:sp>
      <p:sp>
        <p:nvSpPr>
          <p:cNvPr id="12" name="Text 8"/>
          <p:cNvSpPr/>
          <p:nvPr/>
        </p:nvSpPr>
        <p:spPr>
          <a:xfrm>
            <a:off x="868680" y="4690872"/>
            <a:ext cx="2377440" cy="365760"/>
          </a:xfrm>
          <a:prstGeom prst="rect">
            <a:avLst/>
          </a:prstGeom>
          <a:noFill/>
          <a:ln/>
        </p:spPr>
        <p:txBody>
          <a:bodyPr wrap="square" lIns="0" tIns="0" rIns="0" bIns="0" rtlCol="0" anchor="ctr"/>
          <a:lstStyle/>
          <a:p>
            <a:pPr marL="0" indent="0">
              <a:buNone/>
            </a:pPr>
            <a:r>
              <a:rPr lang="en-US" sz="900" dirty="0">
                <a:solidFill>
                  <a:srgbClr val="CFC6E0"/>
                </a:solidFill>
                <a:latin typeface="Calibri" pitchFamily="34" charset="0"/>
                <a:ea typeface="Calibri" pitchFamily="34" charset="-122"/>
                <a:cs typeface="Calibri" pitchFamily="34" charset="-120"/>
              </a:rPr>
              <a:t>Test Accuracy</a:t>
            </a:r>
            <a:endParaRPr lang="en-US" sz="900" dirty="0"/>
          </a:p>
        </p:txBody>
      </p:sp>
      <p:sp>
        <p:nvSpPr>
          <p:cNvPr id="13" name="Text 9"/>
          <p:cNvSpPr/>
          <p:nvPr/>
        </p:nvSpPr>
        <p:spPr>
          <a:xfrm>
            <a:off x="3337560" y="4251960"/>
            <a:ext cx="2377440" cy="45720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0.60</a:t>
            </a:r>
            <a:endParaRPr lang="en-US" sz="2200" dirty="0"/>
          </a:p>
        </p:txBody>
      </p:sp>
      <p:sp>
        <p:nvSpPr>
          <p:cNvPr id="14" name="Text 10"/>
          <p:cNvSpPr/>
          <p:nvPr/>
        </p:nvSpPr>
        <p:spPr>
          <a:xfrm>
            <a:off x="3337560" y="4690872"/>
            <a:ext cx="2377440" cy="365760"/>
          </a:xfrm>
          <a:prstGeom prst="rect">
            <a:avLst/>
          </a:prstGeom>
          <a:noFill/>
          <a:ln/>
        </p:spPr>
        <p:txBody>
          <a:bodyPr wrap="square" lIns="0" tIns="0" rIns="0" bIns="0" rtlCol="0" anchor="ctr"/>
          <a:lstStyle/>
          <a:p>
            <a:pPr marL="0" indent="0">
              <a:buNone/>
            </a:pPr>
            <a:r>
              <a:rPr lang="en-US" sz="900" dirty="0">
                <a:solidFill>
                  <a:srgbClr val="CFC6E0"/>
                </a:solidFill>
                <a:latin typeface="Calibri" pitchFamily="34" charset="0"/>
                <a:ea typeface="Calibri" pitchFamily="34" charset="-122"/>
                <a:cs typeface="Calibri" pitchFamily="34" charset="-120"/>
              </a:rPr>
              <a:t>Recall (habitable class)</a:t>
            </a:r>
            <a:endParaRPr lang="en-US" sz="900" dirty="0"/>
          </a:p>
        </p:txBody>
      </p:sp>
      <p:sp>
        <p:nvSpPr>
          <p:cNvPr id="15" name="Shape 11"/>
          <p:cNvSpPr/>
          <p:nvPr/>
        </p:nvSpPr>
        <p:spPr>
          <a:xfrm>
            <a:off x="6172200" y="1965960"/>
            <a:ext cx="5349240" cy="3200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6" name="Shape 12"/>
          <p:cNvSpPr/>
          <p:nvPr/>
        </p:nvSpPr>
        <p:spPr>
          <a:xfrm>
            <a:off x="6515100" y="2263140"/>
            <a:ext cx="685800" cy="685800"/>
          </a:xfrm>
          <a:prstGeom prst="ellipse">
            <a:avLst/>
          </a:prstGeom>
          <a:solidFill>
            <a:srgbClr val="241640"/>
          </a:solidFill>
          <a:ln w="19050">
            <a:solidFill>
              <a:srgbClr val="F4B942"/>
            </a:solidFill>
            <a:prstDash val="solid"/>
          </a:ln>
        </p:spPr>
        <p:txBody>
          <a:bodyPr/>
          <a:lstStyle/>
          <a:p>
            <a:endParaRPr lang="en-US"/>
          </a:p>
        </p:txBody>
      </p:sp>
      <p:pic>
        <p:nvPicPr>
          <p:cNvPr id="17" name="Image 2" descr="/home/claude/pptx_build/icons/chartline_gold.png"/>
          <p:cNvPicPr>
            <a:picLocks noChangeAspect="1"/>
          </p:cNvPicPr>
          <p:nvPr/>
        </p:nvPicPr>
        <p:blipFill>
          <a:blip r:embed="rId5"/>
          <a:stretch>
            <a:fillRect/>
          </a:stretch>
        </p:blipFill>
        <p:spPr>
          <a:xfrm>
            <a:off x="6686550" y="2434590"/>
            <a:ext cx="342900" cy="342900"/>
          </a:xfrm>
          <a:prstGeom prst="rect">
            <a:avLst/>
          </a:prstGeom>
        </p:spPr>
      </p:pic>
      <p:sp>
        <p:nvSpPr>
          <p:cNvPr id="18" name="Text 13"/>
          <p:cNvSpPr/>
          <p:nvPr/>
        </p:nvSpPr>
        <p:spPr>
          <a:xfrm>
            <a:off x="7315200" y="2286000"/>
            <a:ext cx="3931920" cy="36576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Earth Similarity Regressor</a:t>
            </a:r>
            <a:endParaRPr lang="en-US" sz="1500" dirty="0"/>
          </a:p>
        </p:txBody>
      </p:sp>
      <p:sp>
        <p:nvSpPr>
          <p:cNvPr id="19" name="Text 14"/>
          <p:cNvSpPr/>
          <p:nvPr/>
        </p:nvSpPr>
        <p:spPr>
          <a:xfrm>
            <a:off x="7315200" y="2624328"/>
            <a:ext cx="3931920" cy="274320"/>
          </a:xfrm>
          <a:prstGeom prst="rect">
            <a:avLst/>
          </a:prstGeom>
          <a:noFill/>
          <a:ln/>
        </p:spPr>
        <p:txBody>
          <a:bodyPr wrap="square" lIns="0" tIns="0" rIns="0" bIns="0" rtlCol="0" anchor="ctr"/>
          <a:lstStyle/>
          <a:p>
            <a:pPr marL="0" indent="0">
              <a:buNone/>
            </a:pPr>
            <a:r>
              <a:rPr lang="en-US" sz="1000" i="1" dirty="0">
                <a:solidFill>
                  <a:srgbClr val="9B7FD4"/>
                </a:solidFill>
                <a:latin typeface="Calibri" pitchFamily="34" charset="0"/>
                <a:ea typeface="Calibri" pitchFamily="34" charset="-122"/>
                <a:cs typeface="Calibri" pitchFamily="34" charset="-120"/>
              </a:rPr>
              <a:t>XGBoost, sample-weighted</a:t>
            </a:r>
            <a:endParaRPr lang="en-US" sz="1000" dirty="0"/>
          </a:p>
        </p:txBody>
      </p:sp>
      <p:sp>
        <p:nvSpPr>
          <p:cNvPr id="20" name="Text 15"/>
          <p:cNvSpPr/>
          <p:nvPr/>
        </p:nvSpPr>
        <p:spPr>
          <a:xfrm>
            <a:off x="6492240" y="3200400"/>
            <a:ext cx="4754880" cy="960120"/>
          </a:xfrm>
          <a:prstGeom prst="rect">
            <a:avLst/>
          </a:prstGeom>
          <a:noFill/>
          <a:ln/>
        </p:spPr>
        <p:txBody>
          <a:bodyPr wrap="square" lIns="0" tIns="0" rIns="0" bIns="0" rtlCol="0" anchor="ctr"/>
          <a:lstStyle/>
          <a:p>
            <a:pPr marL="0" indent="0">
              <a:lnSpc>
                <a:spcPct val="125000"/>
              </a:lnSpc>
              <a:buNone/>
            </a:pPr>
            <a:r>
              <a:rPr lang="en-US" sz="1100" dirty="0">
                <a:solidFill>
                  <a:srgbClr val="CFC6E0"/>
                </a:solidFill>
                <a:latin typeface="Calibri" pitchFamily="34" charset="0"/>
                <a:ea typeface="Calibri" pitchFamily="34" charset="-122"/>
                <a:cs typeface="Calibri" pitchFamily="34" charset="-120"/>
              </a:rPr>
              <a:t>Scores how Earth-like a planet is on a 0–100 scale, weighting rare high-ESI planets 20× more heavily.</a:t>
            </a:r>
            <a:endParaRPr lang="en-US" sz="1100" dirty="0"/>
          </a:p>
        </p:txBody>
      </p:sp>
      <p:sp>
        <p:nvSpPr>
          <p:cNvPr id="21" name="Text 16"/>
          <p:cNvSpPr/>
          <p:nvPr/>
        </p:nvSpPr>
        <p:spPr>
          <a:xfrm>
            <a:off x="6492240" y="4251960"/>
            <a:ext cx="2377440" cy="45720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87.0%</a:t>
            </a:r>
            <a:endParaRPr lang="en-US" sz="2200" dirty="0"/>
          </a:p>
        </p:txBody>
      </p:sp>
      <p:sp>
        <p:nvSpPr>
          <p:cNvPr id="22" name="Text 17"/>
          <p:cNvSpPr/>
          <p:nvPr/>
        </p:nvSpPr>
        <p:spPr>
          <a:xfrm>
            <a:off x="6492240" y="4690872"/>
            <a:ext cx="2377440" cy="365760"/>
          </a:xfrm>
          <a:prstGeom prst="rect">
            <a:avLst/>
          </a:prstGeom>
          <a:noFill/>
          <a:ln/>
        </p:spPr>
        <p:txBody>
          <a:bodyPr wrap="square" lIns="0" tIns="0" rIns="0" bIns="0" rtlCol="0" anchor="ctr"/>
          <a:lstStyle/>
          <a:p>
            <a:pPr marL="0" indent="0">
              <a:buNone/>
            </a:pPr>
            <a:r>
              <a:rPr lang="en-US" sz="900" dirty="0">
                <a:solidFill>
                  <a:srgbClr val="CFC6E0"/>
                </a:solidFill>
                <a:latin typeface="Calibri" pitchFamily="34" charset="0"/>
                <a:ea typeface="Calibri" pitchFamily="34" charset="-122"/>
                <a:cs typeface="Calibri" pitchFamily="34" charset="-120"/>
              </a:rPr>
              <a:t>R² Score</a:t>
            </a:r>
            <a:endParaRPr lang="en-US" sz="900" dirty="0"/>
          </a:p>
        </p:txBody>
      </p:sp>
      <p:sp>
        <p:nvSpPr>
          <p:cNvPr id="23" name="Text 18"/>
          <p:cNvSpPr/>
          <p:nvPr/>
        </p:nvSpPr>
        <p:spPr>
          <a:xfrm>
            <a:off x="8961120" y="4251960"/>
            <a:ext cx="2377440" cy="45720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2.31 pts</a:t>
            </a:r>
            <a:endParaRPr lang="en-US" sz="2200" dirty="0"/>
          </a:p>
        </p:txBody>
      </p:sp>
      <p:sp>
        <p:nvSpPr>
          <p:cNvPr id="24" name="Text 19"/>
          <p:cNvSpPr/>
          <p:nvPr/>
        </p:nvSpPr>
        <p:spPr>
          <a:xfrm>
            <a:off x="8961120" y="4690872"/>
            <a:ext cx="2377440" cy="365760"/>
          </a:xfrm>
          <a:prstGeom prst="rect">
            <a:avLst/>
          </a:prstGeom>
          <a:noFill/>
          <a:ln/>
        </p:spPr>
        <p:txBody>
          <a:bodyPr wrap="square" lIns="0" tIns="0" rIns="0" bIns="0" rtlCol="0" anchor="ctr"/>
          <a:lstStyle/>
          <a:p>
            <a:pPr marL="0" indent="0">
              <a:buNone/>
            </a:pPr>
            <a:r>
              <a:rPr lang="en-US" sz="900" dirty="0">
                <a:solidFill>
                  <a:srgbClr val="CFC6E0"/>
                </a:solidFill>
                <a:latin typeface="Calibri" pitchFamily="34" charset="0"/>
                <a:ea typeface="Calibri" pitchFamily="34" charset="-122"/>
                <a:cs typeface="Calibri" pitchFamily="34" charset="-120"/>
              </a:rPr>
              <a:t>MAE</a:t>
            </a:r>
            <a:endParaRPr lang="en-US" sz="900" dirty="0"/>
          </a:p>
        </p:txBody>
      </p:sp>
      <p:sp>
        <p:nvSpPr>
          <p:cNvPr id="25" name="Text 20"/>
          <p:cNvSpPr/>
          <p:nvPr/>
        </p:nvSpPr>
        <p:spPr>
          <a:xfrm>
            <a:off x="548640" y="5440680"/>
            <a:ext cx="10515600" cy="457200"/>
          </a:xfrm>
          <a:prstGeom prst="rect">
            <a:avLst/>
          </a:prstGeom>
          <a:noFill/>
          <a:ln/>
        </p:spPr>
        <p:txBody>
          <a:bodyPr wrap="square" lIns="0" tIns="0" rIns="0" bIns="0" rtlCol="0" anchor="ctr"/>
          <a:lstStyle/>
          <a:p>
            <a:pPr marL="0" indent="0" algn="ctr">
              <a:buNone/>
            </a:pPr>
            <a:r>
              <a:rPr lang="en-US" sz="1200" i="1" dirty="0">
                <a:solidFill>
                  <a:srgbClr val="F4B942"/>
                </a:solidFill>
                <a:latin typeface="Calibri" pitchFamily="34" charset="0"/>
                <a:ea typeface="Calibri" pitchFamily="34" charset="-122"/>
                <a:cs typeface="Calibri" pitchFamily="34" charset="-120"/>
              </a:rPr>
              <a:t>Both models are deployed live — through a Streamlit demo app and directly inside the dashboard’s AI Model page.</a:t>
            </a:r>
            <a:endParaRPr lang="en-US" sz="1200" dirty="0"/>
          </a:p>
        </p:txBody>
      </p:sp>
      <p:sp>
        <p:nvSpPr>
          <p:cNvPr id="26" name="Text 21"/>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05</a:t>
            </a:r>
            <a:endParaRPr lang="en-US" sz="1000" dirty="0"/>
          </a:p>
        </p:txBody>
      </p:sp>
      <p:sp>
        <p:nvSpPr>
          <p:cNvPr id="27" name="Text 22"/>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DASHBOARD WALKTHROUGH</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A Seven-Page Data Storytelling Journey</a:t>
            </a:r>
            <a:endParaRPr lang="en-US" sz="2800" dirty="0"/>
          </a:p>
        </p:txBody>
      </p:sp>
      <p:sp>
        <p:nvSpPr>
          <p:cNvPr id="5" name="Text 2"/>
          <p:cNvSpPr/>
          <p:nvPr/>
        </p:nvSpPr>
        <p:spPr>
          <a:xfrm>
            <a:off x="548640" y="1417320"/>
            <a:ext cx="10058400" cy="457200"/>
          </a:xfrm>
          <a:prstGeom prst="rect">
            <a:avLst/>
          </a:prstGeom>
          <a:noFill/>
          <a:ln/>
        </p:spPr>
        <p:txBody>
          <a:bodyPr wrap="square" lIns="0" tIns="0" rIns="0" bIns="0" rtlCol="0" anchor="ctr"/>
          <a:lstStyle/>
          <a:p>
            <a:pPr marL="0" indent="0">
              <a:buNone/>
            </a:pPr>
            <a:r>
              <a:rPr lang="en-US" sz="1250" i="1" dirty="0">
                <a:solidFill>
                  <a:srgbClr val="CFC6E0"/>
                </a:solidFill>
                <a:latin typeface="Calibri" pitchFamily="34" charset="0"/>
                <a:ea typeface="Calibri" pitchFamily="34" charset="-122"/>
                <a:cs typeface="Calibri" pitchFamily="34" charset="-120"/>
              </a:rPr>
              <a:t>Designed first in Figma — a cosmic, nebula-themed identity carried consistently across every page of the Power BI report.</a:t>
            </a:r>
            <a:endParaRPr lang="en-US" sz="1250" dirty="0"/>
          </a:p>
        </p:txBody>
      </p:sp>
      <p:sp>
        <p:nvSpPr>
          <p:cNvPr id="6" name="Shape 3"/>
          <p:cNvSpPr/>
          <p:nvPr/>
        </p:nvSpPr>
        <p:spPr>
          <a:xfrm>
            <a:off x="548640" y="2057400"/>
            <a:ext cx="5349240" cy="4160520"/>
          </a:xfrm>
          <a:prstGeom prst="rect">
            <a:avLst/>
          </a:prstGeom>
          <a:solidFill>
            <a:srgbClr val="1B1030">
              <a:alpha val="70000"/>
            </a:srgbClr>
          </a:solidFill>
          <a:ln w="19050">
            <a:solidFill>
              <a:srgbClr val="4A3A6B"/>
            </a:solidFill>
            <a:prstDash val="dash"/>
          </a:ln>
        </p:spPr>
        <p:txBody>
          <a:bodyPr/>
          <a:lstStyle/>
          <a:p>
            <a:endParaRPr lang="en-US"/>
          </a:p>
        </p:txBody>
      </p:sp>
      <p:sp>
        <p:nvSpPr>
          <p:cNvPr id="10" name="Shape 6"/>
          <p:cNvSpPr/>
          <p:nvPr/>
        </p:nvSpPr>
        <p:spPr>
          <a:xfrm>
            <a:off x="6263640" y="2057400"/>
            <a:ext cx="5349240" cy="4160520"/>
          </a:xfrm>
          <a:prstGeom prst="rect">
            <a:avLst/>
          </a:prstGeom>
          <a:solidFill>
            <a:srgbClr val="1B1030">
              <a:alpha val="70000"/>
            </a:srgbClr>
          </a:solidFill>
          <a:ln w="19050">
            <a:solidFill>
              <a:srgbClr val="4A3A6B"/>
            </a:solidFill>
            <a:prstDash val="dash"/>
          </a:ln>
        </p:spPr>
        <p:txBody>
          <a:bodyPr/>
          <a:lstStyle/>
          <a:p>
            <a:endParaRPr lang="en-US"/>
          </a:p>
        </p:txBody>
      </p:sp>
      <p:sp>
        <p:nvSpPr>
          <p:cNvPr id="14" name="Text 9"/>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06</a:t>
            </a:r>
            <a:endParaRPr lang="en-US" sz="1000" dirty="0"/>
          </a:p>
        </p:txBody>
      </p:sp>
      <p:sp>
        <p:nvSpPr>
          <p:cNvPr id="15" name="Text 10"/>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pic>
        <p:nvPicPr>
          <p:cNvPr id="17" name="Picture 16">
            <a:extLst>
              <a:ext uri="{FF2B5EF4-FFF2-40B4-BE49-F238E27FC236}">
                <a16:creationId xmlns:a16="http://schemas.microsoft.com/office/drawing/2014/main" id="{61FFF5F1-F8AA-A7E6-81C4-8A3A0107F309}"/>
              </a:ext>
            </a:extLst>
          </p:cNvPr>
          <p:cNvPicPr>
            <a:picLocks noChangeAspect="1"/>
          </p:cNvPicPr>
          <p:nvPr/>
        </p:nvPicPr>
        <p:blipFill>
          <a:blip r:embed="rId4"/>
          <a:srcRect t="1766"/>
          <a:stretch>
            <a:fillRect/>
          </a:stretch>
        </p:blipFill>
        <p:spPr>
          <a:xfrm>
            <a:off x="664234" y="2194560"/>
            <a:ext cx="5132717" cy="3913632"/>
          </a:xfrm>
          <a:prstGeom prst="rect">
            <a:avLst/>
          </a:prstGeom>
        </p:spPr>
      </p:pic>
      <p:pic>
        <p:nvPicPr>
          <p:cNvPr id="19" name="Picture 18">
            <a:extLst>
              <a:ext uri="{FF2B5EF4-FFF2-40B4-BE49-F238E27FC236}">
                <a16:creationId xmlns:a16="http://schemas.microsoft.com/office/drawing/2014/main" id="{A354723E-1F94-12E0-3423-5FCCBFCF0610}"/>
              </a:ext>
            </a:extLst>
          </p:cNvPr>
          <p:cNvPicPr>
            <a:picLocks noChangeAspect="1"/>
          </p:cNvPicPr>
          <p:nvPr/>
        </p:nvPicPr>
        <p:blipFill>
          <a:blip r:embed="rId5"/>
          <a:stretch>
            <a:fillRect/>
          </a:stretch>
        </p:blipFill>
        <p:spPr>
          <a:xfrm>
            <a:off x="6372094" y="2194560"/>
            <a:ext cx="5155672" cy="39136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DASHBOARD  ·  PAGE 2</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2500" b="1" dirty="0">
                <a:solidFill>
                  <a:srgbClr val="FFFFFF"/>
                </a:solidFill>
                <a:latin typeface="Cambria" pitchFamily="34" charset="0"/>
                <a:ea typeface="Cambria" pitchFamily="34" charset="-122"/>
                <a:cs typeface="Cambria" pitchFamily="34" charset="-120"/>
              </a:rPr>
              <a:t>Overview — Discovery History &amp; System Structure</a:t>
            </a:r>
            <a:endParaRPr lang="en-US" sz="2500" dirty="0"/>
          </a:p>
        </p:txBody>
      </p:sp>
      <p:sp>
        <p:nvSpPr>
          <p:cNvPr id="5" name="Shape 2"/>
          <p:cNvSpPr/>
          <p:nvPr/>
        </p:nvSpPr>
        <p:spPr>
          <a:xfrm>
            <a:off x="548640" y="1508760"/>
            <a:ext cx="6675120" cy="4709160"/>
          </a:xfrm>
          <a:prstGeom prst="rect">
            <a:avLst/>
          </a:prstGeom>
          <a:solidFill>
            <a:srgbClr val="1B1030">
              <a:alpha val="70000"/>
            </a:srgbClr>
          </a:solidFill>
          <a:ln w="19050">
            <a:solidFill>
              <a:srgbClr val="4A3A6B"/>
            </a:solidFill>
            <a:prstDash val="dash"/>
          </a:ln>
        </p:spPr>
        <p:txBody>
          <a:bodyPr/>
          <a:lstStyle/>
          <a:p>
            <a:endParaRPr lang="en-US"/>
          </a:p>
        </p:txBody>
      </p:sp>
      <p:sp>
        <p:nvSpPr>
          <p:cNvPr id="9" name="Shape 5"/>
          <p:cNvSpPr/>
          <p:nvPr/>
        </p:nvSpPr>
        <p:spPr>
          <a:xfrm>
            <a:off x="7498080" y="1600200"/>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0" name="Text 6"/>
          <p:cNvSpPr/>
          <p:nvPr/>
        </p:nvSpPr>
        <p:spPr>
          <a:xfrm>
            <a:off x="7726680" y="1691640"/>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5,877</a:t>
            </a:r>
            <a:endParaRPr lang="en-US" sz="2400" dirty="0"/>
          </a:p>
        </p:txBody>
      </p:sp>
      <p:sp>
        <p:nvSpPr>
          <p:cNvPr id="11" name="Text 7"/>
          <p:cNvSpPr/>
          <p:nvPr/>
        </p:nvSpPr>
        <p:spPr>
          <a:xfrm>
            <a:off x="7726680" y="2167128"/>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Total Planets</a:t>
            </a:r>
            <a:endParaRPr lang="en-US" sz="1050" dirty="0"/>
          </a:p>
        </p:txBody>
      </p:sp>
      <p:sp>
        <p:nvSpPr>
          <p:cNvPr id="12" name="Shape 8"/>
          <p:cNvSpPr/>
          <p:nvPr/>
        </p:nvSpPr>
        <p:spPr>
          <a:xfrm>
            <a:off x="7498080" y="2679192"/>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3" name="Text 9"/>
          <p:cNvSpPr/>
          <p:nvPr/>
        </p:nvSpPr>
        <p:spPr>
          <a:xfrm>
            <a:off x="7726680" y="2770632"/>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4,024</a:t>
            </a:r>
            <a:endParaRPr lang="en-US" sz="2400" dirty="0"/>
          </a:p>
        </p:txBody>
      </p:sp>
      <p:sp>
        <p:nvSpPr>
          <p:cNvPr id="14" name="Text 10"/>
          <p:cNvSpPr/>
          <p:nvPr/>
        </p:nvSpPr>
        <p:spPr>
          <a:xfrm>
            <a:off x="7726680" y="3246120"/>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Unique Host Stars</a:t>
            </a:r>
            <a:endParaRPr lang="en-US" sz="1050" dirty="0"/>
          </a:p>
        </p:txBody>
      </p:sp>
      <p:sp>
        <p:nvSpPr>
          <p:cNvPr id="15" name="Shape 11"/>
          <p:cNvSpPr/>
          <p:nvPr/>
        </p:nvSpPr>
        <p:spPr>
          <a:xfrm>
            <a:off x="7498080" y="3758184"/>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6" name="Text 12"/>
          <p:cNvSpPr/>
          <p:nvPr/>
        </p:nvSpPr>
        <p:spPr>
          <a:xfrm>
            <a:off x="7726680" y="3849624"/>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7,200 pc</a:t>
            </a:r>
            <a:endParaRPr lang="en-US" sz="2400" dirty="0"/>
          </a:p>
        </p:txBody>
      </p:sp>
      <p:sp>
        <p:nvSpPr>
          <p:cNvPr id="17" name="Text 13"/>
          <p:cNvSpPr/>
          <p:nvPr/>
        </p:nvSpPr>
        <p:spPr>
          <a:xfrm>
            <a:off x="7726680" y="4325112"/>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Max Distance</a:t>
            </a:r>
            <a:endParaRPr lang="en-US" sz="1050" dirty="0"/>
          </a:p>
        </p:txBody>
      </p:sp>
      <p:sp>
        <p:nvSpPr>
          <p:cNvPr id="18" name="Shape 14"/>
          <p:cNvSpPr/>
          <p:nvPr/>
        </p:nvSpPr>
        <p:spPr>
          <a:xfrm>
            <a:off x="7498080" y="4837176"/>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9" name="Text 15"/>
          <p:cNvSpPr/>
          <p:nvPr/>
        </p:nvSpPr>
        <p:spPr>
          <a:xfrm>
            <a:off x="7726680" y="4928616"/>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8.55%</a:t>
            </a:r>
            <a:endParaRPr lang="en-US" sz="2400" dirty="0"/>
          </a:p>
        </p:txBody>
      </p:sp>
      <p:sp>
        <p:nvSpPr>
          <p:cNvPr id="20" name="Text 16"/>
          <p:cNvSpPr/>
          <p:nvPr/>
        </p:nvSpPr>
        <p:spPr>
          <a:xfrm>
            <a:off x="7726680" y="5404104"/>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Binary Systems</a:t>
            </a:r>
            <a:endParaRPr lang="en-US" sz="1050" dirty="0"/>
          </a:p>
        </p:txBody>
      </p:sp>
      <p:sp>
        <p:nvSpPr>
          <p:cNvPr id="21" name="Text 17"/>
          <p:cNvSpPr/>
          <p:nvPr/>
        </p:nvSpPr>
        <p:spPr>
          <a:xfrm>
            <a:off x="7498080" y="5961888"/>
            <a:ext cx="4114800" cy="777240"/>
          </a:xfrm>
          <a:prstGeom prst="rect">
            <a:avLst/>
          </a:prstGeom>
          <a:noFill/>
          <a:ln/>
        </p:spPr>
        <p:txBody>
          <a:bodyPr wrap="square" lIns="0" tIns="0" rIns="0" bIns="0" rtlCol="0" anchor="ctr"/>
          <a:lstStyle/>
          <a:p>
            <a:pPr marL="0" indent="0">
              <a:lnSpc>
                <a:spcPct val="125000"/>
              </a:lnSpc>
              <a:buNone/>
            </a:pPr>
            <a:r>
              <a:rPr lang="en-US" sz="1000" i="1" dirty="0">
                <a:solidFill>
                  <a:srgbClr val="CFC6E0"/>
                </a:solidFill>
                <a:latin typeface="Calibri" pitchFamily="34" charset="0"/>
                <a:ea typeface="Calibri" pitchFamily="34" charset="-122"/>
                <a:cs typeface="Calibri" pitchFamily="34" charset="-120"/>
              </a:rPr>
              <a:t>Transit dominates discoveries (~4.78K planets); discovery pace peaked in 2016 with 1,522 new confirmations.</a:t>
            </a:r>
            <a:endParaRPr lang="en-US" sz="1000" dirty="0"/>
          </a:p>
        </p:txBody>
      </p:sp>
      <p:sp>
        <p:nvSpPr>
          <p:cNvPr id="22" name="Text 18"/>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07</a:t>
            </a:r>
            <a:endParaRPr lang="en-US" sz="1000" dirty="0"/>
          </a:p>
        </p:txBody>
      </p:sp>
      <p:sp>
        <p:nvSpPr>
          <p:cNvPr id="23" name="Text 19"/>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pic>
        <p:nvPicPr>
          <p:cNvPr id="25" name="Picture 24">
            <a:extLst>
              <a:ext uri="{FF2B5EF4-FFF2-40B4-BE49-F238E27FC236}">
                <a16:creationId xmlns:a16="http://schemas.microsoft.com/office/drawing/2014/main" id="{47E55E40-B73A-6CB1-B6DE-F59839795686}"/>
              </a:ext>
            </a:extLst>
          </p:cNvPr>
          <p:cNvPicPr>
            <a:picLocks noChangeAspect="1"/>
          </p:cNvPicPr>
          <p:nvPr/>
        </p:nvPicPr>
        <p:blipFill>
          <a:blip r:embed="rId4"/>
          <a:stretch>
            <a:fillRect/>
          </a:stretch>
        </p:blipFill>
        <p:spPr>
          <a:xfrm>
            <a:off x="599574" y="1600200"/>
            <a:ext cx="6578465" cy="4572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DASHBOARD  ·  PAGE 3</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2400" b="1" dirty="0">
                <a:solidFill>
                  <a:srgbClr val="FFFFFF"/>
                </a:solidFill>
                <a:latin typeface="Cambria" pitchFamily="34" charset="0"/>
                <a:ea typeface="Cambria" pitchFamily="34" charset="-122"/>
                <a:cs typeface="Cambria" pitchFamily="34" charset="-120"/>
              </a:rPr>
              <a:t>Habitability — Physical &amp; Orbital Characteristics</a:t>
            </a:r>
            <a:endParaRPr lang="en-US" sz="2400" dirty="0"/>
          </a:p>
        </p:txBody>
      </p:sp>
      <p:sp>
        <p:nvSpPr>
          <p:cNvPr id="5" name="Shape 2"/>
          <p:cNvSpPr/>
          <p:nvPr/>
        </p:nvSpPr>
        <p:spPr>
          <a:xfrm>
            <a:off x="548640" y="1508760"/>
            <a:ext cx="6675120" cy="4709160"/>
          </a:xfrm>
          <a:prstGeom prst="rect">
            <a:avLst/>
          </a:prstGeom>
          <a:solidFill>
            <a:srgbClr val="1B1030">
              <a:alpha val="70000"/>
            </a:srgbClr>
          </a:solidFill>
          <a:ln w="19050">
            <a:solidFill>
              <a:srgbClr val="4A3A6B"/>
            </a:solidFill>
            <a:prstDash val="dash"/>
          </a:ln>
        </p:spPr>
        <p:txBody>
          <a:bodyPr/>
          <a:lstStyle/>
          <a:p>
            <a:endParaRPr lang="en-US"/>
          </a:p>
        </p:txBody>
      </p:sp>
      <p:sp>
        <p:nvSpPr>
          <p:cNvPr id="7" name="Text 3"/>
          <p:cNvSpPr/>
          <p:nvPr/>
        </p:nvSpPr>
        <p:spPr>
          <a:xfrm>
            <a:off x="822960" y="3909060"/>
            <a:ext cx="6126480" cy="457200"/>
          </a:xfrm>
          <a:prstGeom prst="rect">
            <a:avLst/>
          </a:prstGeom>
          <a:noFill/>
          <a:ln/>
        </p:spPr>
        <p:txBody>
          <a:bodyPr wrap="square" lIns="0" tIns="0" rIns="0" bIns="0" rtlCol="0" anchor="ctr"/>
          <a:lstStyle/>
          <a:p>
            <a:pPr marL="0" indent="0" algn="ctr">
              <a:buNone/>
            </a:pPr>
            <a:endParaRPr lang="en-US" sz="1200" dirty="0"/>
          </a:p>
        </p:txBody>
      </p:sp>
      <p:sp>
        <p:nvSpPr>
          <p:cNvPr id="8" name="Text 4"/>
          <p:cNvSpPr/>
          <p:nvPr/>
        </p:nvSpPr>
        <p:spPr>
          <a:xfrm>
            <a:off x="822960" y="5833872"/>
            <a:ext cx="6126480" cy="274320"/>
          </a:xfrm>
          <a:prstGeom prst="rect">
            <a:avLst/>
          </a:prstGeom>
          <a:noFill/>
          <a:ln/>
        </p:spPr>
        <p:txBody>
          <a:bodyPr wrap="square" lIns="0" tIns="0" rIns="0" bIns="0" rtlCol="0" anchor="ctr"/>
          <a:lstStyle/>
          <a:p>
            <a:pPr marL="0" indent="0" algn="ctr">
              <a:buNone/>
            </a:pPr>
            <a:endParaRPr lang="en-US" sz="850" dirty="0"/>
          </a:p>
        </p:txBody>
      </p:sp>
      <p:sp>
        <p:nvSpPr>
          <p:cNvPr id="9" name="Shape 5"/>
          <p:cNvSpPr/>
          <p:nvPr/>
        </p:nvSpPr>
        <p:spPr>
          <a:xfrm>
            <a:off x="7498080" y="1600200"/>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0" name="Text 6"/>
          <p:cNvSpPr/>
          <p:nvPr/>
        </p:nvSpPr>
        <p:spPr>
          <a:xfrm>
            <a:off x="7726680" y="1691640"/>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97.93 R⊕</a:t>
            </a:r>
            <a:endParaRPr lang="en-US" sz="2200" dirty="0"/>
          </a:p>
        </p:txBody>
      </p:sp>
      <p:sp>
        <p:nvSpPr>
          <p:cNvPr id="11" name="Text 7"/>
          <p:cNvSpPr/>
          <p:nvPr/>
        </p:nvSpPr>
        <p:spPr>
          <a:xfrm>
            <a:off x="7726680" y="2167128"/>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Radius</a:t>
            </a:r>
            <a:endParaRPr lang="en-US" sz="1050" dirty="0"/>
          </a:p>
        </p:txBody>
      </p:sp>
      <p:sp>
        <p:nvSpPr>
          <p:cNvPr id="12" name="Shape 8"/>
          <p:cNvSpPr/>
          <p:nvPr/>
        </p:nvSpPr>
        <p:spPr>
          <a:xfrm>
            <a:off x="7498080" y="2679192"/>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3" name="Text 9"/>
          <p:cNvSpPr/>
          <p:nvPr/>
        </p:nvSpPr>
        <p:spPr>
          <a:xfrm>
            <a:off x="7726680" y="2770632"/>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251.57 M⊕</a:t>
            </a:r>
            <a:endParaRPr lang="en-US" sz="2200" dirty="0"/>
          </a:p>
        </p:txBody>
      </p:sp>
      <p:sp>
        <p:nvSpPr>
          <p:cNvPr id="14" name="Text 10"/>
          <p:cNvSpPr/>
          <p:nvPr/>
        </p:nvSpPr>
        <p:spPr>
          <a:xfrm>
            <a:off x="7726680" y="3246120"/>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Mass</a:t>
            </a:r>
            <a:endParaRPr lang="en-US" sz="1050" dirty="0"/>
          </a:p>
        </p:txBody>
      </p:sp>
      <p:sp>
        <p:nvSpPr>
          <p:cNvPr id="15" name="Shape 11"/>
          <p:cNvSpPr/>
          <p:nvPr/>
        </p:nvSpPr>
        <p:spPr>
          <a:xfrm>
            <a:off x="7498080" y="3758184"/>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6" name="Text 12"/>
          <p:cNvSpPr/>
          <p:nvPr/>
        </p:nvSpPr>
        <p:spPr>
          <a:xfrm>
            <a:off x="7726680" y="3849624"/>
            <a:ext cx="2700688"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5.38 Earth’s Density</a:t>
            </a:r>
            <a:endParaRPr lang="en-US" sz="2200" dirty="0"/>
          </a:p>
        </p:txBody>
      </p:sp>
      <p:sp>
        <p:nvSpPr>
          <p:cNvPr id="17" name="Text 13"/>
          <p:cNvSpPr/>
          <p:nvPr/>
        </p:nvSpPr>
        <p:spPr>
          <a:xfrm>
            <a:off x="7726680" y="4325112"/>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Density</a:t>
            </a:r>
            <a:endParaRPr lang="en-US" sz="1050" dirty="0"/>
          </a:p>
        </p:txBody>
      </p:sp>
      <p:sp>
        <p:nvSpPr>
          <p:cNvPr id="18" name="Shape 14"/>
          <p:cNvSpPr/>
          <p:nvPr/>
        </p:nvSpPr>
        <p:spPr>
          <a:xfrm>
            <a:off x="7498080" y="4837176"/>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9" name="Text 15"/>
          <p:cNvSpPr/>
          <p:nvPr/>
        </p:nvSpPr>
        <p:spPr>
          <a:xfrm>
            <a:off x="7726680" y="4928616"/>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0.08</a:t>
            </a:r>
            <a:endParaRPr lang="en-US" sz="2200" dirty="0"/>
          </a:p>
        </p:txBody>
      </p:sp>
      <p:sp>
        <p:nvSpPr>
          <p:cNvPr id="20" name="Text 16"/>
          <p:cNvSpPr/>
          <p:nvPr/>
        </p:nvSpPr>
        <p:spPr>
          <a:xfrm>
            <a:off x="7726680" y="5404104"/>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Eccentricity</a:t>
            </a:r>
            <a:endParaRPr lang="en-US" sz="1050" dirty="0"/>
          </a:p>
        </p:txBody>
      </p:sp>
      <p:sp>
        <p:nvSpPr>
          <p:cNvPr id="21" name="Text 17"/>
          <p:cNvSpPr/>
          <p:nvPr/>
        </p:nvSpPr>
        <p:spPr>
          <a:xfrm>
            <a:off x="7498080" y="5961888"/>
            <a:ext cx="4114800" cy="777240"/>
          </a:xfrm>
          <a:prstGeom prst="rect">
            <a:avLst/>
          </a:prstGeom>
          <a:noFill/>
          <a:ln/>
        </p:spPr>
        <p:txBody>
          <a:bodyPr wrap="square" lIns="0" tIns="0" rIns="0" bIns="0" rtlCol="0" anchor="ctr"/>
          <a:lstStyle/>
          <a:p>
            <a:pPr marL="0" indent="0">
              <a:lnSpc>
                <a:spcPct val="125000"/>
              </a:lnSpc>
              <a:buNone/>
            </a:pPr>
            <a:r>
              <a:rPr lang="en-US" sz="1000" i="1" dirty="0">
                <a:solidFill>
                  <a:srgbClr val="CFC6E0"/>
                </a:solidFill>
                <a:latin typeface="Calibri" pitchFamily="34" charset="0"/>
                <a:ea typeface="Calibri" pitchFamily="34" charset="-122"/>
                <a:cs typeface="Calibri" pitchFamily="34" charset="-120"/>
              </a:rPr>
              <a:t>Kepler’s Third Law visually confirmed: orbital period rises cleanly with semi-major axis. 4.2K planets Gaseous vs 1.2K Rocky.</a:t>
            </a:r>
            <a:endParaRPr lang="en-US" sz="1000" dirty="0"/>
          </a:p>
        </p:txBody>
      </p:sp>
      <p:sp>
        <p:nvSpPr>
          <p:cNvPr id="22" name="Text 18"/>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08</a:t>
            </a:r>
            <a:endParaRPr lang="en-US" sz="1000" dirty="0"/>
          </a:p>
        </p:txBody>
      </p:sp>
      <p:sp>
        <p:nvSpPr>
          <p:cNvPr id="23" name="Text 19"/>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pic>
        <p:nvPicPr>
          <p:cNvPr id="25" name="Picture 24">
            <a:extLst>
              <a:ext uri="{FF2B5EF4-FFF2-40B4-BE49-F238E27FC236}">
                <a16:creationId xmlns:a16="http://schemas.microsoft.com/office/drawing/2014/main" id="{A1E0CE27-FB53-EF7B-587A-E4EBF21E567F}"/>
              </a:ext>
            </a:extLst>
          </p:cNvPr>
          <p:cNvPicPr>
            <a:picLocks noChangeAspect="1"/>
          </p:cNvPicPr>
          <p:nvPr/>
        </p:nvPicPr>
        <p:blipFill>
          <a:blip r:embed="rId4"/>
          <a:stretch>
            <a:fillRect/>
          </a:stretch>
        </p:blipFill>
        <p:spPr>
          <a:xfrm>
            <a:off x="686293" y="1618488"/>
            <a:ext cx="6399814" cy="448970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DASHBOARD  ·  PAGE 4</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2600" b="1" dirty="0">
                <a:solidFill>
                  <a:srgbClr val="FFFFFF"/>
                </a:solidFill>
                <a:latin typeface="Cambria" pitchFamily="34" charset="0"/>
                <a:ea typeface="Cambria" pitchFamily="34" charset="-122"/>
                <a:cs typeface="Cambria" pitchFamily="34" charset="-120"/>
              </a:rPr>
              <a:t>Star Systems — Host Star Properties</a:t>
            </a:r>
            <a:endParaRPr lang="en-US" sz="2600" dirty="0"/>
          </a:p>
        </p:txBody>
      </p:sp>
      <p:sp>
        <p:nvSpPr>
          <p:cNvPr id="5" name="Shape 2"/>
          <p:cNvSpPr/>
          <p:nvPr/>
        </p:nvSpPr>
        <p:spPr>
          <a:xfrm>
            <a:off x="548640" y="1508760"/>
            <a:ext cx="6675120" cy="4709160"/>
          </a:xfrm>
          <a:prstGeom prst="rect">
            <a:avLst/>
          </a:prstGeom>
          <a:solidFill>
            <a:srgbClr val="1B1030">
              <a:alpha val="70000"/>
            </a:srgbClr>
          </a:solidFill>
          <a:ln w="19050">
            <a:solidFill>
              <a:srgbClr val="4A3A6B"/>
            </a:solidFill>
            <a:prstDash val="dash"/>
          </a:ln>
        </p:spPr>
        <p:txBody>
          <a:bodyPr/>
          <a:lstStyle/>
          <a:p>
            <a:endParaRPr lang="en-US"/>
          </a:p>
        </p:txBody>
      </p:sp>
      <p:sp>
        <p:nvSpPr>
          <p:cNvPr id="7" name="Text 3"/>
          <p:cNvSpPr/>
          <p:nvPr/>
        </p:nvSpPr>
        <p:spPr>
          <a:xfrm>
            <a:off x="822960" y="3909060"/>
            <a:ext cx="6126480" cy="457200"/>
          </a:xfrm>
          <a:prstGeom prst="rect">
            <a:avLst/>
          </a:prstGeom>
          <a:noFill/>
          <a:ln/>
        </p:spPr>
        <p:txBody>
          <a:bodyPr wrap="square" lIns="0" tIns="0" rIns="0" bIns="0" rtlCol="0" anchor="ctr"/>
          <a:lstStyle/>
          <a:p>
            <a:pPr marL="0" indent="0" algn="ctr">
              <a:buNone/>
            </a:pPr>
            <a:endParaRPr lang="en-US" sz="1200" dirty="0"/>
          </a:p>
        </p:txBody>
      </p:sp>
      <p:sp>
        <p:nvSpPr>
          <p:cNvPr id="8" name="Text 4"/>
          <p:cNvSpPr/>
          <p:nvPr/>
        </p:nvSpPr>
        <p:spPr>
          <a:xfrm>
            <a:off x="822960" y="5833872"/>
            <a:ext cx="6126480" cy="274320"/>
          </a:xfrm>
          <a:prstGeom prst="rect">
            <a:avLst/>
          </a:prstGeom>
          <a:noFill/>
          <a:ln/>
        </p:spPr>
        <p:txBody>
          <a:bodyPr wrap="square" lIns="0" tIns="0" rIns="0" bIns="0" rtlCol="0" anchor="ctr"/>
          <a:lstStyle/>
          <a:p>
            <a:pPr marL="0" indent="0" algn="ctr">
              <a:buNone/>
            </a:pPr>
            <a:endParaRPr lang="en-US" sz="850" dirty="0"/>
          </a:p>
        </p:txBody>
      </p:sp>
      <p:sp>
        <p:nvSpPr>
          <p:cNvPr id="9" name="Shape 5"/>
          <p:cNvSpPr/>
          <p:nvPr/>
        </p:nvSpPr>
        <p:spPr>
          <a:xfrm>
            <a:off x="7498080" y="1600200"/>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0" name="Text 6"/>
          <p:cNvSpPr/>
          <p:nvPr/>
        </p:nvSpPr>
        <p:spPr>
          <a:xfrm>
            <a:off x="7726680" y="1691640"/>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5,402.75 K</a:t>
            </a:r>
            <a:endParaRPr lang="en-US" sz="2200" dirty="0"/>
          </a:p>
        </p:txBody>
      </p:sp>
      <p:sp>
        <p:nvSpPr>
          <p:cNvPr id="11" name="Text 7"/>
          <p:cNvSpPr/>
          <p:nvPr/>
        </p:nvSpPr>
        <p:spPr>
          <a:xfrm>
            <a:off x="7726680" y="2167128"/>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Star Temperature</a:t>
            </a:r>
            <a:endParaRPr lang="en-US" sz="1050" dirty="0"/>
          </a:p>
        </p:txBody>
      </p:sp>
      <p:sp>
        <p:nvSpPr>
          <p:cNvPr id="12" name="Shape 8"/>
          <p:cNvSpPr/>
          <p:nvPr/>
        </p:nvSpPr>
        <p:spPr>
          <a:xfrm>
            <a:off x="7498080" y="2679192"/>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3" name="Text 9"/>
          <p:cNvSpPr/>
          <p:nvPr/>
        </p:nvSpPr>
        <p:spPr>
          <a:xfrm>
            <a:off x="7726680" y="2770632"/>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0.99 M☉</a:t>
            </a:r>
            <a:endParaRPr lang="en-US" sz="2200" dirty="0"/>
          </a:p>
        </p:txBody>
      </p:sp>
      <p:sp>
        <p:nvSpPr>
          <p:cNvPr id="14" name="Text 10"/>
          <p:cNvSpPr/>
          <p:nvPr/>
        </p:nvSpPr>
        <p:spPr>
          <a:xfrm>
            <a:off x="7726680" y="3246120"/>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Stellar Mass</a:t>
            </a:r>
            <a:endParaRPr lang="en-US" sz="1050" dirty="0"/>
          </a:p>
        </p:txBody>
      </p:sp>
      <p:sp>
        <p:nvSpPr>
          <p:cNvPr id="15" name="Shape 11"/>
          <p:cNvSpPr/>
          <p:nvPr/>
        </p:nvSpPr>
        <p:spPr>
          <a:xfrm>
            <a:off x="7498080" y="3758184"/>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6" name="Text 12"/>
          <p:cNvSpPr/>
          <p:nvPr/>
        </p:nvSpPr>
        <p:spPr>
          <a:xfrm>
            <a:off x="7726680" y="3849624"/>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8.12 L☉</a:t>
            </a:r>
            <a:endParaRPr lang="en-US" sz="2200" dirty="0"/>
          </a:p>
        </p:txBody>
      </p:sp>
      <p:sp>
        <p:nvSpPr>
          <p:cNvPr id="17" name="Text 13"/>
          <p:cNvSpPr/>
          <p:nvPr/>
        </p:nvSpPr>
        <p:spPr>
          <a:xfrm>
            <a:off x="7726680" y="4325112"/>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Avg. Stellar Luminosity</a:t>
            </a:r>
            <a:endParaRPr lang="en-US" sz="1050" dirty="0"/>
          </a:p>
        </p:txBody>
      </p:sp>
      <p:sp>
        <p:nvSpPr>
          <p:cNvPr id="18" name="Shape 14"/>
          <p:cNvSpPr/>
          <p:nvPr/>
        </p:nvSpPr>
        <p:spPr>
          <a:xfrm>
            <a:off x="7498080" y="4837176"/>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9" name="Text 15"/>
          <p:cNvSpPr/>
          <p:nvPr/>
        </p:nvSpPr>
        <p:spPr>
          <a:xfrm>
            <a:off x="7726680" y="4928616"/>
            <a:ext cx="2286000" cy="548640"/>
          </a:xfrm>
          <a:prstGeom prst="rect">
            <a:avLst/>
          </a:prstGeom>
          <a:noFill/>
          <a:ln/>
        </p:spPr>
        <p:txBody>
          <a:bodyPr wrap="square" lIns="0" tIns="0" rIns="0" bIns="0" rtlCol="0" anchor="ctr"/>
          <a:lstStyle/>
          <a:p>
            <a:pPr marL="0" indent="0">
              <a:buNone/>
            </a:pPr>
            <a:r>
              <a:rPr lang="en-US" sz="2200" b="1" dirty="0">
                <a:solidFill>
                  <a:srgbClr val="F4B942"/>
                </a:solidFill>
                <a:latin typeface="Cambria" pitchFamily="34" charset="0"/>
                <a:ea typeface="Cambria" pitchFamily="34" charset="-122"/>
                <a:cs typeface="Cambria" pitchFamily="34" charset="-120"/>
              </a:rPr>
              <a:t>8 planets</a:t>
            </a:r>
            <a:endParaRPr lang="en-US" sz="2200" dirty="0"/>
          </a:p>
        </p:txBody>
      </p:sp>
      <p:sp>
        <p:nvSpPr>
          <p:cNvPr id="20" name="Text 16"/>
          <p:cNvSpPr/>
          <p:nvPr/>
        </p:nvSpPr>
        <p:spPr>
          <a:xfrm>
            <a:off x="7726680" y="5404104"/>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Largest System</a:t>
            </a:r>
            <a:endParaRPr lang="en-US" sz="1050" dirty="0"/>
          </a:p>
        </p:txBody>
      </p:sp>
      <p:sp>
        <p:nvSpPr>
          <p:cNvPr id="21" name="Text 17"/>
          <p:cNvSpPr/>
          <p:nvPr/>
        </p:nvSpPr>
        <p:spPr>
          <a:xfrm>
            <a:off x="7498080" y="5961888"/>
            <a:ext cx="4114800" cy="777240"/>
          </a:xfrm>
          <a:prstGeom prst="rect">
            <a:avLst/>
          </a:prstGeom>
          <a:noFill/>
          <a:ln/>
        </p:spPr>
        <p:txBody>
          <a:bodyPr wrap="square" lIns="0" tIns="0" rIns="0" bIns="0" rtlCol="0" anchor="ctr"/>
          <a:lstStyle/>
          <a:p>
            <a:pPr marL="0" indent="0">
              <a:lnSpc>
                <a:spcPct val="125000"/>
              </a:lnSpc>
              <a:buNone/>
            </a:pPr>
            <a:r>
              <a:rPr lang="en-US" sz="1000" i="1" dirty="0">
                <a:solidFill>
                  <a:srgbClr val="CFC6E0"/>
                </a:solidFill>
                <a:latin typeface="Calibri" pitchFamily="34" charset="0"/>
                <a:ea typeface="Calibri" pitchFamily="34" charset="-122"/>
                <a:cs typeface="Calibri" pitchFamily="34" charset="-120"/>
              </a:rPr>
              <a:t>A correlation heatmap (Python visual) shows Stellar Mass and Luminosity as the strongest related pair (0.44).</a:t>
            </a:r>
            <a:endParaRPr lang="en-US" sz="1000" dirty="0"/>
          </a:p>
        </p:txBody>
      </p:sp>
      <p:sp>
        <p:nvSpPr>
          <p:cNvPr id="22" name="Text 18"/>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09</a:t>
            </a:r>
            <a:endParaRPr lang="en-US" sz="1000" dirty="0"/>
          </a:p>
        </p:txBody>
      </p:sp>
      <p:sp>
        <p:nvSpPr>
          <p:cNvPr id="23" name="Text 19"/>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pic>
        <p:nvPicPr>
          <p:cNvPr id="25" name="Picture 24">
            <a:extLst>
              <a:ext uri="{FF2B5EF4-FFF2-40B4-BE49-F238E27FC236}">
                <a16:creationId xmlns:a16="http://schemas.microsoft.com/office/drawing/2014/main" id="{4CCF2453-2145-0FC5-16D2-66B86B1849B2}"/>
              </a:ext>
            </a:extLst>
          </p:cNvPr>
          <p:cNvPicPr>
            <a:picLocks noChangeAspect="1"/>
          </p:cNvPicPr>
          <p:nvPr/>
        </p:nvPicPr>
        <p:blipFill>
          <a:blip r:embed="rId4"/>
          <a:stretch>
            <a:fillRect/>
          </a:stretch>
        </p:blipFill>
        <p:spPr>
          <a:xfrm>
            <a:off x="695836" y="1618488"/>
            <a:ext cx="6362689" cy="448970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DASHBOARD  ·  PAGE 5</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2300" b="1" dirty="0">
                <a:solidFill>
                  <a:srgbClr val="FFFFFF"/>
                </a:solidFill>
                <a:latin typeface="Cambria" pitchFamily="34" charset="0"/>
                <a:ea typeface="Cambria" pitchFamily="34" charset="-122"/>
                <a:cs typeface="Cambria" pitchFamily="34" charset="-120"/>
              </a:rPr>
              <a:t>Planet Explorer — Habitability &amp; the Goldilocks Zone</a:t>
            </a:r>
            <a:endParaRPr lang="en-US" sz="2300" dirty="0"/>
          </a:p>
        </p:txBody>
      </p:sp>
      <p:sp>
        <p:nvSpPr>
          <p:cNvPr id="5" name="Shape 2"/>
          <p:cNvSpPr/>
          <p:nvPr/>
        </p:nvSpPr>
        <p:spPr>
          <a:xfrm>
            <a:off x="548640" y="1508760"/>
            <a:ext cx="6675120" cy="4709160"/>
          </a:xfrm>
          <a:prstGeom prst="rect">
            <a:avLst/>
          </a:prstGeom>
          <a:solidFill>
            <a:srgbClr val="1B1030">
              <a:alpha val="70000"/>
            </a:srgbClr>
          </a:solidFill>
          <a:ln w="19050">
            <a:solidFill>
              <a:srgbClr val="4A3A6B"/>
            </a:solidFill>
            <a:prstDash val="dash"/>
          </a:ln>
        </p:spPr>
        <p:txBody>
          <a:bodyPr/>
          <a:lstStyle/>
          <a:p>
            <a:endParaRPr lang="en-US"/>
          </a:p>
        </p:txBody>
      </p:sp>
      <p:sp>
        <p:nvSpPr>
          <p:cNvPr id="7" name="Text 3"/>
          <p:cNvSpPr/>
          <p:nvPr/>
        </p:nvSpPr>
        <p:spPr>
          <a:xfrm>
            <a:off x="822960" y="3909060"/>
            <a:ext cx="6126480" cy="457200"/>
          </a:xfrm>
          <a:prstGeom prst="rect">
            <a:avLst/>
          </a:prstGeom>
          <a:noFill/>
          <a:ln/>
        </p:spPr>
        <p:txBody>
          <a:bodyPr wrap="square" lIns="0" tIns="0" rIns="0" bIns="0" rtlCol="0" anchor="ctr"/>
          <a:lstStyle/>
          <a:p>
            <a:pPr marL="0" indent="0" algn="ctr">
              <a:buNone/>
            </a:pPr>
            <a:endParaRPr lang="en-US" sz="1200" dirty="0"/>
          </a:p>
        </p:txBody>
      </p:sp>
      <p:sp>
        <p:nvSpPr>
          <p:cNvPr id="8" name="Text 4"/>
          <p:cNvSpPr/>
          <p:nvPr/>
        </p:nvSpPr>
        <p:spPr>
          <a:xfrm>
            <a:off x="822960" y="5833872"/>
            <a:ext cx="6126480" cy="274320"/>
          </a:xfrm>
          <a:prstGeom prst="rect">
            <a:avLst/>
          </a:prstGeom>
          <a:noFill/>
          <a:ln/>
        </p:spPr>
        <p:txBody>
          <a:bodyPr wrap="square" lIns="0" tIns="0" rIns="0" bIns="0" rtlCol="0" anchor="ctr"/>
          <a:lstStyle/>
          <a:p>
            <a:pPr marL="0" indent="0" algn="ctr">
              <a:buNone/>
            </a:pPr>
            <a:endParaRPr lang="en-US" sz="850" dirty="0"/>
          </a:p>
        </p:txBody>
      </p:sp>
      <p:sp>
        <p:nvSpPr>
          <p:cNvPr id="9" name="Shape 5"/>
          <p:cNvSpPr/>
          <p:nvPr/>
        </p:nvSpPr>
        <p:spPr>
          <a:xfrm>
            <a:off x="7498080" y="1600200"/>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0" name="Text 6"/>
          <p:cNvSpPr/>
          <p:nvPr/>
        </p:nvSpPr>
        <p:spPr>
          <a:xfrm>
            <a:off x="7726680" y="1691640"/>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281</a:t>
            </a:r>
            <a:endParaRPr lang="en-US" sz="2400" dirty="0"/>
          </a:p>
        </p:txBody>
      </p:sp>
      <p:sp>
        <p:nvSpPr>
          <p:cNvPr id="11" name="Text 7"/>
          <p:cNvSpPr/>
          <p:nvPr/>
        </p:nvSpPr>
        <p:spPr>
          <a:xfrm>
            <a:off x="7726680" y="2167128"/>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Habitable Planets</a:t>
            </a:r>
            <a:endParaRPr lang="en-US" sz="1050" dirty="0"/>
          </a:p>
        </p:txBody>
      </p:sp>
      <p:sp>
        <p:nvSpPr>
          <p:cNvPr id="12" name="Shape 8"/>
          <p:cNvSpPr/>
          <p:nvPr/>
        </p:nvSpPr>
        <p:spPr>
          <a:xfrm>
            <a:off x="7498080" y="2679192"/>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3" name="Text 9"/>
          <p:cNvSpPr/>
          <p:nvPr/>
        </p:nvSpPr>
        <p:spPr>
          <a:xfrm>
            <a:off x="7726680" y="2770632"/>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43</a:t>
            </a:r>
            <a:endParaRPr lang="en-US" sz="2400" dirty="0"/>
          </a:p>
        </p:txBody>
      </p:sp>
      <p:sp>
        <p:nvSpPr>
          <p:cNvPr id="14" name="Text 10"/>
          <p:cNvSpPr/>
          <p:nvPr/>
        </p:nvSpPr>
        <p:spPr>
          <a:xfrm>
            <a:off x="7726680" y="3246120"/>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Habitable &amp; Rocky</a:t>
            </a:r>
            <a:endParaRPr lang="en-US" sz="1050" dirty="0"/>
          </a:p>
        </p:txBody>
      </p:sp>
      <p:sp>
        <p:nvSpPr>
          <p:cNvPr id="15" name="Shape 11"/>
          <p:cNvSpPr/>
          <p:nvPr/>
        </p:nvSpPr>
        <p:spPr>
          <a:xfrm>
            <a:off x="7498080" y="3758184"/>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6" name="Text 12"/>
          <p:cNvSpPr/>
          <p:nvPr/>
        </p:nvSpPr>
        <p:spPr>
          <a:xfrm>
            <a:off x="7726680" y="3849624"/>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0.99</a:t>
            </a:r>
            <a:endParaRPr lang="en-US" sz="2400" dirty="0"/>
          </a:p>
        </p:txBody>
      </p:sp>
      <p:sp>
        <p:nvSpPr>
          <p:cNvPr id="17" name="Text 13"/>
          <p:cNvSpPr/>
          <p:nvPr/>
        </p:nvSpPr>
        <p:spPr>
          <a:xfrm>
            <a:off x="7726680" y="4325112"/>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Highest ESI</a:t>
            </a:r>
            <a:endParaRPr lang="en-US" sz="1050" dirty="0"/>
          </a:p>
        </p:txBody>
      </p:sp>
      <p:sp>
        <p:nvSpPr>
          <p:cNvPr id="18" name="Shape 14"/>
          <p:cNvSpPr/>
          <p:nvPr/>
        </p:nvSpPr>
        <p:spPr>
          <a:xfrm>
            <a:off x="7498080" y="4837176"/>
            <a:ext cx="4114800" cy="914400"/>
          </a:xfrm>
          <a:prstGeom prst="rect">
            <a:avLst/>
          </a:prstGeom>
          <a:solidFill>
            <a:srgbClr val="1B1030">
              <a:alpha val="78000"/>
            </a:srgbClr>
          </a:solidFill>
          <a:ln w="12700">
            <a:solidFill>
              <a:srgbClr val="352655"/>
            </a:solidFill>
            <a:prstDash val="solid"/>
          </a:ln>
        </p:spPr>
        <p:txBody>
          <a:bodyPr/>
          <a:lstStyle/>
          <a:p>
            <a:endParaRPr lang="en-US"/>
          </a:p>
        </p:txBody>
      </p:sp>
      <p:sp>
        <p:nvSpPr>
          <p:cNvPr id="19" name="Text 15"/>
          <p:cNvSpPr/>
          <p:nvPr/>
        </p:nvSpPr>
        <p:spPr>
          <a:xfrm>
            <a:off x="7726680" y="4928616"/>
            <a:ext cx="1828800" cy="548640"/>
          </a:xfrm>
          <a:prstGeom prst="rect">
            <a:avLst/>
          </a:prstGeom>
          <a:noFill/>
          <a:ln/>
        </p:spPr>
        <p:txBody>
          <a:bodyPr wrap="square" lIns="0" tIns="0" rIns="0" bIns="0" rtlCol="0" anchor="ctr"/>
          <a:lstStyle/>
          <a:p>
            <a:pPr marL="0" indent="0">
              <a:buNone/>
            </a:pPr>
            <a:r>
              <a:rPr lang="en-US" sz="2400" b="1" dirty="0">
                <a:solidFill>
                  <a:srgbClr val="F4B942"/>
                </a:solidFill>
                <a:latin typeface="Cambria" pitchFamily="34" charset="0"/>
                <a:ea typeface="Cambria" pitchFamily="34" charset="-122"/>
                <a:cs typeface="Cambria" pitchFamily="34" charset="-120"/>
              </a:rPr>
              <a:t>≈ 1.3 pc</a:t>
            </a:r>
            <a:endParaRPr lang="en-US" sz="2400" dirty="0"/>
          </a:p>
        </p:txBody>
      </p:sp>
      <p:sp>
        <p:nvSpPr>
          <p:cNvPr id="20" name="Text 16"/>
          <p:cNvSpPr/>
          <p:nvPr/>
        </p:nvSpPr>
        <p:spPr>
          <a:xfrm>
            <a:off x="7726680" y="5404104"/>
            <a:ext cx="3566160" cy="292608"/>
          </a:xfrm>
          <a:prstGeom prst="rect">
            <a:avLst/>
          </a:prstGeom>
          <a:noFill/>
          <a:ln/>
        </p:spPr>
        <p:txBody>
          <a:bodyPr wrap="square" lIns="0" tIns="0" rIns="0" bIns="0" rtlCol="0" anchor="ctr"/>
          <a:lstStyle/>
          <a:p>
            <a:pPr marL="0" indent="0">
              <a:buNone/>
            </a:pPr>
            <a:r>
              <a:rPr lang="en-US" sz="1050" dirty="0">
                <a:solidFill>
                  <a:srgbClr val="CFC6E0"/>
                </a:solidFill>
                <a:latin typeface="Calibri" pitchFamily="34" charset="0"/>
                <a:ea typeface="Calibri" pitchFamily="34" charset="-122"/>
                <a:cs typeface="Calibri" pitchFamily="34" charset="-120"/>
              </a:rPr>
              <a:t>Closest Habitable Planet</a:t>
            </a:r>
            <a:endParaRPr lang="en-US" sz="1050" dirty="0"/>
          </a:p>
        </p:txBody>
      </p:sp>
      <p:sp>
        <p:nvSpPr>
          <p:cNvPr id="21" name="Text 17"/>
          <p:cNvSpPr/>
          <p:nvPr/>
        </p:nvSpPr>
        <p:spPr>
          <a:xfrm>
            <a:off x="7498080" y="5961888"/>
            <a:ext cx="4114800" cy="777240"/>
          </a:xfrm>
          <a:prstGeom prst="rect">
            <a:avLst/>
          </a:prstGeom>
          <a:noFill/>
          <a:ln/>
        </p:spPr>
        <p:txBody>
          <a:bodyPr wrap="square" lIns="0" tIns="0" rIns="0" bIns="0" rtlCol="0" anchor="ctr"/>
          <a:lstStyle/>
          <a:p>
            <a:pPr marL="0" indent="0">
              <a:lnSpc>
                <a:spcPct val="125000"/>
              </a:lnSpc>
              <a:buNone/>
            </a:pPr>
            <a:r>
              <a:rPr lang="en-US" sz="1000" i="1" dirty="0">
                <a:solidFill>
                  <a:srgbClr val="CFC6E0"/>
                </a:solidFill>
                <a:latin typeface="Calibri" pitchFamily="34" charset="0"/>
                <a:ea typeface="Calibri" pitchFamily="34" charset="-122"/>
                <a:cs typeface="Calibri" pitchFamily="34" charset="-120"/>
              </a:rPr>
              <a:t>This is the analytical centerpiece — the page that isolates and ranks the planets most likely to support life.</a:t>
            </a:r>
            <a:endParaRPr lang="en-US" sz="1000" dirty="0"/>
          </a:p>
        </p:txBody>
      </p:sp>
      <p:sp>
        <p:nvSpPr>
          <p:cNvPr id="22" name="Text 18"/>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10</a:t>
            </a:r>
            <a:endParaRPr lang="en-US" sz="1000" dirty="0"/>
          </a:p>
        </p:txBody>
      </p:sp>
      <p:sp>
        <p:nvSpPr>
          <p:cNvPr id="23" name="Text 19"/>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pic>
        <p:nvPicPr>
          <p:cNvPr id="25" name="Picture 24">
            <a:extLst>
              <a:ext uri="{FF2B5EF4-FFF2-40B4-BE49-F238E27FC236}">
                <a16:creationId xmlns:a16="http://schemas.microsoft.com/office/drawing/2014/main" id="{F70E917F-EBD4-1BB6-4B2D-77B473691C63}"/>
              </a:ext>
            </a:extLst>
          </p:cNvPr>
          <p:cNvPicPr>
            <a:picLocks noChangeAspect="1"/>
          </p:cNvPicPr>
          <p:nvPr/>
        </p:nvPicPr>
        <p:blipFill>
          <a:blip r:embed="rId4"/>
          <a:stretch>
            <a:fillRect/>
          </a:stretch>
        </p:blipFill>
        <p:spPr>
          <a:xfrm>
            <a:off x="611251" y="1579406"/>
            <a:ext cx="6566789" cy="459279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DASHBOARD  ·  PAGE 6</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2700" b="1" dirty="0">
                <a:solidFill>
                  <a:srgbClr val="FFFFFF"/>
                </a:solidFill>
                <a:latin typeface="Cambria" pitchFamily="34" charset="0"/>
                <a:ea typeface="Cambria" pitchFamily="34" charset="-122"/>
                <a:cs typeface="Cambria" pitchFamily="34" charset="-120"/>
              </a:rPr>
              <a:t>AI Model — Live Habitability Prediction</a:t>
            </a:r>
            <a:endParaRPr lang="en-US" sz="2700" dirty="0"/>
          </a:p>
        </p:txBody>
      </p:sp>
      <p:sp>
        <p:nvSpPr>
          <p:cNvPr id="5" name="Shape 2"/>
          <p:cNvSpPr/>
          <p:nvPr/>
        </p:nvSpPr>
        <p:spPr>
          <a:xfrm>
            <a:off x="548640" y="1508760"/>
            <a:ext cx="6675120" cy="4709160"/>
          </a:xfrm>
          <a:prstGeom prst="rect">
            <a:avLst/>
          </a:prstGeom>
          <a:solidFill>
            <a:srgbClr val="1B1030">
              <a:alpha val="70000"/>
            </a:srgbClr>
          </a:solidFill>
          <a:ln w="19050">
            <a:solidFill>
              <a:srgbClr val="4A3A6B"/>
            </a:solidFill>
            <a:prstDash val="dash"/>
          </a:ln>
        </p:spPr>
        <p:txBody>
          <a:bodyPr/>
          <a:lstStyle/>
          <a:p>
            <a:endParaRPr lang="en-US"/>
          </a:p>
        </p:txBody>
      </p:sp>
      <p:sp>
        <p:nvSpPr>
          <p:cNvPr id="7" name="Text 3"/>
          <p:cNvSpPr/>
          <p:nvPr/>
        </p:nvSpPr>
        <p:spPr>
          <a:xfrm>
            <a:off x="822960" y="3909060"/>
            <a:ext cx="6126480" cy="457200"/>
          </a:xfrm>
          <a:prstGeom prst="rect">
            <a:avLst/>
          </a:prstGeom>
          <a:noFill/>
          <a:ln/>
        </p:spPr>
        <p:txBody>
          <a:bodyPr wrap="square" lIns="0" tIns="0" rIns="0" bIns="0" rtlCol="0" anchor="ctr"/>
          <a:lstStyle/>
          <a:p>
            <a:pPr marL="0" indent="0" algn="ctr">
              <a:buNone/>
            </a:pPr>
            <a:endParaRPr lang="en-US" sz="1200" dirty="0"/>
          </a:p>
        </p:txBody>
      </p:sp>
      <p:sp>
        <p:nvSpPr>
          <p:cNvPr id="8" name="Text 4"/>
          <p:cNvSpPr/>
          <p:nvPr/>
        </p:nvSpPr>
        <p:spPr>
          <a:xfrm>
            <a:off x="822960" y="5833872"/>
            <a:ext cx="6126480" cy="274320"/>
          </a:xfrm>
          <a:prstGeom prst="rect">
            <a:avLst/>
          </a:prstGeom>
          <a:noFill/>
          <a:ln/>
        </p:spPr>
        <p:txBody>
          <a:bodyPr wrap="square" lIns="0" tIns="0" rIns="0" bIns="0" rtlCol="0" anchor="ctr"/>
          <a:lstStyle/>
          <a:p>
            <a:pPr marL="0" indent="0" algn="ctr">
              <a:buNone/>
            </a:pPr>
            <a:endParaRPr lang="en-US" sz="850" dirty="0"/>
          </a:p>
        </p:txBody>
      </p:sp>
      <p:sp>
        <p:nvSpPr>
          <p:cNvPr id="9" name="Text 5"/>
          <p:cNvSpPr/>
          <p:nvPr/>
        </p:nvSpPr>
        <p:spPr>
          <a:xfrm>
            <a:off x="7498080" y="1691640"/>
            <a:ext cx="4114800" cy="1188720"/>
          </a:xfrm>
          <a:prstGeom prst="rect">
            <a:avLst/>
          </a:prstGeom>
          <a:noFill/>
          <a:ln/>
        </p:spPr>
        <p:txBody>
          <a:bodyPr wrap="square" lIns="0" tIns="0" rIns="0" bIns="0" rtlCol="0" anchor="ctr"/>
          <a:lstStyle/>
          <a:p>
            <a:pPr marL="0" indent="0">
              <a:lnSpc>
                <a:spcPct val="130000"/>
              </a:lnSpc>
              <a:buNone/>
            </a:pPr>
            <a:r>
              <a:rPr lang="en-US" sz="1200" dirty="0">
                <a:solidFill>
                  <a:srgbClr val="CFC6E0"/>
                </a:solidFill>
                <a:latin typeface="Calibri" pitchFamily="34" charset="0"/>
                <a:ea typeface="Calibri" pitchFamily="34" charset="-122"/>
                <a:cs typeface="Calibri" pitchFamily="34" charset="-120"/>
              </a:rPr>
              <a:t>Six live slicers feed a Python visual that runs the trained classifier and regressor in real time — mirroring the standalone Streamlit app exactly.</a:t>
            </a:r>
            <a:endParaRPr lang="en-US" sz="1200" dirty="0"/>
          </a:p>
        </p:txBody>
      </p:sp>
      <p:sp>
        <p:nvSpPr>
          <p:cNvPr id="10" name="Shape 6"/>
          <p:cNvSpPr/>
          <p:nvPr/>
        </p:nvSpPr>
        <p:spPr>
          <a:xfrm>
            <a:off x="7498080" y="3063240"/>
            <a:ext cx="1920240" cy="384048"/>
          </a:xfrm>
          <a:prstGeom prst="rect">
            <a:avLst/>
          </a:prstGeom>
          <a:solidFill>
            <a:srgbClr val="241640"/>
          </a:solidFill>
          <a:ln w="9525">
            <a:solidFill>
              <a:srgbClr val="9B7FD4"/>
            </a:solidFill>
            <a:prstDash val="solid"/>
          </a:ln>
        </p:spPr>
        <p:txBody>
          <a:bodyPr/>
          <a:lstStyle/>
          <a:p>
            <a:endParaRPr lang="en-US"/>
          </a:p>
        </p:txBody>
      </p:sp>
      <p:sp>
        <p:nvSpPr>
          <p:cNvPr id="11" name="Text 7"/>
          <p:cNvSpPr/>
          <p:nvPr/>
        </p:nvSpPr>
        <p:spPr>
          <a:xfrm>
            <a:off x="7498080" y="3063240"/>
            <a:ext cx="1920240" cy="384048"/>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Planet Radius</a:t>
            </a:r>
            <a:endParaRPr lang="en-US" sz="950" dirty="0"/>
          </a:p>
        </p:txBody>
      </p:sp>
      <p:sp>
        <p:nvSpPr>
          <p:cNvPr id="12" name="Shape 8"/>
          <p:cNvSpPr/>
          <p:nvPr/>
        </p:nvSpPr>
        <p:spPr>
          <a:xfrm>
            <a:off x="9601200" y="3063240"/>
            <a:ext cx="1920240" cy="384048"/>
          </a:xfrm>
          <a:prstGeom prst="rect">
            <a:avLst/>
          </a:prstGeom>
          <a:solidFill>
            <a:srgbClr val="241640"/>
          </a:solidFill>
          <a:ln w="9525">
            <a:solidFill>
              <a:srgbClr val="9B7FD4"/>
            </a:solidFill>
            <a:prstDash val="solid"/>
          </a:ln>
        </p:spPr>
        <p:txBody>
          <a:bodyPr/>
          <a:lstStyle/>
          <a:p>
            <a:endParaRPr lang="en-US"/>
          </a:p>
        </p:txBody>
      </p:sp>
      <p:sp>
        <p:nvSpPr>
          <p:cNvPr id="13" name="Text 9"/>
          <p:cNvSpPr/>
          <p:nvPr/>
        </p:nvSpPr>
        <p:spPr>
          <a:xfrm>
            <a:off x="9601200" y="3063240"/>
            <a:ext cx="1920240" cy="384048"/>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Planet Mass</a:t>
            </a:r>
            <a:endParaRPr lang="en-US" sz="950" dirty="0"/>
          </a:p>
        </p:txBody>
      </p:sp>
      <p:sp>
        <p:nvSpPr>
          <p:cNvPr id="14" name="Shape 10"/>
          <p:cNvSpPr/>
          <p:nvPr/>
        </p:nvSpPr>
        <p:spPr>
          <a:xfrm>
            <a:off x="7498080" y="3566160"/>
            <a:ext cx="1920240" cy="384048"/>
          </a:xfrm>
          <a:prstGeom prst="rect">
            <a:avLst/>
          </a:prstGeom>
          <a:solidFill>
            <a:srgbClr val="241640"/>
          </a:solidFill>
          <a:ln w="9525">
            <a:solidFill>
              <a:srgbClr val="9B7FD4"/>
            </a:solidFill>
            <a:prstDash val="solid"/>
          </a:ln>
        </p:spPr>
        <p:txBody>
          <a:bodyPr/>
          <a:lstStyle/>
          <a:p>
            <a:endParaRPr lang="en-US"/>
          </a:p>
        </p:txBody>
      </p:sp>
      <p:sp>
        <p:nvSpPr>
          <p:cNvPr id="15" name="Text 11"/>
          <p:cNvSpPr/>
          <p:nvPr/>
        </p:nvSpPr>
        <p:spPr>
          <a:xfrm>
            <a:off x="7498080" y="3566160"/>
            <a:ext cx="1920240" cy="384048"/>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Stellar Flux</a:t>
            </a:r>
            <a:endParaRPr lang="en-US" sz="950" dirty="0"/>
          </a:p>
        </p:txBody>
      </p:sp>
      <p:sp>
        <p:nvSpPr>
          <p:cNvPr id="16" name="Shape 12"/>
          <p:cNvSpPr/>
          <p:nvPr/>
        </p:nvSpPr>
        <p:spPr>
          <a:xfrm>
            <a:off x="9601200" y="3566160"/>
            <a:ext cx="1920240" cy="384048"/>
          </a:xfrm>
          <a:prstGeom prst="rect">
            <a:avLst/>
          </a:prstGeom>
          <a:solidFill>
            <a:srgbClr val="241640"/>
          </a:solidFill>
          <a:ln w="9525">
            <a:solidFill>
              <a:srgbClr val="9B7FD4"/>
            </a:solidFill>
            <a:prstDash val="solid"/>
          </a:ln>
        </p:spPr>
        <p:txBody>
          <a:bodyPr/>
          <a:lstStyle/>
          <a:p>
            <a:endParaRPr lang="en-US"/>
          </a:p>
        </p:txBody>
      </p:sp>
      <p:sp>
        <p:nvSpPr>
          <p:cNvPr id="17" name="Text 13"/>
          <p:cNvSpPr/>
          <p:nvPr/>
        </p:nvSpPr>
        <p:spPr>
          <a:xfrm>
            <a:off x="9601200" y="3566160"/>
            <a:ext cx="1920240" cy="384048"/>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Temperature</a:t>
            </a:r>
            <a:endParaRPr lang="en-US" sz="950" dirty="0"/>
          </a:p>
        </p:txBody>
      </p:sp>
      <p:sp>
        <p:nvSpPr>
          <p:cNvPr id="18" name="Shape 14"/>
          <p:cNvSpPr/>
          <p:nvPr/>
        </p:nvSpPr>
        <p:spPr>
          <a:xfrm>
            <a:off x="7498080" y="4069080"/>
            <a:ext cx="1920240" cy="384048"/>
          </a:xfrm>
          <a:prstGeom prst="rect">
            <a:avLst/>
          </a:prstGeom>
          <a:solidFill>
            <a:srgbClr val="241640"/>
          </a:solidFill>
          <a:ln w="9525">
            <a:solidFill>
              <a:srgbClr val="9B7FD4"/>
            </a:solidFill>
            <a:prstDash val="solid"/>
          </a:ln>
        </p:spPr>
        <p:txBody>
          <a:bodyPr/>
          <a:lstStyle/>
          <a:p>
            <a:endParaRPr lang="en-US"/>
          </a:p>
        </p:txBody>
      </p:sp>
      <p:sp>
        <p:nvSpPr>
          <p:cNvPr id="19" name="Text 15"/>
          <p:cNvSpPr/>
          <p:nvPr/>
        </p:nvSpPr>
        <p:spPr>
          <a:xfrm>
            <a:off x="7498080" y="4069080"/>
            <a:ext cx="1920240" cy="384048"/>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Semi-Major Axis</a:t>
            </a:r>
            <a:endParaRPr lang="en-US" sz="950" dirty="0"/>
          </a:p>
        </p:txBody>
      </p:sp>
      <p:sp>
        <p:nvSpPr>
          <p:cNvPr id="20" name="Shape 16"/>
          <p:cNvSpPr/>
          <p:nvPr/>
        </p:nvSpPr>
        <p:spPr>
          <a:xfrm>
            <a:off x="9601200" y="4069080"/>
            <a:ext cx="1920240" cy="384048"/>
          </a:xfrm>
          <a:prstGeom prst="rect">
            <a:avLst/>
          </a:prstGeom>
          <a:solidFill>
            <a:srgbClr val="241640"/>
          </a:solidFill>
          <a:ln w="9525">
            <a:solidFill>
              <a:srgbClr val="9B7FD4"/>
            </a:solidFill>
            <a:prstDash val="solid"/>
          </a:ln>
        </p:spPr>
        <p:txBody>
          <a:bodyPr/>
          <a:lstStyle/>
          <a:p>
            <a:endParaRPr lang="en-US"/>
          </a:p>
        </p:txBody>
      </p:sp>
      <p:sp>
        <p:nvSpPr>
          <p:cNvPr id="21" name="Text 17"/>
          <p:cNvSpPr/>
          <p:nvPr/>
        </p:nvSpPr>
        <p:spPr>
          <a:xfrm>
            <a:off x="9601200" y="4069080"/>
            <a:ext cx="1920240" cy="384048"/>
          </a:xfrm>
          <a:prstGeom prst="rect">
            <a:avLst/>
          </a:prstGeom>
          <a:noFill/>
          <a:ln/>
        </p:spPr>
        <p:txBody>
          <a:bodyPr wrap="square" lIns="0" tIns="0" rIns="0" bIns="0" rtlCol="0" anchor="ctr"/>
          <a:lstStyle/>
          <a:p>
            <a:pPr marL="0" indent="0" algn="ctr">
              <a:buNone/>
            </a:pPr>
            <a:r>
              <a:rPr lang="en-US" sz="950" dirty="0">
                <a:solidFill>
                  <a:srgbClr val="CFC6E0"/>
                </a:solidFill>
                <a:latin typeface="Calibri" pitchFamily="34" charset="0"/>
                <a:ea typeface="Calibri" pitchFamily="34" charset="-122"/>
                <a:cs typeface="Calibri" pitchFamily="34" charset="-120"/>
              </a:rPr>
              <a:t>Eccentricity</a:t>
            </a:r>
            <a:endParaRPr lang="en-US" sz="950" dirty="0"/>
          </a:p>
        </p:txBody>
      </p:sp>
      <p:sp>
        <p:nvSpPr>
          <p:cNvPr id="22" name="Text 18"/>
          <p:cNvSpPr/>
          <p:nvPr/>
        </p:nvSpPr>
        <p:spPr>
          <a:xfrm>
            <a:off x="7498080" y="4709160"/>
            <a:ext cx="4114800" cy="777240"/>
          </a:xfrm>
          <a:prstGeom prst="rect">
            <a:avLst/>
          </a:prstGeom>
          <a:noFill/>
          <a:ln/>
        </p:spPr>
        <p:txBody>
          <a:bodyPr wrap="square" lIns="0" tIns="0" rIns="0" bIns="0" rtlCol="0" anchor="ctr"/>
          <a:lstStyle/>
          <a:p>
            <a:pPr marL="0" indent="0">
              <a:lnSpc>
                <a:spcPct val="125000"/>
              </a:lnSpc>
              <a:buNone/>
            </a:pPr>
            <a:r>
              <a:rPr lang="en-US" sz="1000" i="1" dirty="0">
                <a:solidFill>
                  <a:srgbClr val="F4B942"/>
                </a:solidFill>
                <a:latin typeface="Calibri" pitchFamily="34" charset="0"/>
                <a:ea typeface="Calibri" pitchFamily="34" charset="-122"/>
                <a:cs typeface="Calibri" pitchFamily="34" charset="-120"/>
              </a:rPr>
              <a:t>Output: AI Status (Habitable/Not) with confidence %, plus an Earth Similarity Index out of 100.</a:t>
            </a:r>
            <a:endParaRPr lang="en-US" sz="1000" dirty="0"/>
          </a:p>
        </p:txBody>
      </p:sp>
      <p:sp>
        <p:nvSpPr>
          <p:cNvPr id="23" name="Text 19"/>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11</a:t>
            </a:r>
            <a:endParaRPr lang="en-US" sz="1000" dirty="0"/>
          </a:p>
        </p:txBody>
      </p:sp>
      <p:sp>
        <p:nvSpPr>
          <p:cNvPr id="24" name="Text 20"/>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pic>
        <p:nvPicPr>
          <p:cNvPr id="26" name="Picture 25">
            <a:extLst>
              <a:ext uri="{FF2B5EF4-FFF2-40B4-BE49-F238E27FC236}">
                <a16:creationId xmlns:a16="http://schemas.microsoft.com/office/drawing/2014/main" id="{28263BE6-F194-CBAF-8117-D319C90E7D3A}"/>
              </a:ext>
            </a:extLst>
          </p:cNvPr>
          <p:cNvPicPr>
            <a:picLocks noChangeAspect="1"/>
          </p:cNvPicPr>
          <p:nvPr/>
        </p:nvPicPr>
        <p:blipFill>
          <a:blip r:embed="rId4"/>
          <a:stretch>
            <a:fillRect/>
          </a:stretch>
        </p:blipFill>
        <p:spPr>
          <a:xfrm>
            <a:off x="638603" y="1618488"/>
            <a:ext cx="6481085" cy="448970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pptx_build/bg_dark2.jp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48640" y="384048"/>
            <a:ext cx="7315200" cy="320040"/>
          </a:xfrm>
          <a:prstGeom prst="rect">
            <a:avLst/>
          </a:prstGeom>
          <a:noFill/>
          <a:ln/>
        </p:spPr>
        <p:txBody>
          <a:bodyPr wrap="square" lIns="0" tIns="0" rIns="0" bIns="0" rtlCol="0" anchor="ctr"/>
          <a:lstStyle/>
          <a:p>
            <a:pPr marL="0" indent="0" algn="l">
              <a:buNone/>
            </a:pPr>
            <a:r>
              <a:rPr lang="en-US" sz="1200" b="1" kern="0" spc="300" dirty="0">
                <a:solidFill>
                  <a:srgbClr val="F4B942"/>
                </a:solidFill>
                <a:latin typeface="Calibri" pitchFamily="34" charset="0"/>
                <a:ea typeface="Calibri" pitchFamily="34" charset="-122"/>
                <a:cs typeface="Calibri" pitchFamily="34" charset="-120"/>
              </a:rPr>
              <a:t>PROJECT IMPACT</a:t>
            </a:r>
            <a:endParaRPr lang="en-US" sz="1200" dirty="0"/>
          </a:p>
        </p:txBody>
      </p:sp>
      <p:sp>
        <p:nvSpPr>
          <p:cNvPr id="4" name="Text 1"/>
          <p:cNvSpPr/>
          <p:nvPr/>
        </p:nvSpPr>
        <p:spPr>
          <a:xfrm>
            <a:off x="548640" y="658368"/>
            <a:ext cx="9601200" cy="82296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What the Data Revealed</a:t>
            </a:r>
            <a:endParaRPr lang="en-US" sz="3200" dirty="0"/>
          </a:p>
        </p:txBody>
      </p:sp>
      <p:sp>
        <p:nvSpPr>
          <p:cNvPr id="5" name="Shape 2"/>
          <p:cNvSpPr/>
          <p:nvPr/>
        </p:nvSpPr>
        <p:spPr>
          <a:xfrm>
            <a:off x="548640" y="2194560"/>
            <a:ext cx="5349240" cy="1737360"/>
          </a:xfrm>
          <a:prstGeom prst="rect">
            <a:avLst/>
          </a:prstGeom>
          <a:solidFill>
            <a:srgbClr val="1B1030">
              <a:alpha val="80000"/>
            </a:srgbClr>
          </a:solidFill>
          <a:ln w="12700">
            <a:solidFill>
              <a:srgbClr val="F4B942"/>
            </a:solidFill>
            <a:prstDash val="solid"/>
          </a:ln>
        </p:spPr>
        <p:txBody>
          <a:bodyPr/>
          <a:lstStyle/>
          <a:p>
            <a:endParaRPr lang="en-US"/>
          </a:p>
        </p:txBody>
      </p:sp>
      <p:sp>
        <p:nvSpPr>
          <p:cNvPr id="6" name="Text 3"/>
          <p:cNvSpPr/>
          <p:nvPr/>
        </p:nvSpPr>
        <p:spPr>
          <a:xfrm>
            <a:off x="914400" y="2359152"/>
            <a:ext cx="4572000" cy="822960"/>
          </a:xfrm>
          <a:prstGeom prst="rect">
            <a:avLst/>
          </a:prstGeom>
          <a:noFill/>
          <a:ln/>
        </p:spPr>
        <p:txBody>
          <a:bodyPr wrap="square" lIns="0" tIns="0" rIns="0" bIns="0" rtlCol="0" anchor="ctr"/>
          <a:lstStyle/>
          <a:p>
            <a:pPr marL="0" indent="0">
              <a:buNone/>
            </a:pPr>
            <a:r>
              <a:rPr lang="en-US" sz="4000" b="1" dirty="0">
                <a:solidFill>
                  <a:srgbClr val="F4B942"/>
                </a:solidFill>
                <a:latin typeface="Cambria" pitchFamily="34" charset="0"/>
                <a:ea typeface="Cambria" pitchFamily="34" charset="-122"/>
                <a:cs typeface="Cambria" pitchFamily="34" charset="-120"/>
              </a:rPr>
              <a:t>5,877</a:t>
            </a:r>
            <a:endParaRPr lang="en-US" sz="4000" dirty="0"/>
          </a:p>
        </p:txBody>
      </p:sp>
      <p:sp>
        <p:nvSpPr>
          <p:cNvPr id="7" name="Text 4"/>
          <p:cNvSpPr/>
          <p:nvPr/>
        </p:nvSpPr>
        <p:spPr>
          <a:xfrm>
            <a:off x="914400" y="3246120"/>
            <a:ext cx="4663440" cy="548640"/>
          </a:xfrm>
          <a:prstGeom prst="rect">
            <a:avLst/>
          </a:prstGeom>
          <a:noFill/>
          <a:ln/>
        </p:spPr>
        <p:txBody>
          <a:bodyPr wrap="square" lIns="0" tIns="0" rIns="0" bIns="0" rtlCol="0" anchor="ctr"/>
          <a:lstStyle/>
          <a:p>
            <a:pPr marL="0" indent="0">
              <a:lnSpc>
                <a:spcPct val="120000"/>
              </a:lnSpc>
              <a:buNone/>
            </a:pPr>
            <a:r>
              <a:rPr lang="en-US" sz="1250" dirty="0">
                <a:solidFill>
                  <a:srgbClr val="CFC6E0"/>
                </a:solidFill>
                <a:latin typeface="Calibri" pitchFamily="34" charset="0"/>
                <a:ea typeface="Calibri" pitchFamily="34" charset="-122"/>
                <a:cs typeface="Calibri" pitchFamily="34" charset="-120"/>
              </a:rPr>
              <a:t>Confirmed exoplanets analyzed</a:t>
            </a:r>
            <a:endParaRPr lang="en-US" sz="1250" dirty="0"/>
          </a:p>
        </p:txBody>
      </p:sp>
      <p:sp>
        <p:nvSpPr>
          <p:cNvPr id="8" name="Shape 5"/>
          <p:cNvSpPr/>
          <p:nvPr/>
        </p:nvSpPr>
        <p:spPr>
          <a:xfrm>
            <a:off x="6172200" y="2194560"/>
            <a:ext cx="5349240" cy="1737360"/>
          </a:xfrm>
          <a:prstGeom prst="rect">
            <a:avLst/>
          </a:prstGeom>
          <a:solidFill>
            <a:srgbClr val="1B1030">
              <a:alpha val="80000"/>
            </a:srgbClr>
          </a:solidFill>
          <a:ln w="12700">
            <a:solidFill>
              <a:srgbClr val="F4B942"/>
            </a:solidFill>
            <a:prstDash val="solid"/>
          </a:ln>
        </p:spPr>
        <p:txBody>
          <a:bodyPr/>
          <a:lstStyle/>
          <a:p>
            <a:endParaRPr lang="en-US"/>
          </a:p>
        </p:txBody>
      </p:sp>
      <p:sp>
        <p:nvSpPr>
          <p:cNvPr id="9" name="Text 6"/>
          <p:cNvSpPr/>
          <p:nvPr/>
        </p:nvSpPr>
        <p:spPr>
          <a:xfrm>
            <a:off x="6537960" y="2359152"/>
            <a:ext cx="4572000" cy="822960"/>
          </a:xfrm>
          <a:prstGeom prst="rect">
            <a:avLst/>
          </a:prstGeom>
          <a:noFill/>
          <a:ln/>
        </p:spPr>
        <p:txBody>
          <a:bodyPr wrap="square" lIns="0" tIns="0" rIns="0" bIns="0" rtlCol="0" anchor="ctr"/>
          <a:lstStyle/>
          <a:p>
            <a:pPr marL="0" indent="0">
              <a:buNone/>
            </a:pPr>
            <a:r>
              <a:rPr lang="en-US" sz="4000" b="1" dirty="0">
                <a:solidFill>
                  <a:srgbClr val="F4B942"/>
                </a:solidFill>
                <a:latin typeface="Cambria" pitchFamily="34" charset="0"/>
                <a:ea typeface="Cambria" pitchFamily="34" charset="-122"/>
                <a:cs typeface="Cambria" pitchFamily="34" charset="-120"/>
              </a:rPr>
              <a:t>281</a:t>
            </a:r>
            <a:endParaRPr lang="en-US" sz="4000" dirty="0"/>
          </a:p>
        </p:txBody>
      </p:sp>
      <p:sp>
        <p:nvSpPr>
          <p:cNvPr id="10" name="Text 7"/>
          <p:cNvSpPr/>
          <p:nvPr/>
        </p:nvSpPr>
        <p:spPr>
          <a:xfrm>
            <a:off x="6537960" y="3246120"/>
            <a:ext cx="4663440" cy="548640"/>
          </a:xfrm>
          <a:prstGeom prst="rect">
            <a:avLst/>
          </a:prstGeom>
          <a:noFill/>
          <a:ln/>
        </p:spPr>
        <p:txBody>
          <a:bodyPr wrap="square" lIns="0" tIns="0" rIns="0" bIns="0" rtlCol="0" anchor="ctr"/>
          <a:lstStyle/>
          <a:p>
            <a:pPr marL="0" indent="0">
              <a:lnSpc>
                <a:spcPct val="120000"/>
              </a:lnSpc>
              <a:buNone/>
            </a:pPr>
            <a:r>
              <a:rPr lang="en-US" sz="1250" dirty="0">
                <a:solidFill>
                  <a:srgbClr val="CFC6E0"/>
                </a:solidFill>
                <a:latin typeface="Calibri" pitchFamily="34" charset="0"/>
                <a:ea typeface="Calibri" pitchFamily="34" charset="-122"/>
                <a:cs typeface="Calibri" pitchFamily="34" charset="-120"/>
              </a:rPr>
              <a:t>Planets inside the habitable zone</a:t>
            </a:r>
            <a:endParaRPr lang="en-US" sz="1250" dirty="0"/>
          </a:p>
        </p:txBody>
      </p:sp>
      <p:sp>
        <p:nvSpPr>
          <p:cNvPr id="11" name="Shape 8"/>
          <p:cNvSpPr/>
          <p:nvPr/>
        </p:nvSpPr>
        <p:spPr>
          <a:xfrm>
            <a:off x="548640" y="4206240"/>
            <a:ext cx="5349240" cy="1737360"/>
          </a:xfrm>
          <a:prstGeom prst="rect">
            <a:avLst/>
          </a:prstGeom>
          <a:solidFill>
            <a:srgbClr val="1B1030">
              <a:alpha val="80000"/>
            </a:srgbClr>
          </a:solidFill>
          <a:ln w="12700">
            <a:solidFill>
              <a:srgbClr val="F4B942"/>
            </a:solidFill>
            <a:prstDash val="solid"/>
          </a:ln>
        </p:spPr>
        <p:txBody>
          <a:bodyPr/>
          <a:lstStyle/>
          <a:p>
            <a:endParaRPr lang="en-US"/>
          </a:p>
        </p:txBody>
      </p:sp>
      <p:sp>
        <p:nvSpPr>
          <p:cNvPr id="12" name="Text 9"/>
          <p:cNvSpPr/>
          <p:nvPr/>
        </p:nvSpPr>
        <p:spPr>
          <a:xfrm>
            <a:off x="914400" y="4370832"/>
            <a:ext cx="4572000" cy="822960"/>
          </a:xfrm>
          <a:prstGeom prst="rect">
            <a:avLst/>
          </a:prstGeom>
          <a:noFill/>
          <a:ln/>
        </p:spPr>
        <p:txBody>
          <a:bodyPr wrap="square" lIns="0" tIns="0" rIns="0" bIns="0" rtlCol="0" anchor="ctr"/>
          <a:lstStyle/>
          <a:p>
            <a:pPr marL="0" indent="0">
              <a:buNone/>
            </a:pPr>
            <a:r>
              <a:rPr lang="en-US" sz="4000" b="1" dirty="0">
                <a:solidFill>
                  <a:srgbClr val="F4B942"/>
                </a:solidFill>
                <a:latin typeface="Cambria" pitchFamily="34" charset="0"/>
                <a:ea typeface="Cambria" pitchFamily="34" charset="-122"/>
                <a:cs typeface="Cambria" pitchFamily="34" charset="-120"/>
              </a:rPr>
              <a:t>45</a:t>
            </a:r>
            <a:endParaRPr lang="en-US" sz="4000" dirty="0"/>
          </a:p>
        </p:txBody>
      </p:sp>
      <p:sp>
        <p:nvSpPr>
          <p:cNvPr id="13" name="Text 10"/>
          <p:cNvSpPr/>
          <p:nvPr/>
        </p:nvSpPr>
        <p:spPr>
          <a:xfrm>
            <a:off x="914400" y="5257800"/>
            <a:ext cx="4663440" cy="548640"/>
          </a:xfrm>
          <a:prstGeom prst="rect">
            <a:avLst/>
          </a:prstGeom>
          <a:noFill/>
          <a:ln/>
        </p:spPr>
        <p:txBody>
          <a:bodyPr wrap="square" lIns="0" tIns="0" rIns="0" bIns="0" rtlCol="0" anchor="ctr"/>
          <a:lstStyle/>
          <a:p>
            <a:pPr marL="0" indent="0">
              <a:lnSpc>
                <a:spcPct val="120000"/>
              </a:lnSpc>
              <a:buNone/>
            </a:pPr>
            <a:r>
              <a:rPr lang="en-US" sz="1250" dirty="0">
                <a:solidFill>
                  <a:srgbClr val="CFC6E0"/>
                </a:solidFill>
                <a:latin typeface="Calibri" pitchFamily="34" charset="0"/>
                <a:ea typeface="Calibri" pitchFamily="34" charset="-122"/>
                <a:cs typeface="Calibri" pitchFamily="34" charset="-120"/>
              </a:rPr>
              <a:t>Habitable AND rocky candidates</a:t>
            </a:r>
            <a:endParaRPr lang="en-US" sz="1250" dirty="0"/>
          </a:p>
        </p:txBody>
      </p:sp>
      <p:sp>
        <p:nvSpPr>
          <p:cNvPr id="14" name="Shape 11"/>
          <p:cNvSpPr/>
          <p:nvPr/>
        </p:nvSpPr>
        <p:spPr>
          <a:xfrm>
            <a:off x="6172200" y="4206240"/>
            <a:ext cx="5349240" cy="1737360"/>
          </a:xfrm>
          <a:prstGeom prst="rect">
            <a:avLst/>
          </a:prstGeom>
          <a:solidFill>
            <a:srgbClr val="1B1030">
              <a:alpha val="80000"/>
            </a:srgbClr>
          </a:solidFill>
          <a:ln w="12700">
            <a:solidFill>
              <a:srgbClr val="F4B942"/>
            </a:solidFill>
            <a:prstDash val="solid"/>
          </a:ln>
        </p:spPr>
        <p:txBody>
          <a:bodyPr/>
          <a:lstStyle/>
          <a:p>
            <a:endParaRPr lang="en-US"/>
          </a:p>
        </p:txBody>
      </p:sp>
      <p:sp>
        <p:nvSpPr>
          <p:cNvPr id="15" name="Text 12"/>
          <p:cNvSpPr/>
          <p:nvPr/>
        </p:nvSpPr>
        <p:spPr>
          <a:xfrm>
            <a:off x="6537960" y="4370832"/>
            <a:ext cx="4572000" cy="822960"/>
          </a:xfrm>
          <a:prstGeom prst="rect">
            <a:avLst/>
          </a:prstGeom>
          <a:noFill/>
          <a:ln/>
        </p:spPr>
        <p:txBody>
          <a:bodyPr wrap="square" lIns="0" tIns="0" rIns="0" bIns="0" rtlCol="0" anchor="ctr"/>
          <a:lstStyle/>
          <a:p>
            <a:pPr marL="0" indent="0">
              <a:buNone/>
            </a:pPr>
            <a:r>
              <a:rPr lang="en-US" sz="4000" b="1" dirty="0">
                <a:solidFill>
                  <a:srgbClr val="F4B942"/>
                </a:solidFill>
                <a:latin typeface="Cambria" pitchFamily="34" charset="0"/>
                <a:ea typeface="Cambria" pitchFamily="34" charset="-122"/>
                <a:cs typeface="Cambria" pitchFamily="34" charset="-120"/>
              </a:rPr>
              <a:t>0.9935</a:t>
            </a:r>
            <a:endParaRPr lang="en-US" sz="4000" dirty="0"/>
          </a:p>
        </p:txBody>
      </p:sp>
      <p:sp>
        <p:nvSpPr>
          <p:cNvPr id="16" name="Text 13"/>
          <p:cNvSpPr/>
          <p:nvPr/>
        </p:nvSpPr>
        <p:spPr>
          <a:xfrm>
            <a:off x="6537960" y="5257800"/>
            <a:ext cx="4663440" cy="548640"/>
          </a:xfrm>
          <a:prstGeom prst="rect">
            <a:avLst/>
          </a:prstGeom>
          <a:noFill/>
          <a:ln/>
        </p:spPr>
        <p:txBody>
          <a:bodyPr wrap="square" lIns="0" tIns="0" rIns="0" bIns="0" rtlCol="0" anchor="ctr"/>
          <a:lstStyle/>
          <a:p>
            <a:pPr marL="0" indent="0">
              <a:lnSpc>
                <a:spcPct val="120000"/>
              </a:lnSpc>
              <a:buNone/>
            </a:pPr>
            <a:r>
              <a:rPr lang="en-US" sz="1250" dirty="0">
                <a:solidFill>
                  <a:srgbClr val="CFC6E0"/>
                </a:solidFill>
                <a:latin typeface="Calibri" pitchFamily="34" charset="0"/>
                <a:ea typeface="Calibri" pitchFamily="34" charset="-122"/>
                <a:cs typeface="Calibri" pitchFamily="34" charset="-120"/>
              </a:rPr>
              <a:t>Highest ESI — GJ 1002 b, Earth’s closest twin</a:t>
            </a:r>
            <a:endParaRPr lang="en-US" sz="1250" dirty="0"/>
          </a:p>
        </p:txBody>
      </p:sp>
      <p:sp>
        <p:nvSpPr>
          <p:cNvPr id="17" name="Text 14"/>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12</a:t>
            </a:r>
            <a:endParaRPr lang="en-US" sz="1000" dirty="0"/>
          </a:p>
        </p:txBody>
      </p:sp>
      <p:sp>
        <p:nvSpPr>
          <p:cNvPr id="18" name="Text 15"/>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pptx_build/bg_dark.jpg"/>
          <p:cNvPicPr>
            <a:picLocks noChangeAspect="1"/>
          </p:cNvPicPr>
          <p:nvPr/>
        </p:nvPicPr>
        <p:blipFill>
          <a:blip r:embed="rId3"/>
          <a:stretch>
            <a:fillRect/>
          </a:stretch>
        </p:blipFill>
        <p:spPr>
          <a:xfrm>
            <a:off x="0" y="0"/>
            <a:ext cx="12188952" cy="6858000"/>
          </a:xfrm>
          <a:prstGeom prst="rect">
            <a:avLst/>
          </a:prstGeom>
        </p:spPr>
      </p:pic>
      <p:sp>
        <p:nvSpPr>
          <p:cNvPr id="3" name="Shape 0"/>
          <p:cNvSpPr/>
          <p:nvPr/>
        </p:nvSpPr>
        <p:spPr>
          <a:xfrm>
            <a:off x="5362956" y="1188720"/>
            <a:ext cx="1463040" cy="1463040"/>
          </a:xfrm>
          <a:prstGeom prst="ellipse">
            <a:avLst/>
          </a:prstGeom>
          <a:solidFill>
            <a:srgbClr val="241640"/>
          </a:solidFill>
          <a:ln w="19050">
            <a:solidFill>
              <a:srgbClr val="F4B942"/>
            </a:solidFill>
            <a:prstDash val="solid"/>
          </a:ln>
        </p:spPr>
        <p:txBody>
          <a:bodyPr/>
          <a:lstStyle/>
          <a:p>
            <a:endParaRPr lang="en-US"/>
          </a:p>
        </p:txBody>
      </p:sp>
      <p:pic>
        <p:nvPicPr>
          <p:cNvPr id="4" name="Image 1" descr="/home/claude/pptx_build/icons/planet_gold.png"/>
          <p:cNvPicPr>
            <a:picLocks noChangeAspect="1"/>
          </p:cNvPicPr>
          <p:nvPr/>
        </p:nvPicPr>
        <p:blipFill>
          <a:blip r:embed="rId4"/>
          <a:stretch>
            <a:fillRect/>
          </a:stretch>
        </p:blipFill>
        <p:spPr>
          <a:xfrm>
            <a:off x="5728716" y="1554480"/>
            <a:ext cx="731520" cy="731520"/>
          </a:xfrm>
          <a:prstGeom prst="rect">
            <a:avLst/>
          </a:prstGeom>
        </p:spPr>
      </p:pic>
      <p:sp>
        <p:nvSpPr>
          <p:cNvPr id="5" name="Shape 1"/>
          <p:cNvSpPr/>
          <p:nvPr/>
        </p:nvSpPr>
        <p:spPr>
          <a:xfrm>
            <a:off x="4722876" y="548640"/>
            <a:ext cx="2743200" cy="2743200"/>
          </a:xfrm>
          <a:prstGeom prst="ellipse">
            <a:avLst/>
          </a:prstGeom>
          <a:ln w="12700">
            <a:solidFill>
              <a:srgbClr val="9B7FD4"/>
            </a:solidFill>
            <a:prstDash val="sysDot"/>
          </a:ln>
        </p:spPr>
        <p:txBody>
          <a:bodyPr/>
          <a:lstStyle/>
          <a:p>
            <a:endParaRPr lang="en-US"/>
          </a:p>
        </p:txBody>
      </p:sp>
      <p:sp>
        <p:nvSpPr>
          <p:cNvPr id="6" name="Text 2"/>
          <p:cNvSpPr/>
          <p:nvPr/>
        </p:nvSpPr>
        <p:spPr>
          <a:xfrm>
            <a:off x="0" y="3566160"/>
            <a:ext cx="12188952"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7" name="Text 3"/>
          <p:cNvSpPr/>
          <p:nvPr/>
        </p:nvSpPr>
        <p:spPr>
          <a:xfrm>
            <a:off x="0" y="4343400"/>
            <a:ext cx="12188952" cy="457200"/>
          </a:xfrm>
          <a:prstGeom prst="rect">
            <a:avLst/>
          </a:prstGeom>
          <a:noFill/>
          <a:ln/>
        </p:spPr>
        <p:txBody>
          <a:bodyPr wrap="square" lIns="0" tIns="0" rIns="0" bIns="0" rtlCol="0" anchor="ctr"/>
          <a:lstStyle/>
          <a:p>
            <a:pPr marL="0" indent="0" algn="ctr">
              <a:buNone/>
            </a:pPr>
            <a:r>
              <a:rPr lang="en-US" sz="1600" i="1" dirty="0">
                <a:solidFill>
                  <a:srgbClr val="9B7FD4"/>
                </a:solidFill>
                <a:latin typeface="Cambria" pitchFamily="34" charset="0"/>
                <a:ea typeface="Cambria" pitchFamily="34" charset="-122"/>
                <a:cs typeface="Cambria" pitchFamily="34" charset="-120"/>
              </a:rPr>
              <a:t>"Where Data Meets Discovery"</a:t>
            </a:r>
            <a:endParaRPr lang="en-US" sz="1600" dirty="0"/>
          </a:p>
        </p:txBody>
      </p:sp>
      <p:sp>
        <p:nvSpPr>
          <p:cNvPr id="8" name="Text 4"/>
          <p:cNvSpPr/>
          <p:nvPr/>
        </p:nvSpPr>
        <p:spPr>
          <a:xfrm>
            <a:off x="0" y="5212080"/>
            <a:ext cx="12188952" cy="365760"/>
          </a:xfrm>
          <a:prstGeom prst="rect">
            <a:avLst/>
          </a:prstGeom>
          <a:noFill/>
          <a:ln/>
        </p:spPr>
        <p:txBody>
          <a:bodyPr wrap="square" lIns="0" tIns="0" rIns="0" bIns="0" rtlCol="0" anchor="ctr"/>
          <a:lstStyle/>
          <a:p>
            <a:pPr marL="0" indent="0" algn="ctr">
              <a:buNone/>
            </a:pPr>
            <a:r>
              <a:rPr lang="en-US" sz="1100" dirty="0">
                <a:solidFill>
                  <a:srgbClr val="CFC6E0"/>
                </a:solidFill>
                <a:latin typeface="Calibri" pitchFamily="34" charset="0"/>
                <a:ea typeface="Calibri" pitchFamily="34" charset="-122"/>
                <a:cs typeface="Calibri" pitchFamily="34" charset="-120"/>
              </a:rPr>
              <a:t>Digital Egypt Pioneers Initiative — Data Analysis Track  |  Graduation Project 2025/2026</a:t>
            </a:r>
            <a:endParaRPr lang="en-US" sz="1100" dirty="0"/>
          </a:p>
        </p:txBody>
      </p:sp>
      <p:sp>
        <p:nvSpPr>
          <p:cNvPr id="9" name="Text 5"/>
          <p:cNvSpPr/>
          <p:nvPr/>
        </p:nvSpPr>
        <p:spPr>
          <a:xfrm>
            <a:off x="0" y="5577840"/>
            <a:ext cx="12188952" cy="365760"/>
          </a:xfrm>
          <a:prstGeom prst="rect">
            <a:avLst/>
          </a:prstGeom>
          <a:noFill/>
          <a:ln/>
        </p:spPr>
        <p:txBody>
          <a:bodyPr wrap="square" lIns="0" tIns="0" rIns="0" bIns="0" rtlCol="0" anchor="ctr"/>
          <a:lstStyle/>
          <a:p>
            <a:pPr marL="0" indent="0" algn="ctr">
              <a:buNone/>
            </a:pPr>
            <a:r>
              <a:rPr lang="en-US" sz="1050" dirty="0">
                <a:solidFill>
                  <a:srgbClr val="9A8AC2"/>
                </a:solidFill>
                <a:latin typeface="Calibri" pitchFamily="34" charset="0"/>
                <a:ea typeface="Calibri" pitchFamily="34" charset="-122"/>
                <a:cs typeface="Calibri" pitchFamily="34" charset="-120"/>
              </a:rPr>
              <a:t>Nourhan Khalifa · Hannah Hany · Reham Osama · Mohamed Essam · Youssef Abdullah · Youssef Amir</a:t>
            </a:r>
            <a:endParaRPr lang="en-US" sz="1050" dirty="0"/>
          </a:p>
        </p:txBody>
      </p:sp>
      <p:sp>
        <p:nvSpPr>
          <p:cNvPr id="10" name="Text 6"/>
          <p:cNvSpPr/>
          <p:nvPr/>
        </p:nvSpPr>
        <p:spPr>
          <a:xfrm>
            <a:off x="11274552" y="6355080"/>
            <a:ext cx="548640" cy="320040"/>
          </a:xfrm>
          <a:prstGeom prst="rect">
            <a:avLst/>
          </a:prstGeom>
          <a:noFill/>
          <a:ln/>
        </p:spPr>
        <p:txBody>
          <a:bodyPr wrap="square" lIns="0" tIns="0" rIns="0" bIns="0" rtlCol="0" anchor="ctr"/>
          <a:lstStyle/>
          <a:p>
            <a:pPr marL="0" indent="0" algn="r">
              <a:buNone/>
            </a:pPr>
            <a:r>
              <a:rPr lang="en-US" sz="1000" dirty="0">
                <a:solidFill>
                  <a:srgbClr val="9B7FD4"/>
                </a:solidFill>
                <a:latin typeface="Calibri" pitchFamily="34" charset="0"/>
                <a:ea typeface="Calibri" pitchFamily="34" charset="-122"/>
                <a:cs typeface="Calibri" pitchFamily="34" charset="-120"/>
              </a:rPr>
              <a:t>13</a:t>
            </a:r>
            <a:endParaRPr lang="en-US" sz="1000" dirty="0"/>
          </a:p>
        </p:txBody>
      </p:sp>
      <p:sp>
        <p:nvSpPr>
          <p:cNvPr id="11" name="Text 7"/>
          <p:cNvSpPr/>
          <p:nvPr/>
        </p:nvSpPr>
        <p:spPr>
          <a:xfrm>
            <a:off x="548640" y="6355080"/>
            <a:ext cx="4572000" cy="320040"/>
          </a:xfrm>
          <a:prstGeom prst="rect">
            <a:avLst/>
          </a:prstGeom>
          <a:noFill/>
          <a:ln/>
        </p:spPr>
        <p:txBody>
          <a:bodyPr wrap="square" lIns="0" tIns="0" rIns="0" bIns="0" rtlCol="0" anchor="ctr"/>
          <a:lstStyle/>
          <a:p>
            <a:pPr marL="0" indent="0" algn="l">
              <a:buNone/>
            </a:pPr>
            <a:r>
              <a:rPr lang="en-US" sz="900" kern="0" spc="100" dirty="0">
                <a:solidFill>
                  <a:srgbClr val="6E5C99"/>
                </a:solidFill>
                <a:latin typeface="Calibri" pitchFamily="34" charset="0"/>
                <a:ea typeface="Calibri" pitchFamily="34" charset="-122"/>
                <a:cs typeface="Calibri" pitchFamily="34" charset="-120"/>
              </a:rPr>
              <a:t>EXOPLANET HABITABILITY ZONE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1584</Words>
  <Application>Microsoft Office PowerPoint</Application>
  <PresentationFormat>Widescreen</PresentationFormat>
  <Paragraphs>200</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محمد عصام عبدالرازق قاسم ابراهيم</cp:lastModifiedBy>
  <cp:revision>2</cp:revision>
  <dcterms:created xsi:type="dcterms:W3CDTF">2026-07-09T18:43:09Z</dcterms:created>
  <dcterms:modified xsi:type="dcterms:W3CDTF">2026-07-09T19:15:32Z</dcterms:modified>
</cp:coreProperties>
</file>
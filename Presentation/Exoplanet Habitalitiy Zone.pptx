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8" r:id="rId7"/>
    <p:sldId id="261" r:id="rId8"/>
    <p:sldId id="262" r:id="rId9"/>
    <p:sldId id="263" r:id="rId10"/>
    <p:sldId id="267" r:id="rId11"/>
    <p:sldId id="276" r:id="rId12"/>
    <p:sldId id="268" r:id="rId13"/>
    <p:sldId id="269" r:id="rId14"/>
    <p:sldId id="270" r:id="rId15"/>
    <p:sldId id="271" r:id="rId16"/>
    <p:sldId id="272" r:id="rId17"/>
    <p:sldId id="274" r:id="rId18"/>
    <p:sldId id="264" r:id="rId19"/>
    <p:sldId id="265"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C8C8"/>
    <a:srgbClr val="FED9CE"/>
    <a:srgbClr val="F0DAF2"/>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297" autoAdjust="0"/>
  </p:normalViewPr>
  <p:slideViewPr>
    <p:cSldViewPr snapToGrid="0" snapToObjects="1">
      <p:cViewPr varScale="1">
        <p:scale>
          <a:sx n="130" d="100"/>
          <a:sy n="130" d="100"/>
        </p:scale>
        <p:origin x="77" y="2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3218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71DF-0653-E44A-269E-C55D3F20B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DB7B3-1C38-403F-5E3E-9B3FC0CC6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91E44-E6B0-B7F1-2A9F-EED0829CE6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B53E2B-8B23-282E-2BD2-D01FD3DF040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20833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25247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41FCC-D76A-3DAF-A136-511D5FE02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43BD8-8881-690D-9359-702062896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BD2AC-544C-6DC3-9E6F-CC43F18B42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C48B17-17F3-2D04-4D61-7AB5B7A24B3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09540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8995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1495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69991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42197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09758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75115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3.png"/><Relationship Id="rId10"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github.com/Nourhankhalifa004/Exoplanet_Habitability_Zone/tree/main/Medallion%20Architecture/1.%20Bronze%20layer" TargetMode="External"/><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hyperlink" Target="https://github.com/Nourhankhalifa004/Exoplanet_Habitability_Zone/tree/main/Medallion%20Architecture/3.%20Gold%20layer" TargetMode="External"/><Relationship Id="rId4" Type="http://schemas.openxmlformats.org/officeDocument/2006/relationships/hyperlink" Target="https://github.com/Nourhankhalifa004/Exoplanet_Habitability_Zone/tree/main/Medallion%20Architecture/2.%20Silver%20laye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9.jp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jp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a:t>
            </a:r>
            <a:endParaRPr lang="en-US" sz="1000" dirty="0"/>
          </a:p>
        </p:txBody>
      </p:sp>
      <p:sp>
        <p:nvSpPr>
          <p:cNvPr id="15" name="Text 13"/>
          <p:cNvSpPr/>
          <p:nvPr/>
        </p:nvSpPr>
        <p:spPr>
          <a:xfrm>
            <a:off x="365760" y="987552"/>
            <a:ext cx="8412480" cy="685800"/>
          </a:xfrm>
          <a:prstGeom prst="rect">
            <a:avLst/>
          </a:prstGeom>
          <a:noFill/>
          <a:ln/>
        </p:spPr>
        <p:txBody>
          <a:bodyPr wrap="square" lIns="0" tIns="0" rIns="0" bIns="0" rtlCol="0" anchor="ctr"/>
          <a:lstStyle/>
          <a:p>
            <a:pPr marL="0" indent="0" algn="ctr">
              <a:buNone/>
            </a:pPr>
            <a:r>
              <a:rPr lang="en-US" sz="3400" b="1" dirty="0">
                <a:solidFill>
                  <a:schemeClr val="accent1">
                    <a:lumMod val="75000"/>
                  </a:schemeClr>
                </a:solidFill>
                <a:latin typeface="Times New Roman" panose="02020603050405020304" pitchFamily="18" charset="0"/>
                <a:cs typeface="Times New Roman" panose="02020603050405020304" pitchFamily="18" charset="0"/>
              </a:rPr>
              <a:t>Exoplanet Habitability Zone </a:t>
            </a:r>
          </a:p>
        </p:txBody>
      </p:sp>
      <p:sp>
        <p:nvSpPr>
          <p:cNvPr id="16" name="Text 14"/>
          <p:cNvSpPr/>
          <p:nvPr/>
        </p:nvSpPr>
        <p:spPr>
          <a:xfrm>
            <a:off x="140919" y="262912"/>
            <a:ext cx="8412480" cy="365760"/>
          </a:xfrm>
          <a:prstGeom prst="rect">
            <a:avLst/>
          </a:prstGeom>
          <a:noFill/>
          <a:ln/>
        </p:spPr>
        <p:txBody>
          <a:bodyPr wrap="square" lIns="0" tIns="0" rIns="0" bIns="0" rtlCol="0" anchor="ctr"/>
          <a:lstStyle/>
          <a:p>
            <a:pPr marL="0" indent="0" algn="ctr">
              <a:buNone/>
            </a:pPr>
            <a:r>
              <a:rPr lang="en-US" sz="1600" b="1" dirty="0">
                <a:solidFill>
                  <a:srgbClr val="002060"/>
                </a:solidFill>
                <a:latin typeface="Times New Roman" panose="02020603050405020304" pitchFamily="18" charset="0"/>
                <a:cs typeface="Times New Roman" panose="02020603050405020304" pitchFamily="18" charset="0"/>
              </a:rPr>
              <a:t>Data Analysis Graduation Project</a:t>
            </a:r>
          </a:p>
        </p:txBody>
      </p:sp>
      <p:sp>
        <p:nvSpPr>
          <p:cNvPr id="17" name="Shape 15"/>
          <p:cNvSpPr/>
          <p:nvPr/>
        </p:nvSpPr>
        <p:spPr>
          <a:xfrm>
            <a:off x="2286000" y="1624128"/>
            <a:ext cx="4572000" cy="0"/>
          </a:xfrm>
          <a:prstGeom prst="line">
            <a:avLst/>
          </a:prstGeom>
          <a:noFill/>
          <a:ln w="31750">
            <a:solidFill>
              <a:schemeClr val="accent1"/>
            </a:solidFill>
            <a:prstDash val="solid"/>
          </a:ln>
        </p:spPr>
        <p:txBody>
          <a:bodyPr/>
          <a:lstStyle/>
          <a:p>
            <a:endParaRPr lang="en-US"/>
          </a:p>
        </p:txBody>
      </p:sp>
      <p:sp>
        <p:nvSpPr>
          <p:cNvPr id="18" name="Shape 16"/>
          <p:cNvSpPr/>
          <p:nvPr/>
        </p:nvSpPr>
        <p:spPr>
          <a:xfrm>
            <a:off x="457200" y="3030857"/>
            <a:ext cx="1920240" cy="777240"/>
          </a:xfrm>
          <a:prstGeom prst="rect">
            <a:avLst/>
          </a:prstGeom>
          <a:solidFill>
            <a:srgbClr val="F5F5F5"/>
          </a:solidFill>
          <a:ln w="12700">
            <a:solidFill>
              <a:srgbClr val="DDDDDD"/>
            </a:solidFill>
            <a:prstDash val="solid"/>
          </a:ln>
        </p:spPr>
        <p:txBody>
          <a:bodyPr/>
          <a:lstStyle/>
          <a:p>
            <a:endParaRPr lang="en-US"/>
          </a:p>
        </p:txBody>
      </p:sp>
      <p:sp>
        <p:nvSpPr>
          <p:cNvPr id="19" name="Shape 17"/>
          <p:cNvSpPr/>
          <p:nvPr/>
        </p:nvSpPr>
        <p:spPr>
          <a:xfrm>
            <a:off x="457200" y="3030857"/>
            <a:ext cx="1920240" cy="201168"/>
          </a:xfrm>
          <a:prstGeom prst="rect">
            <a:avLst/>
          </a:prstGeom>
          <a:solidFill>
            <a:schemeClr val="accent1">
              <a:lumMod val="75000"/>
            </a:schemeClr>
          </a:solidFill>
          <a:ln w="12700">
            <a:solidFill>
              <a:srgbClr val="047954"/>
            </a:solidFill>
            <a:prstDash val="solid"/>
          </a:ln>
        </p:spPr>
        <p:txBody>
          <a:bodyPr/>
          <a:lstStyle/>
          <a:p>
            <a:endParaRPr lang="en-US"/>
          </a:p>
        </p:txBody>
      </p:sp>
      <p:sp>
        <p:nvSpPr>
          <p:cNvPr id="20" name="Text 18"/>
          <p:cNvSpPr/>
          <p:nvPr/>
        </p:nvSpPr>
        <p:spPr>
          <a:xfrm>
            <a:off x="457200" y="3044610"/>
            <a:ext cx="1920240"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Track</a:t>
            </a:r>
            <a:endParaRPr lang="en-US" sz="800" dirty="0">
              <a:latin typeface="Times New Roman" panose="02020603050405020304" pitchFamily="18" charset="0"/>
              <a:cs typeface="Times New Roman" panose="02020603050405020304" pitchFamily="18" charset="0"/>
            </a:endParaRPr>
          </a:p>
        </p:txBody>
      </p:sp>
      <p:sp>
        <p:nvSpPr>
          <p:cNvPr id="21" name="Text 19"/>
          <p:cNvSpPr/>
          <p:nvPr/>
        </p:nvSpPr>
        <p:spPr>
          <a:xfrm>
            <a:off x="457200" y="3183899"/>
            <a:ext cx="1920240" cy="548640"/>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cs typeface="Times New Roman" panose="02020603050405020304" pitchFamily="18" charset="0"/>
              </a:rPr>
              <a:t>Data Analysis</a:t>
            </a:r>
          </a:p>
        </p:txBody>
      </p:sp>
      <p:sp>
        <p:nvSpPr>
          <p:cNvPr id="22" name="Shape 20"/>
          <p:cNvSpPr/>
          <p:nvPr/>
        </p:nvSpPr>
        <p:spPr>
          <a:xfrm>
            <a:off x="2560320" y="3030857"/>
            <a:ext cx="1920240" cy="777240"/>
          </a:xfrm>
          <a:prstGeom prst="rect">
            <a:avLst/>
          </a:prstGeom>
          <a:solidFill>
            <a:srgbClr val="F5F5F5"/>
          </a:solidFill>
          <a:ln w="12700">
            <a:solidFill>
              <a:srgbClr val="DDDDDD"/>
            </a:solidFill>
            <a:prstDash val="solid"/>
          </a:ln>
        </p:spPr>
        <p:txBody>
          <a:bodyPr/>
          <a:lstStyle/>
          <a:p>
            <a:endParaRPr lang="en-US"/>
          </a:p>
        </p:txBody>
      </p:sp>
      <p:sp>
        <p:nvSpPr>
          <p:cNvPr id="23" name="Shape 21"/>
          <p:cNvSpPr/>
          <p:nvPr/>
        </p:nvSpPr>
        <p:spPr>
          <a:xfrm>
            <a:off x="2560320" y="3030857"/>
            <a:ext cx="1920240" cy="201168"/>
          </a:xfrm>
          <a:prstGeom prst="rect">
            <a:avLst/>
          </a:prstGeom>
          <a:solidFill>
            <a:srgbClr val="047954"/>
          </a:solidFill>
          <a:ln w="12700">
            <a:solidFill>
              <a:srgbClr val="047954"/>
            </a:solidFill>
            <a:prstDash val="solid"/>
          </a:ln>
        </p:spPr>
        <p:txBody>
          <a:bodyPr/>
          <a:lstStyle/>
          <a:p>
            <a:endParaRPr lang="en-US"/>
          </a:p>
        </p:txBody>
      </p:sp>
      <p:sp>
        <p:nvSpPr>
          <p:cNvPr id="24" name="Text 22"/>
          <p:cNvSpPr/>
          <p:nvPr/>
        </p:nvSpPr>
        <p:spPr>
          <a:xfrm>
            <a:off x="2560320" y="3030857"/>
            <a:ext cx="1920240" cy="201168"/>
          </a:xfrm>
          <a:prstGeom prst="rect">
            <a:avLst/>
          </a:prstGeom>
          <a:solidFill>
            <a:schemeClr val="accent1">
              <a:lumMod val="75000"/>
            </a:schemeClr>
          </a:solid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Initiative</a:t>
            </a:r>
            <a:endParaRPr lang="en-US" sz="1400" dirty="0">
              <a:latin typeface="Times New Roman" panose="02020603050405020304" pitchFamily="18" charset="0"/>
              <a:cs typeface="Times New Roman" panose="02020603050405020304" pitchFamily="18" charset="0"/>
            </a:endParaRPr>
          </a:p>
        </p:txBody>
      </p:sp>
      <p:sp>
        <p:nvSpPr>
          <p:cNvPr id="25" name="Text 23"/>
          <p:cNvSpPr/>
          <p:nvPr/>
        </p:nvSpPr>
        <p:spPr>
          <a:xfrm>
            <a:off x="2560320" y="3232025"/>
            <a:ext cx="1920240" cy="548640"/>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cs typeface="Times New Roman" panose="02020603050405020304" pitchFamily="18" charset="0"/>
              </a:rPr>
              <a:t>DEPI</a:t>
            </a:r>
          </a:p>
        </p:txBody>
      </p:sp>
      <p:sp>
        <p:nvSpPr>
          <p:cNvPr id="26" name="Shape 24"/>
          <p:cNvSpPr/>
          <p:nvPr/>
        </p:nvSpPr>
        <p:spPr>
          <a:xfrm>
            <a:off x="4663440" y="3030861"/>
            <a:ext cx="1920240" cy="777240"/>
          </a:xfrm>
          <a:prstGeom prst="rect">
            <a:avLst/>
          </a:prstGeom>
          <a:solidFill>
            <a:srgbClr val="F5F5F5"/>
          </a:solidFill>
          <a:ln w="12700">
            <a:solidFill>
              <a:srgbClr val="DDDDDD"/>
            </a:solidFill>
            <a:prstDash val="solid"/>
          </a:ln>
        </p:spPr>
        <p:txBody>
          <a:bodyPr/>
          <a:lstStyle/>
          <a:p>
            <a:endParaRPr lang="en-US"/>
          </a:p>
        </p:txBody>
      </p:sp>
      <p:sp>
        <p:nvSpPr>
          <p:cNvPr id="27" name="Shape 25"/>
          <p:cNvSpPr/>
          <p:nvPr/>
        </p:nvSpPr>
        <p:spPr>
          <a:xfrm>
            <a:off x="4663440" y="3030857"/>
            <a:ext cx="1920240" cy="201168"/>
          </a:xfrm>
          <a:prstGeom prst="rect">
            <a:avLst/>
          </a:prstGeom>
          <a:solidFill>
            <a:schemeClr val="accent1">
              <a:lumMod val="75000"/>
            </a:schemeClr>
          </a:solidFill>
          <a:ln w="12700">
            <a:solidFill>
              <a:srgbClr val="047954"/>
            </a:solidFill>
            <a:prstDash val="solid"/>
          </a:ln>
        </p:spPr>
        <p:txBody>
          <a:bodyPr/>
          <a:lstStyle/>
          <a:p>
            <a:endParaRPr lang="en-US"/>
          </a:p>
        </p:txBody>
      </p:sp>
      <p:sp>
        <p:nvSpPr>
          <p:cNvPr id="28" name="Text 26"/>
          <p:cNvSpPr/>
          <p:nvPr/>
        </p:nvSpPr>
        <p:spPr>
          <a:xfrm>
            <a:off x="4663440" y="3037737"/>
            <a:ext cx="1920240"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Dataset</a:t>
            </a:r>
            <a:endParaRPr lang="en-US" sz="1400" dirty="0">
              <a:latin typeface="Times New Roman" panose="02020603050405020304" pitchFamily="18" charset="0"/>
              <a:cs typeface="Times New Roman" panose="02020603050405020304" pitchFamily="18" charset="0"/>
            </a:endParaRPr>
          </a:p>
        </p:txBody>
      </p:sp>
      <p:sp>
        <p:nvSpPr>
          <p:cNvPr id="29" name="Text 27"/>
          <p:cNvSpPr/>
          <p:nvPr/>
        </p:nvSpPr>
        <p:spPr>
          <a:xfrm>
            <a:off x="4663440" y="3232025"/>
            <a:ext cx="1920240" cy="548640"/>
          </a:xfrm>
          <a:prstGeom prst="rect">
            <a:avLst/>
          </a:prstGeom>
          <a:noFill/>
          <a:ln/>
        </p:spPr>
        <p:txBody>
          <a:bodyPr wrap="square" lIns="0" tIns="0" rIns="0" bIns="0" rtlCol="0" anchor="ctr"/>
          <a:lstStyle/>
          <a:p>
            <a:pPr marL="0" indent="0" algn="ctr">
              <a:buNone/>
            </a:pPr>
            <a:r>
              <a:rPr lang="ar-EG" sz="1200" dirty="0">
                <a:latin typeface="Times New Roman" panose="02020603050405020304" pitchFamily="18" charset="0"/>
                <a:cs typeface="Times New Roman" panose="02020603050405020304" pitchFamily="18" charset="0"/>
              </a:rPr>
              <a:t>5673</a:t>
            </a:r>
            <a:r>
              <a:rPr lang="en-US" sz="1200" dirty="0">
                <a:latin typeface="Times New Roman" panose="02020603050405020304" pitchFamily="18" charset="0"/>
                <a:cs typeface="Times New Roman" panose="02020603050405020304" pitchFamily="18" charset="0"/>
              </a:rPr>
              <a:t> Records</a:t>
            </a:r>
          </a:p>
        </p:txBody>
      </p:sp>
      <p:sp>
        <p:nvSpPr>
          <p:cNvPr id="30" name="Shape 28"/>
          <p:cNvSpPr/>
          <p:nvPr/>
        </p:nvSpPr>
        <p:spPr>
          <a:xfrm>
            <a:off x="6766560" y="3030857"/>
            <a:ext cx="1920240" cy="777240"/>
          </a:xfrm>
          <a:prstGeom prst="rect">
            <a:avLst/>
          </a:prstGeom>
          <a:solidFill>
            <a:srgbClr val="F5F5F5"/>
          </a:solidFill>
          <a:ln w="12700">
            <a:solidFill>
              <a:srgbClr val="DDDDDD"/>
            </a:solidFill>
            <a:prstDash val="solid"/>
          </a:ln>
        </p:spPr>
        <p:txBody>
          <a:bodyPr/>
          <a:lstStyle/>
          <a:p>
            <a:endParaRPr lang="en-US"/>
          </a:p>
        </p:txBody>
      </p:sp>
      <p:sp>
        <p:nvSpPr>
          <p:cNvPr id="31" name="Shape 29"/>
          <p:cNvSpPr/>
          <p:nvPr/>
        </p:nvSpPr>
        <p:spPr>
          <a:xfrm>
            <a:off x="6766560" y="3030857"/>
            <a:ext cx="1920240" cy="201168"/>
          </a:xfrm>
          <a:prstGeom prst="rect">
            <a:avLst/>
          </a:prstGeom>
          <a:solidFill>
            <a:schemeClr val="accent1">
              <a:lumMod val="75000"/>
            </a:schemeClr>
          </a:solidFill>
          <a:ln w="12700">
            <a:solidFill>
              <a:srgbClr val="047954"/>
            </a:solidFill>
            <a:prstDash val="solid"/>
          </a:ln>
        </p:spPr>
        <p:txBody>
          <a:bodyPr/>
          <a:lstStyle/>
          <a:p>
            <a:endParaRPr lang="en-US"/>
          </a:p>
        </p:txBody>
      </p:sp>
      <p:sp>
        <p:nvSpPr>
          <p:cNvPr id="32" name="Text 30"/>
          <p:cNvSpPr/>
          <p:nvPr/>
        </p:nvSpPr>
        <p:spPr>
          <a:xfrm>
            <a:off x="6766560" y="3037737"/>
            <a:ext cx="1920240"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Date</a:t>
            </a:r>
            <a:endParaRPr lang="en-US" sz="800" dirty="0">
              <a:latin typeface="Times New Roman" panose="02020603050405020304" pitchFamily="18" charset="0"/>
              <a:cs typeface="Times New Roman" panose="02020603050405020304" pitchFamily="18" charset="0"/>
            </a:endParaRPr>
          </a:p>
        </p:txBody>
      </p:sp>
      <p:sp>
        <p:nvSpPr>
          <p:cNvPr id="33" name="Text 31"/>
          <p:cNvSpPr/>
          <p:nvPr/>
        </p:nvSpPr>
        <p:spPr>
          <a:xfrm>
            <a:off x="6766560" y="3197649"/>
            <a:ext cx="1920240" cy="548640"/>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cs typeface="Times New Roman" panose="02020603050405020304" pitchFamily="18" charset="0"/>
              </a:rPr>
              <a:t>July 2026</a:t>
            </a:r>
          </a:p>
        </p:txBody>
      </p:sp>
      <p:sp>
        <p:nvSpPr>
          <p:cNvPr id="34" name="Text 32"/>
          <p:cNvSpPr/>
          <p:nvPr/>
        </p:nvSpPr>
        <p:spPr>
          <a:xfrm>
            <a:off x="274320" y="3945257"/>
            <a:ext cx="8595360" cy="274320"/>
          </a:xfrm>
          <a:prstGeom prst="rect">
            <a:avLst/>
          </a:prstGeom>
          <a:noFill/>
          <a:ln/>
        </p:spPr>
        <p:txBody>
          <a:bodyPr wrap="square" lIns="0" tIns="0" rIns="0" bIns="0" rtlCol="0" anchor="ctr"/>
          <a:lstStyle/>
          <a:p>
            <a:pPr algn="ctr"/>
            <a:r>
              <a:rPr lang="en-US" sz="1200" b="1" dirty="0">
                <a:latin typeface="Times New Roman" panose="02020603050405020304" pitchFamily="18" charset="0"/>
                <a:cs typeface="Times New Roman" panose="02020603050405020304" pitchFamily="18" charset="0"/>
              </a:rPr>
              <a:t>Presented by:</a:t>
            </a:r>
            <a:r>
              <a:rPr lang="ar-EG" sz="1200" b="1"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Mohamed Esam • Nourhan Khalifa • Youssef Abduallah • Hannah Hanny • Youssef Amir</a:t>
            </a:r>
          </a:p>
        </p:txBody>
      </p:sp>
      <p:pic>
        <p:nvPicPr>
          <p:cNvPr id="1026" name="Picture 2" descr="مبادرة رواد مصر الرقمية - YouTube">
            <a:extLst>
              <a:ext uri="{FF2B5EF4-FFF2-40B4-BE49-F238E27FC236}">
                <a16:creationId xmlns:a16="http://schemas.microsoft.com/office/drawing/2014/main" id="{490AC7EB-7007-44B7-8C7C-00000BA4CAD9}"/>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27432" y="190494"/>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329F35D1-0539-4EDA-8365-99CEB0E4253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45487"/>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a:extLst>
              <a:ext uri="{FF2B5EF4-FFF2-40B4-BE49-F238E27FC236}">
                <a16:creationId xmlns:a16="http://schemas.microsoft.com/office/drawing/2014/main" id="{C2127FD3-7EDF-4F91-A4D4-1DDF166420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6441"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35" name="Text 14">
            <a:extLst>
              <a:ext uri="{FF2B5EF4-FFF2-40B4-BE49-F238E27FC236}">
                <a16:creationId xmlns:a16="http://schemas.microsoft.com/office/drawing/2014/main" id="{0ECE2CE2-F705-4221-8082-1BE133F61B29}"/>
              </a:ext>
            </a:extLst>
          </p:cNvPr>
          <p:cNvSpPr/>
          <p:nvPr/>
        </p:nvSpPr>
        <p:spPr>
          <a:xfrm>
            <a:off x="182536" y="1866639"/>
            <a:ext cx="8652080" cy="955607"/>
          </a:xfrm>
          <a:prstGeom prst="rect">
            <a:avLst/>
          </a:prstGeom>
          <a:noFill/>
          <a:ln/>
        </p:spPr>
        <p:txBody>
          <a:bodyPr wrap="square" lIns="0" tIns="0" rIns="0" bIns="0" rtlCol="0" anchor="ctr"/>
          <a:lstStyle/>
          <a:p>
            <a:pPr algn="just"/>
            <a:r>
              <a:rPr lang="en-US" sz="1200" b="1" dirty="0">
                <a:solidFill>
                  <a:schemeClr val="accent1">
                    <a:lumMod val="75000"/>
                  </a:schemeClr>
                </a:solidFill>
              </a:rPr>
              <a:t>The remarkable progress in space science and observational astronomy has revolutionized the search for planets beyond Earth, transforming the discovery of potentially habitable worlds into one of the most significant scientific pursuits of the 21st century. As the number of confirmed exoplanets continues to grow, identifying those with conditions suitable for sustaining life has become a major focus for astronomers and space agencies worldwide. Exploring the physical and environmental characteristics of these planets provides valuable insights into planetary formation, the possibility of extraterrestrial life, and the future of human space exploration.</a:t>
            </a:r>
          </a:p>
          <a:p>
            <a:pPr marL="0" indent="0" algn="just">
              <a:buNone/>
            </a:pPr>
            <a:r>
              <a:rPr lang="en-US" sz="1200" b="1" dirty="0">
                <a:solidFill>
                  <a:schemeClr val="accent1">
                    <a:lumMod val="75000"/>
                  </a:schemeClr>
                </a:solidFill>
                <a:latin typeface="Times New Roman" panose="02020603050405020304" pitchFamily="18" charset="0"/>
                <a:cs typeface="Times New Roman" panose="02020603050405020304" pitchFamily="18" charset="0"/>
              </a:rPr>
              <a:t>.</a:t>
            </a:r>
          </a:p>
        </p:txBody>
      </p:sp>
      <p:sp>
        <p:nvSpPr>
          <p:cNvPr id="36" name="Shape 15">
            <a:extLst>
              <a:ext uri="{FF2B5EF4-FFF2-40B4-BE49-F238E27FC236}">
                <a16:creationId xmlns:a16="http://schemas.microsoft.com/office/drawing/2014/main" id="{8EFE8948-0A5F-4200-9883-C9D6141A56D9}"/>
              </a:ext>
            </a:extLst>
          </p:cNvPr>
          <p:cNvSpPr/>
          <p:nvPr/>
        </p:nvSpPr>
        <p:spPr>
          <a:xfrm>
            <a:off x="2294023" y="2822246"/>
            <a:ext cx="4572000" cy="0"/>
          </a:xfrm>
          <a:prstGeom prst="line">
            <a:avLst/>
          </a:prstGeom>
          <a:noFill/>
          <a:ln w="31750">
            <a:solidFill>
              <a:schemeClr val="accent1"/>
            </a:solidFill>
            <a:prstDash val="solid"/>
          </a:ln>
        </p:spPr>
        <p:txBody>
          <a:bodyPr/>
          <a:lstStyle/>
          <a:p>
            <a:endParaRPr lang="en-US"/>
          </a:p>
        </p:txBody>
      </p:sp>
      <p:sp>
        <p:nvSpPr>
          <p:cNvPr id="38" name="TextBox 37">
            <a:extLst>
              <a:ext uri="{FF2B5EF4-FFF2-40B4-BE49-F238E27FC236}">
                <a16:creationId xmlns:a16="http://schemas.microsoft.com/office/drawing/2014/main" id="{3630B7B4-6085-470C-9668-062B0FD2A8EC}"/>
              </a:ext>
            </a:extLst>
          </p:cNvPr>
          <p:cNvSpPr txBox="1"/>
          <p:nvPr/>
        </p:nvSpPr>
        <p:spPr>
          <a:xfrm>
            <a:off x="2044831" y="4248577"/>
            <a:ext cx="4604656" cy="307777"/>
          </a:xfrm>
          <a:prstGeom prst="rect">
            <a:avLst/>
          </a:prstGeom>
          <a:noFill/>
        </p:spPr>
        <p:txBody>
          <a:bodyPr wrap="square">
            <a:spAutoFit/>
          </a:bodyPr>
          <a:lstStyle/>
          <a:p>
            <a:pPr algn="ctr"/>
            <a:r>
              <a:rPr lang="en-US" sz="1400" b="1" dirty="0">
                <a:latin typeface="Times New Roman" panose="02020603050405020304" pitchFamily="18" charset="0"/>
                <a:cs typeface="Times New Roman" panose="02020603050405020304" pitchFamily="18" charset="0"/>
              </a:rPr>
              <a:t>Supervised by: Eng. Mohamed </a:t>
            </a:r>
            <a:r>
              <a:rPr lang="en-US" sz="1400" b="1" dirty="0" err="1">
                <a:latin typeface="Times New Roman" panose="02020603050405020304" pitchFamily="18" charset="0"/>
                <a:cs typeface="Times New Roman" panose="02020603050405020304" pitchFamily="18" charset="0"/>
              </a:rPr>
              <a:t>Alemam</a:t>
            </a:r>
            <a:endParaRPr lang="en-AE" sz="1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4F605C2-E84E-07A7-8BC8-298CE166D642}"/>
              </a:ext>
            </a:extLst>
          </p:cNvPr>
          <p:cNvPicPr>
            <a:picLocks noChangeAspect="1"/>
          </p:cNvPicPr>
          <p:nvPr/>
        </p:nvPicPr>
        <p:blipFill>
          <a:blip r:embed="rId6"/>
          <a:stretch>
            <a:fillRect/>
          </a:stretch>
        </p:blipFill>
        <p:spPr>
          <a:xfrm rot="17124212">
            <a:off x="1186413" y="848387"/>
            <a:ext cx="537245" cy="537245"/>
          </a:xfrm>
          <a:prstGeom prst="rect">
            <a:avLst/>
          </a:prstGeom>
        </p:spPr>
      </p:pic>
      <p:pic>
        <p:nvPicPr>
          <p:cNvPr id="8" name="Picture 7">
            <a:extLst>
              <a:ext uri="{FF2B5EF4-FFF2-40B4-BE49-F238E27FC236}">
                <a16:creationId xmlns:a16="http://schemas.microsoft.com/office/drawing/2014/main" id="{648AF07F-435C-E033-49BC-DF51610EB032}"/>
              </a:ext>
            </a:extLst>
          </p:cNvPr>
          <p:cNvPicPr>
            <a:picLocks noChangeAspect="1"/>
          </p:cNvPicPr>
          <p:nvPr/>
        </p:nvPicPr>
        <p:blipFill>
          <a:blip r:embed="rId7"/>
          <a:stretch>
            <a:fillRect/>
          </a:stretch>
        </p:blipFill>
        <p:spPr>
          <a:xfrm>
            <a:off x="7177515" y="868801"/>
            <a:ext cx="366523" cy="3665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chemeClr val="accent1">
              <a:lumMod val="75000"/>
            </a:schemeClr>
          </a:solidFill>
          <a:ln w="12700">
            <a:solidFill>
              <a:srgbClr val="0FAB7D"/>
            </a:solidFill>
            <a:prstDash val="solid"/>
          </a:ln>
        </p:spPr>
        <p:txBody>
          <a:bodyPr/>
          <a:lstStyle/>
          <a:p>
            <a:endParaRPr lang="en-US"/>
          </a:p>
        </p:txBody>
      </p:sp>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2</a:t>
            </a:r>
            <a:endParaRPr lang="en-US" sz="1000" dirty="0"/>
          </a:p>
        </p:txBody>
      </p:sp>
      <p:sp>
        <p:nvSpPr>
          <p:cNvPr id="14" name="Shape 12"/>
          <p:cNvSpPr/>
          <p:nvPr/>
        </p:nvSpPr>
        <p:spPr>
          <a:xfrm>
            <a:off x="320040" y="850392"/>
            <a:ext cx="64008" cy="438912"/>
          </a:xfrm>
          <a:prstGeom prst="rect">
            <a:avLst/>
          </a:prstGeom>
          <a:solidFill>
            <a:srgbClr val="047954"/>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047954"/>
                </a:solidFill>
                <a:latin typeface="Times New Roman" panose="02020603050405020304" pitchFamily="18" charset="0"/>
                <a:cs typeface="Times New Roman" panose="02020603050405020304" pitchFamily="18" charset="0"/>
              </a:rPr>
              <a:t>Project Idea</a:t>
            </a:r>
            <a:endParaRPr lang="en-US" sz="2200" dirty="0">
              <a:latin typeface="Times New Roman" panose="02020603050405020304" pitchFamily="18" charset="0"/>
              <a:cs typeface="Times New Roman" panose="02020603050405020304" pitchFamily="18" charset="0"/>
            </a:endParaRP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sp>
        <p:nvSpPr>
          <p:cNvPr id="17" name="Shape 15"/>
          <p:cNvSpPr/>
          <p:nvPr/>
        </p:nvSpPr>
        <p:spPr>
          <a:xfrm>
            <a:off x="320040" y="1774832"/>
            <a:ext cx="2724912" cy="365760"/>
          </a:xfrm>
          <a:prstGeom prst="rect">
            <a:avLst/>
          </a:prstGeom>
          <a:solidFill>
            <a:srgbClr val="0070C0"/>
          </a:solidFill>
          <a:ln w="12700">
            <a:solidFill>
              <a:srgbClr val="047954"/>
            </a:solidFill>
            <a:prstDash val="solid"/>
          </a:ln>
        </p:spPr>
        <p:txBody>
          <a:bodyPr/>
          <a:lstStyle/>
          <a:p>
            <a:endParaRPr lang="en-US"/>
          </a:p>
        </p:txBody>
      </p:sp>
      <p:sp>
        <p:nvSpPr>
          <p:cNvPr id="18" name="Text 16"/>
          <p:cNvSpPr/>
          <p:nvPr/>
        </p:nvSpPr>
        <p:spPr>
          <a:xfrm>
            <a:off x="320040" y="1774832"/>
            <a:ext cx="2724912"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Problem</a:t>
            </a:r>
            <a:endParaRPr lang="en-US" sz="1200" dirty="0">
              <a:latin typeface="Times New Roman" panose="02020603050405020304" pitchFamily="18" charset="0"/>
              <a:cs typeface="Times New Roman" panose="02020603050405020304" pitchFamily="18" charset="0"/>
            </a:endParaRPr>
          </a:p>
        </p:txBody>
      </p:sp>
      <p:sp>
        <p:nvSpPr>
          <p:cNvPr id="19" name="Shape 17"/>
          <p:cNvSpPr/>
          <p:nvPr/>
        </p:nvSpPr>
        <p:spPr>
          <a:xfrm>
            <a:off x="308032" y="2147461"/>
            <a:ext cx="2724912" cy="2510028"/>
          </a:xfrm>
          <a:prstGeom prst="rect">
            <a:avLst/>
          </a:prstGeom>
          <a:solidFill>
            <a:srgbClr val="F5F5F5"/>
          </a:solidFill>
          <a:ln w="12700">
            <a:solidFill>
              <a:srgbClr val="DDDDDD"/>
            </a:solidFill>
            <a:prstDash val="solid"/>
          </a:ln>
        </p:spPr>
        <p:txBody>
          <a:bodyPr/>
          <a:lstStyle/>
          <a:p>
            <a:endParaRPr lang="en-US"/>
          </a:p>
        </p:txBody>
      </p:sp>
      <p:sp>
        <p:nvSpPr>
          <p:cNvPr id="20" name="Shape 18"/>
          <p:cNvSpPr/>
          <p:nvPr/>
        </p:nvSpPr>
        <p:spPr>
          <a:xfrm>
            <a:off x="457200" y="2277752"/>
            <a:ext cx="164592" cy="164592"/>
          </a:xfrm>
          <a:prstGeom prst="ellipse">
            <a:avLst/>
          </a:prstGeom>
          <a:solidFill>
            <a:srgbClr val="0070C0"/>
          </a:solidFill>
          <a:ln w="12700">
            <a:solidFill>
              <a:srgbClr val="047954"/>
            </a:solidFill>
            <a:prstDash val="solid"/>
          </a:ln>
        </p:spPr>
        <p:txBody>
          <a:bodyPr/>
          <a:lstStyle/>
          <a:p>
            <a:endParaRPr lang="en-US"/>
          </a:p>
        </p:txBody>
      </p:sp>
      <p:sp>
        <p:nvSpPr>
          <p:cNvPr id="21" name="Text 19"/>
          <p:cNvSpPr/>
          <p:nvPr/>
        </p:nvSpPr>
        <p:spPr>
          <a:xfrm>
            <a:off x="681263" y="2243443"/>
            <a:ext cx="2322576" cy="731520"/>
          </a:xfrm>
          <a:prstGeom prst="rect">
            <a:avLst/>
          </a:prstGeom>
          <a:noFill/>
          <a:ln/>
        </p:spPr>
        <p:txBody>
          <a:bodyPr wrap="square" lIns="0" tIns="0" rIns="0" bIns="0" rtlCol="0" anchor="t"/>
          <a:lstStyle/>
          <a:p>
            <a:r>
              <a:rPr lang="en-US" sz="1200" b="1" dirty="0"/>
              <a:t>Thousands of exoplanets have been discovered, making manual exploration and comparison increasingly difficult. </a:t>
            </a:r>
            <a:endParaRPr lang="en-US" sz="1200" b="1" dirty="0">
              <a:latin typeface="Times New Roman" panose="02020603050405020304" pitchFamily="18" charset="0"/>
              <a:cs typeface="Times New Roman" panose="02020603050405020304" pitchFamily="18" charset="0"/>
            </a:endParaRPr>
          </a:p>
        </p:txBody>
      </p:sp>
      <p:sp>
        <p:nvSpPr>
          <p:cNvPr id="22" name="Shape 20"/>
          <p:cNvSpPr/>
          <p:nvPr/>
        </p:nvSpPr>
        <p:spPr>
          <a:xfrm>
            <a:off x="457200" y="3082424"/>
            <a:ext cx="164592" cy="164592"/>
          </a:xfrm>
          <a:prstGeom prst="ellipse">
            <a:avLst/>
          </a:prstGeom>
          <a:solidFill>
            <a:srgbClr val="0070C0"/>
          </a:solidFill>
          <a:ln w="12700">
            <a:solidFill>
              <a:srgbClr val="047954"/>
            </a:solidFill>
            <a:prstDash val="solid"/>
          </a:ln>
        </p:spPr>
        <p:txBody>
          <a:bodyPr/>
          <a:lstStyle/>
          <a:p>
            <a:endParaRPr lang="en-US"/>
          </a:p>
        </p:txBody>
      </p:sp>
      <p:sp>
        <p:nvSpPr>
          <p:cNvPr id="23" name="Text 21"/>
          <p:cNvSpPr/>
          <p:nvPr/>
        </p:nvSpPr>
        <p:spPr>
          <a:xfrm>
            <a:off x="704088" y="3054992"/>
            <a:ext cx="2240280" cy="713232"/>
          </a:xfrm>
          <a:prstGeom prst="rect">
            <a:avLst/>
          </a:prstGeom>
          <a:noFill/>
          <a:ln/>
        </p:spPr>
        <p:txBody>
          <a:bodyPr wrap="square" lIns="0" tIns="0" rIns="0" bIns="0" rtlCol="0" anchor="t"/>
          <a:lstStyle/>
          <a:p>
            <a:r>
              <a:rPr lang="en-US" sz="1200" b="1" dirty="0"/>
              <a:t>Planetary characteristics are distributed across multiple variables, making habitability assessment complex. </a:t>
            </a:r>
            <a:endParaRPr lang="en-US" sz="1200" b="1" dirty="0">
              <a:latin typeface="Times New Roman" panose="02020603050405020304" pitchFamily="18" charset="0"/>
              <a:cs typeface="Times New Roman" panose="02020603050405020304" pitchFamily="18" charset="0"/>
            </a:endParaRPr>
          </a:p>
        </p:txBody>
      </p:sp>
      <p:sp>
        <p:nvSpPr>
          <p:cNvPr id="24" name="Shape 22"/>
          <p:cNvSpPr/>
          <p:nvPr/>
        </p:nvSpPr>
        <p:spPr>
          <a:xfrm>
            <a:off x="457200" y="3887096"/>
            <a:ext cx="164592" cy="164592"/>
          </a:xfrm>
          <a:prstGeom prst="ellipse">
            <a:avLst/>
          </a:prstGeom>
          <a:solidFill>
            <a:srgbClr val="0070C0"/>
          </a:solidFill>
          <a:ln w="12700">
            <a:solidFill>
              <a:srgbClr val="047954"/>
            </a:solidFill>
            <a:prstDash val="solid"/>
          </a:ln>
        </p:spPr>
        <p:txBody>
          <a:bodyPr/>
          <a:lstStyle/>
          <a:p>
            <a:endParaRPr lang="en-US"/>
          </a:p>
        </p:txBody>
      </p:sp>
      <p:sp>
        <p:nvSpPr>
          <p:cNvPr id="25" name="Text 23"/>
          <p:cNvSpPr/>
          <p:nvPr/>
        </p:nvSpPr>
        <p:spPr>
          <a:xfrm>
            <a:off x="704088" y="3859664"/>
            <a:ext cx="2240280" cy="713232"/>
          </a:xfrm>
          <a:prstGeom prst="rect">
            <a:avLst/>
          </a:prstGeom>
          <a:noFill/>
          <a:ln/>
        </p:spPr>
        <p:txBody>
          <a:bodyPr wrap="square" lIns="0" tIns="0" rIns="0" bIns="0" rtlCol="0" anchor="t"/>
          <a:lstStyle/>
          <a:p>
            <a:r>
              <a:rPr lang="en-US" sz="1200" b="1" dirty="0"/>
              <a:t>There is no single comprehensive metric that summarizes a planet's potential habitability using multiple environmental factors. </a:t>
            </a:r>
          </a:p>
        </p:txBody>
      </p:sp>
      <p:sp>
        <p:nvSpPr>
          <p:cNvPr id="28" name="Shape 26"/>
          <p:cNvSpPr/>
          <p:nvPr/>
        </p:nvSpPr>
        <p:spPr>
          <a:xfrm>
            <a:off x="3160960" y="2100115"/>
            <a:ext cx="2724912" cy="2503159"/>
          </a:xfrm>
          <a:prstGeom prst="rect">
            <a:avLst/>
          </a:prstGeom>
          <a:solidFill>
            <a:srgbClr val="F5F5F5"/>
          </a:solidFill>
          <a:ln w="12700">
            <a:solidFill>
              <a:srgbClr val="DDDDDD"/>
            </a:solidFill>
            <a:prstDash val="solid"/>
          </a:ln>
        </p:spPr>
        <p:txBody>
          <a:bodyPr/>
          <a:lstStyle/>
          <a:p>
            <a:endParaRPr lang="en-US"/>
          </a:p>
        </p:txBody>
      </p:sp>
      <p:sp>
        <p:nvSpPr>
          <p:cNvPr id="29" name="Shape 27"/>
          <p:cNvSpPr/>
          <p:nvPr/>
        </p:nvSpPr>
        <p:spPr>
          <a:xfrm>
            <a:off x="3310128" y="2284621"/>
            <a:ext cx="164592" cy="164592"/>
          </a:xfrm>
          <a:prstGeom prst="ellipse">
            <a:avLst/>
          </a:prstGeom>
          <a:solidFill>
            <a:srgbClr val="7030A0"/>
          </a:solidFill>
          <a:ln w="12700">
            <a:noFill/>
            <a:prstDash val="solid"/>
          </a:ln>
        </p:spPr>
        <p:txBody>
          <a:bodyPr/>
          <a:lstStyle/>
          <a:p>
            <a:endParaRPr lang="en-US"/>
          </a:p>
        </p:txBody>
      </p:sp>
      <p:sp>
        <p:nvSpPr>
          <p:cNvPr id="30" name="Text 28"/>
          <p:cNvSpPr/>
          <p:nvPr/>
        </p:nvSpPr>
        <p:spPr>
          <a:xfrm>
            <a:off x="3557016" y="2257189"/>
            <a:ext cx="2240280" cy="713232"/>
          </a:xfrm>
          <a:prstGeom prst="rect">
            <a:avLst/>
          </a:prstGeom>
          <a:noFill/>
          <a:ln/>
        </p:spPr>
        <p:txBody>
          <a:bodyPr wrap="square" lIns="0" tIns="0" rIns="0" bIns="0" rtlCol="0" anchor="t"/>
          <a:lstStyle/>
          <a:p>
            <a:r>
              <a:rPr lang="en-US" sz="1200" b="1" dirty="0"/>
              <a:t>Apply the complete data analytics pipeline to a large exoplanet dataset</a:t>
            </a:r>
            <a:endParaRPr lang="en-US" sz="1200" b="1" dirty="0">
              <a:latin typeface="Times New Roman" panose="02020603050405020304" pitchFamily="18" charset="0"/>
              <a:cs typeface="Times New Roman" panose="02020603050405020304" pitchFamily="18" charset="0"/>
            </a:endParaRPr>
          </a:p>
        </p:txBody>
      </p:sp>
      <p:sp>
        <p:nvSpPr>
          <p:cNvPr id="31" name="Shape 29"/>
          <p:cNvSpPr/>
          <p:nvPr/>
        </p:nvSpPr>
        <p:spPr>
          <a:xfrm>
            <a:off x="3317599" y="2881499"/>
            <a:ext cx="164592" cy="164592"/>
          </a:xfrm>
          <a:prstGeom prst="ellipse">
            <a:avLst/>
          </a:prstGeom>
          <a:solidFill>
            <a:srgbClr val="7030A0"/>
          </a:solidFill>
          <a:ln w="12700">
            <a:noFill/>
            <a:prstDash val="solid"/>
          </a:ln>
        </p:spPr>
        <p:txBody>
          <a:bodyPr/>
          <a:lstStyle/>
          <a:p>
            <a:endParaRPr lang="en-US" dirty="0"/>
          </a:p>
        </p:txBody>
      </p:sp>
      <p:sp>
        <p:nvSpPr>
          <p:cNvPr id="32" name="Text 30"/>
          <p:cNvSpPr/>
          <p:nvPr/>
        </p:nvSpPr>
        <p:spPr>
          <a:xfrm>
            <a:off x="3557016" y="2853486"/>
            <a:ext cx="2240280" cy="713232"/>
          </a:xfrm>
          <a:prstGeom prst="rect">
            <a:avLst/>
          </a:prstGeom>
          <a:noFill/>
          <a:ln/>
        </p:spPr>
        <p:txBody>
          <a:bodyPr wrap="square" lIns="0" tIns="0" rIns="0" bIns="0" rtlCol="0" anchor="t"/>
          <a:lstStyle/>
          <a:p>
            <a:r>
              <a:rPr lang="en-US" sz="1200" b="1" dirty="0"/>
              <a:t>Engineer composite KPIs such as Habitability Score and Planet Similarity Index using normalized astronomical features. </a:t>
            </a:r>
            <a:endParaRPr lang="en-US" sz="1200" b="1" dirty="0">
              <a:latin typeface="Times New Roman" panose="02020603050405020304" pitchFamily="18" charset="0"/>
              <a:cs typeface="Times New Roman" panose="02020603050405020304" pitchFamily="18" charset="0"/>
            </a:endParaRPr>
          </a:p>
        </p:txBody>
      </p:sp>
      <p:sp>
        <p:nvSpPr>
          <p:cNvPr id="33" name="Shape 31"/>
          <p:cNvSpPr/>
          <p:nvPr/>
        </p:nvSpPr>
        <p:spPr>
          <a:xfrm>
            <a:off x="3302086" y="3644379"/>
            <a:ext cx="164592" cy="164592"/>
          </a:xfrm>
          <a:prstGeom prst="ellipse">
            <a:avLst/>
          </a:prstGeom>
          <a:solidFill>
            <a:srgbClr val="7030A0"/>
          </a:solidFill>
          <a:ln w="12700">
            <a:noFill/>
            <a:prstDash val="solid"/>
          </a:ln>
        </p:spPr>
        <p:txBody>
          <a:bodyPr/>
          <a:lstStyle/>
          <a:p>
            <a:endParaRPr lang="en-US" dirty="0"/>
          </a:p>
        </p:txBody>
      </p:sp>
      <p:sp>
        <p:nvSpPr>
          <p:cNvPr id="34" name="Text 32"/>
          <p:cNvSpPr/>
          <p:nvPr/>
        </p:nvSpPr>
        <p:spPr>
          <a:xfrm>
            <a:off x="3555971" y="3625516"/>
            <a:ext cx="2240280" cy="713232"/>
          </a:xfrm>
          <a:prstGeom prst="rect">
            <a:avLst/>
          </a:prstGeom>
          <a:noFill/>
          <a:ln/>
        </p:spPr>
        <p:txBody>
          <a:bodyPr wrap="square" lIns="0" tIns="0" rIns="0" bIns="0" rtlCol="0" anchor="t"/>
          <a:lstStyle/>
          <a:p>
            <a:r>
              <a:rPr lang="en-US" sz="1200" b="1" dirty="0"/>
              <a:t>Build a 6-page interactive Power BI dashboard to enable efficient exploration, comparison, and visualization of potentially habitable exoplanets</a:t>
            </a:r>
            <a:r>
              <a:rPr lang="en-US" sz="1200" dirty="0"/>
              <a:t>. </a:t>
            </a:r>
          </a:p>
        </p:txBody>
      </p:sp>
      <p:sp>
        <p:nvSpPr>
          <p:cNvPr id="35" name="Shape 33"/>
          <p:cNvSpPr/>
          <p:nvPr/>
        </p:nvSpPr>
        <p:spPr>
          <a:xfrm>
            <a:off x="6025896" y="1767955"/>
            <a:ext cx="2724912" cy="365760"/>
          </a:xfrm>
          <a:prstGeom prst="rect">
            <a:avLst/>
          </a:prstGeom>
          <a:solidFill>
            <a:srgbClr val="D7B119"/>
          </a:solidFill>
          <a:ln w="12700">
            <a:solidFill>
              <a:srgbClr val="D7B119"/>
            </a:solidFill>
            <a:prstDash val="solid"/>
          </a:ln>
        </p:spPr>
        <p:txBody>
          <a:bodyPr/>
          <a:lstStyle/>
          <a:p>
            <a:endParaRPr lang="en-US"/>
          </a:p>
        </p:txBody>
      </p:sp>
      <p:sp>
        <p:nvSpPr>
          <p:cNvPr id="36" name="Text 34"/>
          <p:cNvSpPr/>
          <p:nvPr/>
        </p:nvSpPr>
        <p:spPr>
          <a:xfrm>
            <a:off x="6025896" y="1767955"/>
            <a:ext cx="2724912" cy="365760"/>
          </a:xfrm>
          <a:prstGeom prst="rect">
            <a:avLst/>
          </a:prstGeom>
          <a:solidFill>
            <a:schemeClr val="accent1">
              <a:lumMod val="50000"/>
            </a:schemeClr>
          </a:solid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Unique Value</a:t>
            </a:r>
            <a:endParaRPr lang="en-US" sz="1400" dirty="0">
              <a:latin typeface="Times New Roman" panose="02020603050405020304" pitchFamily="18" charset="0"/>
              <a:cs typeface="Times New Roman" panose="02020603050405020304" pitchFamily="18" charset="0"/>
            </a:endParaRPr>
          </a:p>
        </p:txBody>
      </p:sp>
      <p:sp>
        <p:nvSpPr>
          <p:cNvPr id="37" name="Shape 35"/>
          <p:cNvSpPr/>
          <p:nvPr/>
        </p:nvSpPr>
        <p:spPr>
          <a:xfrm>
            <a:off x="6025896" y="2089857"/>
            <a:ext cx="2724912" cy="2516905"/>
          </a:xfrm>
          <a:prstGeom prst="rect">
            <a:avLst/>
          </a:prstGeom>
          <a:solidFill>
            <a:srgbClr val="F5F5F5"/>
          </a:solidFill>
          <a:ln w="12700">
            <a:solidFill>
              <a:srgbClr val="DDDDDD"/>
            </a:solidFill>
            <a:prstDash val="solid"/>
          </a:ln>
        </p:spPr>
        <p:txBody>
          <a:bodyPr/>
          <a:lstStyle/>
          <a:p>
            <a:endParaRPr lang="en-US"/>
          </a:p>
        </p:txBody>
      </p:sp>
      <p:sp>
        <p:nvSpPr>
          <p:cNvPr id="38" name="Shape 36"/>
          <p:cNvSpPr/>
          <p:nvPr/>
        </p:nvSpPr>
        <p:spPr>
          <a:xfrm>
            <a:off x="6163056" y="2170454"/>
            <a:ext cx="164592" cy="164592"/>
          </a:xfrm>
          <a:prstGeom prst="ellipse">
            <a:avLst/>
          </a:prstGeom>
          <a:solidFill>
            <a:schemeClr val="accent1">
              <a:lumMod val="50000"/>
            </a:schemeClr>
          </a:solidFill>
          <a:ln w="12700">
            <a:noFill/>
            <a:prstDash val="solid"/>
          </a:ln>
        </p:spPr>
        <p:txBody>
          <a:bodyPr/>
          <a:lstStyle/>
          <a:p>
            <a:endParaRPr lang="en-US"/>
          </a:p>
        </p:txBody>
      </p:sp>
      <p:sp>
        <p:nvSpPr>
          <p:cNvPr id="39" name="Text 37"/>
          <p:cNvSpPr/>
          <p:nvPr/>
        </p:nvSpPr>
        <p:spPr>
          <a:xfrm>
            <a:off x="6409944" y="2141176"/>
            <a:ext cx="2157984" cy="565276"/>
          </a:xfrm>
          <a:prstGeom prst="rect">
            <a:avLst/>
          </a:prstGeom>
          <a:noFill/>
          <a:ln/>
        </p:spPr>
        <p:txBody>
          <a:bodyPr wrap="square" lIns="0" tIns="0" rIns="0" bIns="0" rtlCol="0" anchor="t"/>
          <a:lstStyle/>
          <a:p>
            <a:r>
              <a:rPr lang="en-US" sz="1050" b="1" dirty="0"/>
              <a:t>End-to-end data pipeline implemented using Microsoft Fabric and the Medallion Architecture.</a:t>
            </a:r>
          </a:p>
        </p:txBody>
      </p:sp>
      <p:sp>
        <p:nvSpPr>
          <p:cNvPr id="40" name="Shape 38"/>
          <p:cNvSpPr/>
          <p:nvPr/>
        </p:nvSpPr>
        <p:spPr>
          <a:xfrm>
            <a:off x="6156446" y="2609203"/>
            <a:ext cx="164592" cy="164592"/>
          </a:xfrm>
          <a:prstGeom prst="ellipse">
            <a:avLst/>
          </a:prstGeom>
          <a:solidFill>
            <a:schemeClr val="accent1">
              <a:lumMod val="50000"/>
            </a:schemeClr>
          </a:solidFill>
          <a:ln w="12700">
            <a:noFill/>
            <a:prstDash val="solid"/>
          </a:ln>
        </p:spPr>
        <p:txBody>
          <a:bodyPr/>
          <a:lstStyle/>
          <a:p>
            <a:endParaRPr lang="en-US"/>
          </a:p>
        </p:txBody>
      </p:sp>
      <p:sp>
        <p:nvSpPr>
          <p:cNvPr id="41" name="Text 39"/>
          <p:cNvSpPr/>
          <p:nvPr/>
        </p:nvSpPr>
        <p:spPr>
          <a:xfrm>
            <a:off x="6419088" y="2609203"/>
            <a:ext cx="2240280" cy="713232"/>
          </a:xfrm>
          <a:prstGeom prst="rect">
            <a:avLst/>
          </a:prstGeom>
          <a:noFill/>
          <a:ln/>
        </p:spPr>
        <p:txBody>
          <a:bodyPr wrap="square" lIns="0" tIns="0" rIns="0" bIns="0" rtlCol="0" anchor="t"/>
          <a:lstStyle/>
          <a:p>
            <a:r>
              <a:rPr lang="en-US" sz="1200" b="1" dirty="0"/>
              <a:t>Composite habitability metrics generated using Z-score normalization, providing deeper insights than individual planetary attributes. </a:t>
            </a:r>
            <a:endParaRPr lang="en-US" sz="1200" b="1" dirty="0">
              <a:latin typeface="Times New Roman" panose="02020603050405020304" pitchFamily="18" charset="0"/>
              <a:cs typeface="Times New Roman" panose="02020603050405020304" pitchFamily="18" charset="0"/>
            </a:endParaRPr>
          </a:p>
        </p:txBody>
      </p:sp>
      <p:sp>
        <p:nvSpPr>
          <p:cNvPr id="42" name="Shape 40"/>
          <p:cNvSpPr/>
          <p:nvPr/>
        </p:nvSpPr>
        <p:spPr>
          <a:xfrm>
            <a:off x="6163056" y="3548862"/>
            <a:ext cx="164592" cy="164592"/>
          </a:xfrm>
          <a:prstGeom prst="ellipse">
            <a:avLst/>
          </a:prstGeom>
          <a:solidFill>
            <a:schemeClr val="accent1">
              <a:lumMod val="50000"/>
            </a:schemeClr>
          </a:solidFill>
          <a:ln w="12700">
            <a:noFill/>
            <a:prstDash val="solid"/>
          </a:ln>
        </p:spPr>
        <p:txBody>
          <a:bodyPr/>
          <a:lstStyle/>
          <a:p>
            <a:endParaRPr lang="en-US"/>
          </a:p>
        </p:txBody>
      </p:sp>
      <p:sp>
        <p:nvSpPr>
          <p:cNvPr id="43" name="Text 41"/>
          <p:cNvSpPr/>
          <p:nvPr/>
        </p:nvSpPr>
        <p:spPr>
          <a:xfrm>
            <a:off x="6403528" y="3515838"/>
            <a:ext cx="2240280" cy="713233"/>
          </a:xfrm>
          <a:prstGeom prst="rect">
            <a:avLst/>
          </a:prstGeom>
          <a:noFill/>
          <a:ln/>
        </p:spPr>
        <p:txBody>
          <a:bodyPr wrap="square" lIns="0" tIns="0" rIns="0" bIns="0" rtlCol="0" anchor="t"/>
          <a:lstStyle/>
          <a:p>
            <a:r>
              <a:rPr lang="en-US" sz="1200" b="1" dirty="0"/>
              <a:t>Interactive visualizations that help researchers and decision-makers identify the most promising exoplanets for future exploration and scientific studies. </a:t>
            </a:r>
          </a:p>
        </p:txBody>
      </p:sp>
      <p:pic>
        <p:nvPicPr>
          <p:cNvPr id="44" name="Picture 2" descr="مبادرة رواد مصر الرقمية - YouTube">
            <a:extLst>
              <a:ext uri="{FF2B5EF4-FFF2-40B4-BE49-F238E27FC236}">
                <a16:creationId xmlns:a16="http://schemas.microsoft.com/office/drawing/2014/main" id="{AF39CF0E-D9EA-4765-B4BE-DDC85E9C8DF8}"/>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57373"/>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DA22021E-DFF4-471B-ABDD-19116DBF8B2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73736"/>
            <a:ext cx="1366160" cy="676656"/>
          </a:xfrm>
          <a:prstGeom prst="rect">
            <a:avLst/>
          </a:prstGeom>
          <a:noFill/>
          <a:extLst>
            <a:ext uri="{909E8E84-426E-40DD-AFC4-6F175D3DCCD1}">
              <a14:hiddenFill xmlns:a14="http://schemas.microsoft.com/office/drawing/2010/main">
                <a:solidFill>
                  <a:srgbClr val="FFFFFF"/>
                </a:solidFill>
              </a14:hiddenFill>
            </a:ext>
          </a:extLst>
        </p:spPr>
      </p:pic>
      <p:sp>
        <p:nvSpPr>
          <p:cNvPr id="69" name="Shape 24">
            <a:extLst>
              <a:ext uri="{FF2B5EF4-FFF2-40B4-BE49-F238E27FC236}">
                <a16:creationId xmlns:a16="http://schemas.microsoft.com/office/drawing/2014/main" id="{AB6F7043-88EC-448B-AD74-2B16AFC69CB1}"/>
              </a:ext>
            </a:extLst>
          </p:cNvPr>
          <p:cNvSpPr/>
          <p:nvPr/>
        </p:nvSpPr>
        <p:spPr>
          <a:xfrm>
            <a:off x="3172968" y="1768225"/>
            <a:ext cx="2724912" cy="365760"/>
          </a:xfrm>
          <a:prstGeom prst="rect">
            <a:avLst/>
          </a:prstGeom>
          <a:solidFill>
            <a:srgbClr val="7030A0"/>
          </a:solidFill>
          <a:ln w="12700">
            <a:noFill/>
            <a:prstDash val="solid"/>
          </a:ln>
        </p:spPr>
        <p:txBody>
          <a:bodyPr/>
          <a:lstStyle/>
          <a:p>
            <a:endParaRPr lang="en-US"/>
          </a:p>
        </p:txBody>
      </p:sp>
      <p:sp>
        <p:nvSpPr>
          <p:cNvPr id="70" name="Text 25">
            <a:extLst>
              <a:ext uri="{FF2B5EF4-FFF2-40B4-BE49-F238E27FC236}">
                <a16:creationId xmlns:a16="http://schemas.microsoft.com/office/drawing/2014/main" id="{D04337BF-AD5D-49DA-9ADC-1B81CDFFEFD9}"/>
              </a:ext>
            </a:extLst>
          </p:cNvPr>
          <p:cNvSpPr/>
          <p:nvPr/>
        </p:nvSpPr>
        <p:spPr>
          <a:xfrm>
            <a:off x="3172968" y="1761213"/>
            <a:ext cx="2724912"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Solution</a:t>
            </a:r>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10242" name="Picture 2">
            <a:extLst>
              <a:ext uri="{FF2B5EF4-FFF2-40B4-BE49-F238E27FC236}">
                <a16:creationId xmlns:a16="http://schemas.microsoft.com/office/drawing/2014/main" id="{E4812540-0FF8-4A2B-9BB8-93D4A6FF7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5720" y="482518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47437F9-86DE-70C5-621B-3FEFE7EC68E8}"/>
              </a:ext>
            </a:extLst>
          </p:cNvPr>
          <p:cNvPicPr>
            <a:picLocks noChangeAspect="1"/>
          </p:cNvPicPr>
          <p:nvPr/>
        </p:nvPicPr>
        <p:blipFill>
          <a:blip r:embed="rId6"/>
          <a:stretch>
            <a:fillRect/>
          </a:stretch>
        </p:blipFill>
        <p:spPr>
          <a:xfrm>
            <a:off x="1457953" y="1164444"/>
            <a:ext cx="621810" cy="621810"/>
          </a:xfrm>
          <a:prstGeom prst="rect">
            <a:avLst/>
          </a:prstGeom>
        </p:spPr>
      </p:pic>
      <p:pic>
        <p:nvPicPr>
          <p:cNvPr id="10" name="Picture 9">
            <a:extLst>
              <a:ext uri="{FF2B5EF4-FFF2-40B4-BE49-F238E27FC236}">
                <a16:creationId xmlns:a16="http://schemas.microsoft.com/office/drawing/2014/main" id="{97F1EC3C-5E98-DC2E-63C8-F676915712B0}"/>
              </a:ext>
            </a:extLst>
          </p:cNvPr>
          <p:cNvPicPr>
            <a:picLocks noChangeAspect="1"/>
          </p:cNvPicPr>
          <p:nvPr/>
        </p:nvPicPr>
        <p:blipFill>
          <a:blip r:embed="rId7"/>
          <a:stretch>
            <a:fillRect/>
          </a:stretch>
        </p:blipFill>
        <p:spPr>
          <a:xfrm>
            <a:off x="4256016" y="1156565"/>
            <a:ext cx="615618" cy="615618"/>
          </a:xfrm>
          <a:prstGeom prst="rect">
            <a:avLst/>
          </a:prstGeom>
        </p:spPr>
      </p:pic>
      <p:pic>
        <p:nvPicPr>
          <p:cNvPr id="26" name="Picture 25">
            <a:extLst>
              <a:ext uri="{FF2B5EF4-FFF2-40B4-BE49-F238E27FC236}">
                <a16:creationId xmlns:a16="http://schemas.microsoft.com/office/drawing/2014/main" id="{52986E55-6095-5B54-09CD-B170A69E37A1}"/>
              </a:ext>
            </a:extLst>
          </p:cNvPr>
          <p:cNvPicPr>
            <a:picLocks noChangeAspect="1"/>
          </p:cNvPicPr>
          <p:nvPr/>
        </p:nvPicPr>
        <p:blipFill>
          <a:blip r:embed="rId8"/>
          <a:stretch>
            <a:fillRect/>
          </a:stretch>
        </p:blipFill>
        <p:spPr>
          <a:xfrm flipH="1">
            <a:off x="7117972" y="1245601"/>
            <a:ext cx="568075" cy="5680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3</a:t>
            </a:r>
            <a:endParaRPr lang="en-US" sz="1000" dirty="0"/>
          </a:p>
        </p:txBody>
      </p:sp>
      <p:sp>
        <p:nvSpPr>
          <p:cNvPr id="14" name="Shape 12"/>
          <p:cNvSpPr/>
          <p:nvPr/>
        </p:nvSpPr>
        <p:spPr>
          <a:xfrm>
            <a:off x="320040" y="850392"/>
            <a:ext cx="64008" cy="438912"/>
          </a:xfrm>
          <a:prstGeom prst="rect">
            <a:avLst/>
          </a:prstGeom>
          <a:solidFill>
            <a:srgbClr val="047954"/>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047954"/>
                </a:solidFill>
                <a:latin typeface="Times New Roman" panose="02020603050405020304" pitchFamily="18" charset="0"/>
                <a:cs typeface="Times New Roman" panose="02020603050405020304" pitchFamily="18" charset="0"/>
              </a:rPr>
              <a:t>Project Wireframe — Power BI Dashboard</a:t>
            </a:r>
            <a:endParaRPr lang="en-US" sz="2200" dirty="0">
              <a:latin typeface="Times New Roman" panose="02020603050405020304" pitchFamily="18" charset="0"/>
              <a:cs typeface="Times New Roman" panose="02020603050405020304" pitchFamily="18" charset="0"/>
            </a:endParaRP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sp>
        <p:nvSpPr>
          <p:cNvPr id="17" name="Text 15"/>
          <p:cNvSpPr/>
          <p:nvPr/>
        </p:nvSpPr>
        <p:spPr>
          <a:xfrm>
            <a:off x="320040" y="1335023"/>
            <a:ext cx="8503920" cy="274320"/>
          </a:xfrm>
          <a:prstGeom prst="rect">
            <a:avLst/>
          </a:prstGeom>
          <a:noFill/>
          <a:ln/>
        </p:spPr>
        <p:txBody>
          <a:bodyPr wrap="square" lIns="0" tIns="0" rIns="0" bIns="0" rtlCol="0" anchor="ctr"/>
          <a:lstStyle/>
          <a:p>
            <a:r>
              <a:rPr lang="en-US" sz="1000" i="1" dirty="0"/>
              <a:t>The final deliverable is a 6-page interactive Power BI dashboard: “Habitable Exoplanets Discovery &amp; Analysis Dashboard”</a:t>
            </a:r>
            <a:endParaRPr lang="en-US" sz="1000" dirty="0"/>
          </a:p>
        </p:txBody>
      </p:sp>
      <p:sp>
        <p:nvSpPr>
          <p:cNvPr id="18" name="Shape 16"/>
          <p:cNvSpPr/>
          <p:nvPr/>
        </p:nvSpPr>
        <p:spPr>
          <a:xfrm>
            <a:off x="10656" y="2211749"/>
            <a:ext cx="1481328" cy="1988820"/>
          </a:xfrm>
          <a:prstGeom prst="rect">
            <a:avLst/>
          </a:prstGeom>
          <a:solidFill>
            <a:srgbClr val="F5F5F5"/>
          </a:solidFill>
          <a:ln w="12700">
            <a:solidFill>
              <a:srgbClr val="DDDDDD"/>
            </a:solidFill>
            <a:prstDash val="solid"/>
          </a:ln>
        </p:spPr>
        <p:txBody>
          <a:bodyPr/>
          <a:lstStyle/>
          <a:p>
            <a:endParaRPr lang="en-US"/>
          </a:p>
        </p:txBody>
      </p:sp>
      <p:sp>
        <p:nvSpPr>
          <p:cNvPr id="19" name="Shape 17"/>
          <p:cNvSpPr/>
          <p:nvPr/>
        </p:nvSpPr>
        <p:spPr>
          <a:xfrm>
            <a:off x="10656" y="2211749"/>
            <a:ext cx="1481328" cy="502920"/>
          </a:xfrm>
          <a:prstGeom prst="rect">
            <a:avLst/>
          </a:prstGeom>
          <a:solidFill>
            <a:srgbClr val="336EA8"/>
          </a:solidFill>
          <a:ln w="12700">
            <a:solidFill>
              <a:srgbClr val="336EA8"/>
            </a:solidFill>
            <a:prstDash val="solid"/>
          </a:ln>
        </p:spPr>
        <p:txBody>
          <a:bodyPr/>
          <a:lstStyle/>
          <a:p>
            <a:endParaRPr lang="en-US"/>
          </a:p>
        </p:txBody>
      </p:sp>
      <p:sp>
        <p:nvSpPr>
          <p:cNvPr id="20" name="Shape 18"/>
          <p:cNvSpPr/>
          <p:nvPr/>
        </p:nvSpPr>
        <p:spPr>
          <a:xfrm>
            <a:off x="605016" y="2259808"/>
            <a:ext cx="411480" cy="411480"/>
          </a:xfrm>
          <a:prstGeom prst="ellipse">
            <a:avLst/>
          </a:prstGeom>
          <a:solidFill>
            <a:srgbClr val="FFFFFF"/>
          </a:solidFill>
          <a:ln w="12700">
            <a:solidFill>
              <a:srgbClr val="FFFFFF"/>
            </a:solidFill>
            <a:prstDash val="solid"/>
          </a:ln>
        </p:spPr>
        <p:txBody>
          <a:bodyPr/>
          <a:lstStyle/>
          <a:p>
            <a:endParaRPr lang="en-US"/>
          </a:p>
        </p:txBody>
      </p:sp>
      <p:sp>
        <p:nvSpPr>
          <p:cNvPr id="21" name="Text 19"/>
          <p:cNvSpPr/>
          <p:nvPr/>
        </p:nvSpPr>
        <p:spPr>
          <a:xfrm>
            <a:off x="605016" y="2259808"/>
            <a:ext cx="411480" cy="411480"/>
          </a:xfrm>
          <a:prstGeom prst="rect">
            <a:avLst/>
          </a:prstGeom>
          <a:noFill/>
          <a:ln/>
        </p:spPr>
        <p:txBody>
          <a:bodyPr wrap="square" lIns="0" tIns="0" rIns="0" bIns="0" rtlCol="0" anchor="ctr"/>
          <a:lstStyle/>
          <a:p>
            <a:pPr marL="0" indent="0" algn="ctr">
              <a:buNone/>
            </a:pPr>
            <a:r>
              <a:rPr lang="en-US" sz="1100" b="1" dirty="0">
                <a:solidFill>
                  <a:srgbClr val="047954"/>
                </a:solidFill>
              </a:rPr>
              <a:t>01</a:t>
            </a:r>
            <a:endParaRPr lang="en-US" sz="1100" dirty="0"/>
          </a:p>
        </p:txBody>
      </p:sp>
      <p:sp>
        <p:nvSpPr>
          <p:cNvPr id="22" name="Text 20"/>
          <p:cNvSpPr/>
          <p:nvPr/>
        </p:nvSpPr>
        <p:spPr>
          <a:xfrm>
            <a:off x="83808" y="2714669"/>
            <a:ext cx="1481328" cy="320040"/>
          </a:xfrm>
          <a:prstGeom prst="rect">
            <a:avLst/>
          </a:prstGeom>
          <a:noFill/>
          <a:ln/>
        </p:spPr>
        <p:txBody>
          <a:bodyPr wrap="square" lIns="0" tIns="0" rIns="0" bIns="0" rtlCol="0" anchor="ctr"/>
          <a:lstStyle/>
          <a:p>
            <a:pPr marL="0" indent="0" algn="ctr">
              <a:buNone/>
            </a:pPr>
            <a:r>
              <a:rPr lang="en-US" sz="1200" b="1" dirty="0">
                <a:solidFill>
                  <a:srgbClr val="0070C0"/>
                </a:solidFill>
              </a:rPr>
              <a:t>Executive Overview</a:t>
            </a:r>
            <a:endParaRPr lang="en-US" sz="1200" dirty="0">
              <a:solidFill>
                <a:srgbClr val="0070C0"/>
              </a:solidFill>
            </a:endParaRPr>
          </a:p>
        </p:txBody>
      </p:sp>
      <p:sp>
        <p:nvSpPr>
          <p:cNvPr id="23" name="Text 21"/>
          <p:cNvSpPr/>
          <p:nvPr/>
        </p:nvSpPr>
        <p:spPr>
          <a:xfrm>
            <a:off x="67692" y="2914642"/>
            <a:ext cx="1444752" cy="1371600"/>
          </a:xfrm>
          <a:prstGeom prst="rect">
            <a:avLst/>
          </a:prstGeom>
          <a:noFill/>
          <a:ln/>
        </p:spPr>
        <p:txBody>
          <a:bodyPr wrap="square" lIns="0" tIns="0" rIns="0" bIns="0" rtlCol="0" anchor="ctr"/>
          <a:lstStyle/>
          <a:p>
            <a:pPr algn="ctr"/>
            <a:r>
              <a:rPr lang="en-US" sz="1000" b="1" dirty="0"/>
              <a:t>High-level snapshot</a:t>
            </a:r>
          </a:p>
          <a:p>
            <a:pPr algn="ctr"/>
            <a:r>
              <a:rPr lang="en-US" sz="1000" b="1" dirty="0"/>
              <a:t> Total Exoplanets, Potentially Habitable Planets, Average Distance from Earth, Earth Similarity Index (ESI), Habitability Score</a:t>
            </a:r>
            <a:br>
              <a:rPr lang="en-US" sz="1000" b="1" dirty="0"/>
            </a:br>
            <a:endParaRPr lang="en-US" sz="1000" b="1" dirty="0"/>
          </a:p>
        </p:txBody>
      </p:sp>
      <p:sp>
        <p:nvSpPr>
          <p:cNvPr id="24" name="Shape 22"/>
          <p:cNvSpPr/>
          <p:nvPr/>
        </p:nvSpPr>
        <p:spPr>
          <a:xfrm>
            <a:off x="1516134" y="2199860"/>
            <a:ext cx="1493907" cy="1988820"/>
          </a:xfrm>
          <a:prstGeom prst="rect">
            <a:avLst/>
          </a:prstGeom>
          <a:solidFill>
            <a:srgbClr val="F5F5F5"/>
          </a:solidFill>
          <a:ln w="12700">
            <a:solidFill>
              <a:srgbClr val="DDDDDD"/>
            </a:solidFill>
            <a:prstDash val="solid"/>
          </a:ln>
        </p:spPr>
        <p:txBody>
          <a:bodyPr/>
          <a:lstStyle/>
          <a:p>
            <a:endParaRPr lang="en-US"/>
          </a:p>
        </p:txBody>
      </p:sp>
      <p:sp>
        <p:nvSpPr>
          <p:cNvPr id="25" name="Shape 23"/>
          <p:cNvSpPr/>
          <p:nvPr/>
        </p:nvSpPr>
        <p:spPr>
          <a:xfrm>
            <a:off x="1537227" y="2211749"/>
            <a:ext cx="1493907" cy="502920"/>
          </a:xfrm>
          <a:prstGeom prst="rect">
            <a:avLst/>
          </a:prstGeom>
          <a:solidFill>
            <a:srgbClr val="336EA8"/>
          </a:solidFill>
          <a:ln w="12700">
            <a:solidFill>
              <a:srgbClr val="336EA8"/>
            </a:solidFill>
            <a:prstDash val="solid"/>
          </a:ln>
        </p:spPr>
        <p:txBody>
          <a:bodyPr/>
          <a:lstStyle/>
          <a:p>
            <a:endParaRPr lang="en-US"/>
          </a:p>
        </p:txBody>
      </p:sp>
      <p:sp>
        <p:nvSpPr>
          <p:cNvPr id="26" name="Shape 24"/>
          <p:cNvSpPr/>
          <p:nvPr/>
        </p:nvSpPr>
        <p:spPr>
          <a:xfrm>
            <a:off x="2124713" y="2259808"/>
            <a:ext cx="411480" cy="411480"/>
          </a:xfrm>
          <a:prstGeom prst="ellipse">
            <a:avLst/>
          </a:prstGeom>
          <a:solidFill>
            <a:srgbClr val="FFFFFF"/>
          </a:solidFill>
          <a:ln w="12700">
            <a:solidFill>
              <a:srgbClr val="FFFFFF"/>
            </a:solidFill>
            <a:prstDash val="solid"/>
          </a:ln>
        </p:spPr>
        <p:txBody>
          <a:bodyPr/>
          <a:lstStyle/>
          <a:p>
            <a:endParaRPr lang="en-US"/>
          </a:p>
        </p:txBody>
      </p:sp>
      <p:sp>
        <p:nvSpPr>
          <p:cNvPr id="27" name="Text 25"/>
          <p:cNvSpPr/>
          <p:nvPr/>
        </p:nvSpPr>
        <p:spPr>
          <a:xfrm>
            <a:off x="2110962" y="2259808"/>
            <a:ext cx="411480" cy="411480"/>
          </a:xfrm>
          <a:prstGeom prst="rect">
            <a:avLst/>
          </a:prstGeom>
          <a:noFill/>
          <a:ln/>
        </p:spPr>
        <p:txBody>
          <a:bodyPr wrap="square" lIns="0" tIns="0" rIns="0" bIns="0" rtlCol="0" anchor="ctr"/>
          <a:lstStyle/>
          <a:p>
            <a:pPr marL="0" indent="0" algn="ctr">
              <a:buNone/>
            </a:pPr>
            <a:r>
              <a:rPr lang="en-US" sz="1100" b="1" dirty="0">
                <a:solidFill>
                  <a:srgbClr val="0FAB7D"/>
                </a:solidFill>
              </a:rPr>
              <a:t>02</a:t>
            </a:r>
            <a:endParaRPr lang="en-US" sz="1100" dirty="0"/>
          </a:p>
        </p:txBody>
      </p:sp>
      <p:sp>
        <p:nvSpPr>
          <p:cNvPr id="28" name="Text 26"/>
          <p:cNvSpPr/>
          <p:nvPr/>
        </p:nvSpPr>
        <p:spPr>
          <a:xfrm>
            <a:off x="1585595" y="2714669"/>
            <a:ext cx="1481328" cy="320040"/>
          </a:xfrm>
          <a:prstGeom prst="rect">
            <a:avLst/>
          </a:prstGeom>
          <a:noFill/>
          <a:ln/>
        </p:spPr>
        <p:txBody>
          <a:bodyPr wrap="square" lIns="0" tIns="0" rIns="0" bIns="0" rtlCol="0" anchor="ctr"/>
          <a:lstStyle/>
          <a:p>
            <a:pPr algn="ctr"/>
            <a:r>
              <a:rPr lang="en-US" sz="1200" b="1" dirty="0">
                <a:solidFill>
                  <a:srgbClr val="0070C0"/>
                </a:solidFill>
              </a:rPr>
              <a:t>Planet Discovery</a:t>
            </a:r>
          </a:p>
        </p:txBody>
      </p:sp>
      <p:sp>
        <p:nvSpPr>
          <p:cNvPr id="29" name="Text 27"/>
          <p:cNvSpPr/>
          <p:nvPr/>
        </p:nvSpPr>
        <p:spPr>
          <a:xfrm>
            <a:off x="1584471" y="2955249"/>
            <a:ext cx="1378947" cy="1351624"/>
          </a:xfrm>
          <a:prstGeom prst="rect">
            <a:avLst/>
          </a:prstGeom>
          <a:noFill/>
          <a:ln/>
        </p:spPr>
        <p:txBody>
          <a:bodyPr wrap="square" lIns="0" tIns="0" rIns="0" bIns="0" rtlCol="0" anchor="ctr"/>
          <a:lstStyle/>
          <a:p>
            <a:pPr algn="ctr"/>
            <a:r>
              <a:rPr lang="en-US" sz="1000" b="1" dirty="0"/>
              <a:t>Discovery insights &amp; trends , Discovery Method, Discovery by Year, Telescope Used, Number of New Discoveries, Confirmed vs Candidate Planets</a:t>
            </a:r>
            <a:br>
              <a:rPr lang="en-US" sz="1000" b="1" dirty="0"/>
            </a:br>
            <a:endParaRPr lang="en-US" sz="1000" b="1" dirty="0"/>
          </a:p>
        </p:txBody>
      </p:sp>
      <p:sp>
        <p:nvSpPr>
          <p:cNvPr id="30" name="Shape 28"/>
          <p:cNvSpPr/>
          <p:nvPr/>
        </p:nvSpPr>
        <p:spPr>
          <a:xfrm>
            <a:off x="3102568" y="2211749"/>
            <a:ext cx="1421378" cy="1988820"/>
          </a:xfrm>
          <a:prstGeom prst="rect">
            <a:avLst/>
          </a:prstGeom>
          <a:solidFill>
            <a:srgbClr val="F5F5F5"/>
          </a:solidFill>
          <a:ln w="12700">
            <a:solidFill>
              <a:srgbClr val="DDDDDD"/>
            </a:solidFill>
            <a:prstDash val="solid"/>
          </a:ln>
        </p:spPr>
        <p:txBody>
          <a:bodyPr/>
          <a:lstStyle/>
          <a:p>
            <a:endParaRPr lang="en-US"/>
          </a:p>
        </p:txBody>
      </p:sp>
      <p:sp>
        <p:nvSpPr>
          <p:cNvPr id="31" name="Shape 29"/>
          <p:cNvSpPr/>
          <p:nvPr/>
        </p:nvSpPr>
        <p:spPr>
          <a:xfrm>
            <a:off x="3091294" y="2225498"/>
            <a:ext cx="1407625" cy="502920"/>
          </a:xfrm>
          <a:prstGeom prst="rect">
            <a:avLst/>
          </a:prstGeom>
          <a:solidFill>
            <a:srgbClr val="336EA8"/>
          </a:solidFill>
          <a:ln w="12700">
            <a:solidFill>
              <a:srgbClr val="336EA8"/>
            </a:solidFill>
            <a:prstDash val="solid"/>
          </a:ln>
        </p:spPr>
        <p:txBody>
          <a:bodyPr/>
          <a:lstStyle/>
          <a:p>
            <a:endParaRPr lang="en-US"/>
          </a:p>
        </p:txBody>
      </p:sp>
      <p:sp>
        <p:nvSpPr>
          <p:cNvPr id="32" name="Shape 30"/>
          <p:cNvSpPr/>
          <p:nvPr/>
        </p:nvSpPr>
        <p:spPr>
          <a:xfrm>
            <a:off x="3651279" y="2259496"/>
            <a:ext cx="411480" cy="411480"/>
          </a:xfrm>
          <a:prstGeom prst="ellipse">
            <a:avLst/>
          </a:prstGeom>
          <a:solidFill>
            <a:srgbClr val="FFFFFF"/>
          </a:solidFill>
          <a:ln w="12700">
            <a:solidFill>
              <a:srgbClr val="FFFFFF"/>
            </a:solidFill>
            <a:prstDash val="solid"/>
          </a:ln>
        </p:spPr>
        <p:txBody>
          <a:bodyPr/>
          <a:lstStyle/>
          <a:p>
            <a:endParaRPr lang="en-US" dirty="0"/>
          </a:p>
        </p:txBody>
      </p:sp>
      <p:sp>
        <p:nvSpPr>
          <p:cNvPr id="33" name="Text 31"/>
          <p:cNvSpPr/>
          <p:nvPr/>
        </p:nvSpPr>
        <p:spPr>
          <a:xfrm>
            <a:off x="3658151" y="2259808"/>
            <a:ext cx="411480" cy="411480"/>
          </a:xfrm>
          <a:prstGeom prst="rect">
            <a:avLst/>
          </a:prstGeom>
          <a:noFill/>
          <a:ln/>
        </p:spPr>
        <p:txBody>
          <a:bodyPr wrap="square" lIns="0" tIns="0" rIns="0" bIns="0" rtlCol="0" anchor="ctr"/>
          <a:lstStyle/>
          <a:p>
            <a:pPr marL="0" indent="0" algn="ctr">
              <a:buNone/>
            </a:pPr>
            <a:r>
              <a:rPr lang="en-US" sz="1100" b="1" dirty="0">
                <a:solidFill>
                  <a:srgbClr val="336EA8"/>
                </a:solidFill>
              </a:rPr>
              <a:t>03</a:t>
            </a:r>
            <a:endParaRPr lang="en-US" sz="1100" dirty="0"/>
          </a:p>
        </p:txBody>
      </p:sp>
      <p:sp>
        <p:nvSpPr>
          <p:cNvPr id="34" name="Text 32"/>
          <p:cNvSpPr/>
          <p:nvPr/>
        </p:nvSpPr>
        <p:spPr>
          <a:xfrm>
            <a:off x="3109856" y="2814526"/>
            <a:ext cx="1372975" cy="320040"/>
          </a:xfrm>
          <a:prstGeom prst="rect">
            <a:avLst/>
          </a:prstGeom>
          <a:noFill/>
          <a:ln/>
        </p:spPr>
        <p:txBody>
          <a:bodyPr wrap="square" lIns="0" tIns="0" rIns="0" bIns="0" rtlCol="0" anchor="ctr"/>
          <a:lstStyle/>
          <a:p>
            <a:pPr algn="ctr"/>
            <a:r>
              <a:rPr lang="en-US" sz="1200" b="1" dirty="0">
                <a:solidFill>
                  <a:srgbClr val="0070C0"/>
                </a:solidFill>
              </a:rPr>
              <a:t>Planet Characteristics</a:t>
            </a:r>
          </a:p>
        </p:txBody>
      </p:sp>
      <p:sp>
        <p:nvSpPr>
          <p:cNvPr id="35" name="Text 33"/>
          <p:cNvSpPr/>
          <p:nvPr/>
        </p:nvSpPr>
        <p:spPr>
          <a:xfrm>
            <a:off x="3170262" y="2908696"/>
            <a:ext cx="1345475" cy="1085287"/>
          </a:xfrm>
          <a:prstGeom prst="rect">
            <a:avLst/>
          </a:prstGeom>
          <a:noFill/>
          <a:ln/>
        </p:spPr>
        <p:txBody>
          <a:bodyPr wrap="square" lIns="0" tIns="0" rIns="0" bIns="0" rtlCol="0" anchor="ctr"/>
          <a:lstStyle/>
          <a:p>
            <a:pPr algn="ctr"/>
            <a:r>
              <a:rPr lang="en-US" sz="1000" b="1" dirty="0"/>
              <a:t>Physical properties, Planet Radius, Planet Mass, Surface Gravity, Density, Planet Type, Earth Similarity Index</a:t>
            </a:r>
          </a:p>
        </p:txBody>
      </p:sp>
      <p:sp>
        <p:nvSpPr>
          <p:cNvPr id="36" name="Shape 34"/>
          <p:cNvSpPr/>
          <p:nvPr/>
        </p:nvSpPr>
        <p:spPr>
          <a:xfrm>
            <a:off x="4569735" y="2211749"/>
            <a:ext cx="1467576" cy="1988820"/>
          </a:xfrm>
          <a:prstGeom prst="rect">
            <a:avLst/>
          </a:prstGeom>
          <a:solidFill>
            <a:srgbClr val="F5F5F5"/>
          </a:solidFill>
          <a:ln w="12700">
            <a:solidFill>
              <a:srgbClr val="DDDDDD"/>
            </a:solidFill>
            <a:prstDash val="solid"/>
          </a:ln>
        </p:spPr>
        <p:txBody>
          <a:bodyPr/>
          <a:lstStyle/>
          <a:p>
            <a:endParaRPr lang="en-US"/>
          </a:p>
        </p:txBody>
      </p:sp>
      <p:sp>
        <p:nvSpPr>
          <p:cNvPr id="37" name="Shape 35"/>
          <p:cNvSpPr/>
          <p:nvPr/>
        </p:nvSpPr>
        <p:spPr>
          <a:xfrm>
            <a:off x="4569735" y="2211749"/>
            <a:ext cx="1481192" cy="502920"/>
          </a:xfrm>
          <a:prstGeom prst="rect">
            <a:avLst/>
          </a:prstGeom>
          <a:solidFill>
            <a:srgbClr val="336EA8"/>
          </a:solidFill>
          <a:ln w="12700">
            <a:solidFill>
              <a:srgbClr val="336EA8"/>
            </a:solidFill>
            <a:prstDash val="solid"/>
          </a:ln>
        </p:spPr>
        <p:txBody>
          <a:bodyPr/>
          <a:lstStyle/>
          <a:p>
            <a:endParaRPr lang="en-US"/>
          </a:p>
        </p:txBody>
      </p:sp>
      <p:sp>
        <p:nvSpPr>
          <p:cNvPr id="38" name="Shape 36"/>
          <p:cNvSpPr/>
          <p:nvPr/>
        </p:nvSpPr>
        <p:spPr>
          <a:xfrm>
            <a:off x="5177844" y="2259808"/>
            <a:ext cx="411480" cy="411480"/>
          </a:xfrm>
          <a:prstGeom prst="ellipse">
            <a:avLst/>
          </a:prstGeom>
          <a:solidFill>
            <a:srgbClr val="FFFFFF"/>
          </a:solidFill>
          <a:ln w="12700">
            <a:solidFill>
              <a:srgbClr val="FFFFFF"/>
            </a:solidFill>
            <a:prstDash val="solid"/>
          </a:ln>
        </p:spPr>
        <p:txBody>
          <a:bodyPr/>
          <a:lstStyle/>
          <a:p>
            <a:endParaRPr lang="en-US"/>
          </a:p>
        </p:txBody>
      </p:sp>
      <p:sp>
        <p:nvSpPr>
          <p:cNvPr id="39" name="Text 37"/>
          <p:cNvSpPr/>
          <p:nvPr/>
        </p:nvSpPr>
        <p:spPr>
          <a:xfrm>
            <a:off x="5177844" y="2259808"/>
            <a:ext cx="411480" cy="411480"/>
          </a:xfrm>
          <a:prstGeom prst="rect">
            <a:avLst/>
          </a:prstGeom>
          <a:noFill/>
          <a:ln/>
        </p:spPr>
        <p:txBody>
          <a:bodyPr wrap="square" lIns="0" tIns="0" rIns="0" bIns="0" rtlCol="0" anchor="ctr"/>
          <a:lstStyle/>
          <a:p>
            <a:pPr marL="0" indent="0" algn="ctr">
              <a:buNone/>
            </a:pPr>
            <a:r>
              <a:rPr lang="en-US" sz="1100" b="1" dirty="0">
                <a:solidFill>
                  <a:srgbClr val="0070C0"/>
                </a:solidFill>
              </a:rPr>
              <a:t>04</a:t>
            </a:r>
            <a:endParaRPr lang="en-US" sz="1100" dirty="0">
              <a:solidFill>
                <a:srgbClr val="0070C0"/>
              </a:solidFill>
            </a:endParaRPr>
          </a:p>
        </p:txBody>
      </p:sp>
      <p:sp>
        <p:nvSpPr>
          <p:cNvPr id="40" name="Text 38"/>
          <p:cNvSpPr/>
          <p:nvPr/>
        </p:nvSpPr>
        <p:spPr>
          <a:xfrm>
            <a:off x="4585821" y="2791040"/>
            <a:ext cx="1481328" cy="320040"/>
          </a:xfrm>
          <a:prstGeom prst="rect">
            <a:avLst/>
          </a:prstGeom>
          <a:noFill/>
          <a:ln/>
        </p:spPr>
        <p:txBody>
          <a:bodyPr wrap="square" lIns="0" tIns="0" rIns="0" bIns="0" rtlCol="0" anchor="ctr"/>
          <a:lstStyle/>
          <a:p>
            <a:pPr algn="ctr"/>
            <a:r>
              <a:rPr lang="en-US" sz="1200" b="1" dirty="0">
                <a:solidFill>
                  <a:srgbClr val="0070C0"/>
                </a:solidFill>
              </a:rPr>
              <a:t>Star &amp; Orbit Analysis</a:t>
            </a:r>
          </a:p>
        </p:txBody>
      </p:sp>
      <p:sp>
        <p:nvSpPr>
          <p:cNvPr id="41" name="Text 39"/>
          <p:cNvSpPr/>
          <p:nvPr/>
        </p:nvSpPr>
        <p:spPr>
          <a:xfrm>
            <a:off x="4606174" y="2869632"/>
            <a:ext cx="1444752" cy="1371600"/>
          </a:xfrm>
          <a:prstGeom prst="rect">
            <a:avLst/>
          </a:prstGeom>
          <a:noFill/>
          <a:ln/>
        </p:spPr>
        <p:txBody>
          <a:bodyPr wrap="square" lIns="0" tIns="0" rIns="0" bIns="0" rtlCol="0" anchor="ctr"/>
          <a:lstStyle/>
          <a:p>
            <a:pPr algn="ctr"/>
            <a:r>
              <a:rPr lang="en-US" sz="1000" b="1" dirty="0"/>
              <a:t>Host star and orbital conditions, Host Star, Temperature, Stellar Mass, Stellar Radius, Orbital Period, Distance from Star, Habitable Zone Status</a:t>
            </a:r>
          </a:p>
        </p:txBody>
      </p:sp>
      <p:sp>
        <p:nvSpPr>
          <p:cNvPr id="42" name="Shape 40"/>
          <p:cNvSpPr/>
          <p:nvPr/>
        </p:nvSpPr>
        <p:spPr>
          <a:xfrm>
            <a:off x="6089426" y="2211749"/>
            <a:ext cx="1529317" cy="1988820"/>
          </a:xfrm>
          <a:prstGeom prst="rect">
            <a:avLst/>
          </a:prstGeom>
          <a:solidFill>
            <a:srgbClr val="F5F5F5"/>
          </a:solidFill>
          <a:ln w="12700">
            <a:solidFill>
              <a:srgbClr val="DDDDDD"/>
            </a:solidFill>
            <a:prstDash val="solid"/>
          </a:ln>
        </p:spPr>
        <p:txBody>
          <a:bodyPr/>
          <a:lstStyle/>
          <a:p>
            <a:endParaRPr lang="en-US"/>
          </a:p>
        </p:txBody>
      </p:sp>
      <p:sp>
        <p:nvSpPr>
          <p:cNvPr id="43" name="Shape 41"/>
          <p:cNvSpPr/>
          <p:nvPr/>
        </p:nvSpPr>
        <p:spPr>
          <a:xfrm>
            <a:off x="6089426" y="2211749"/>
            <a:ext cx="1529317" cy="502920"/>
          </a:xfrm>
          <a:prstGeom prst="rect">
            <a:avLst/>
          </a:prstGeom>
          <a:solidFill>
            <a:srgbClr val="336EA8"/>
          </a:solidFill>
          <a:ln w="12700">
            <a:solidFill>
              <a:srgbClr val="336EA8"/>
            </a:solidFill>
            <a:prstDash val="solid"/>
          </a:ln>
        </p:spPr>
        <p:txBody>
          <a:bodyPr/>
          <a:lstStyle/>
          <a:p>
            <a:endParaRPr lang="en-US"/>
          </a:p>
        </p:txBody>
      </p:sp>
      <p:sp>
        <p:nvSpPr>
          <p:cNvPr id="44" name="Shape 42"/>
          <p:cNvSpPr/>
          <p:nvPr/>
        </p:nvSpPr>
        <p:spPr>
          <a:xfrm>
            <a:off x="6683786" y="2259808"/>
            <a:ext cx="411480" cy="411480"/>
          </a:xfrm>
          <a:prstGeom prst="ellipse">
            <a:avLst/>
          </a:prstGeom>
          <a:solidFill>
            <a:srgbClr val="FFFFFF"/>
          </a:solidFill>
          <a:ln w="12700">
            <a:solidFill>
              <a:srgbClr val="FFFFFF"/>
            </a:solidFill>
            <a:prstDash val="solid"/>
          </a:ln>
        </p:spPr>
        <p:txBody>
          <a:bodyPr/>
          <a:lstStyle/>
          <a:p>
            <a:endParaRPr lang="en-US" dirty="0"/>
          </a:p>
        </p:txBody>
      </p:sp>
      <p:sp>
        <p:nvSpPr>
          <p:cNvPr id="45" name="Text 43"/>
          <p:cNvSpPr/>
          <p:nvPr/>
        </p:nvSpPr>
        <p:spPr>
          <a:xfrm>
            <a:off x="6690661" y="2259808"/>
            <a:ext cx="411480" cy="411480"/>
          </a:xfrm>
          <a:prstGeom prst="rect">
            <a:avLst/>
          </a:prstGeom>
          <a:noFill/>
          <a:ln/>
        </p:spPr>
        <p:txBody>
          <a:bodyPr wrap="square" lIns="0" tIns="0" rIns="0" bIns="0" rtlCol="0" anchor="ctr"/>
          <a:lstStyle/>
          <a:p>
            <a:pPr marL="0" indent="0" algn="ctr">
              <a:buNone/>
            </a:pPr>
            <a:r>
              <a:rPr lang="en-US" sz="1100" b="1" dirty="0">
                <a:solidFill>
                  <a:srgbClr val="0070C0"/>
                </a:solidFill>
              </a:rPr>
              <a:t>05</a:t>
            </a:r>
            <a:endParaRPr lang="en-US" sz="1100" dirty="0">
              <a:solidFill>
                <a:srgbClr val="0070C0"/>
              </a:solidFill>
            </a:endParaRPr>
          </a:p>
        </p:txBody>
      </p:sp>
      <p:sp>
        <p:nvSpPr>
          <p:cNvPr id="46" name="Text 44"/>
          <p:cNvSpPr/>
          <p:nvPr/>
        </p:nvSpPr>
        <p:spPr>
          <a:xfrm>
            <a:off x="6162578" y="2742169"/>
            <a:ext cx="1481328" cy="320040"/>
          </a:xfrm>
          <a:prstGeom prst="rect">
            <a:avLst/>
          </a:prstGeom>
          <a:noFill/>
          <a:ln/>
        </p:spPr>
        <p:txBody>
          <a:bodyPr wrap="square" lIns="0" tIns="0" rIns="0" bIns="0" rtlCol="0" anchor="ctr"/>
          <a:lstStyle/>
          <a:p>
            <a:pPr algn="ctr"/>
            <a:r>
              <a:rPr lang="en-US" sz="1200" b="1" dirty="0">
                <a:solidFill>
                  <a:srgbClr val="0070C0"/>
                </a:solidFill>
              </a:rPr>
              <a:t>Habitability Assessment</a:t>
            </a:r>
          </a:p>
        </p:txBody>
      </p:sp>
      <p:sp>
        <p:nvSpPr>
          <p:cNvPr id="47" name="Text 45"/>
          <p:cNvSpPr/>
          <p:nvPr/>
        </p:nvSpPr>
        <p:spPr>
          <a:xfrm>
            <a:off x="6183114" y="3138936"/>
            <a:ext cx="1444752" cy="1142765"/>
          </a:xfrm>
          <a:prstGeom prst="rect">
            <a:avLst/>
          </a:prstGeom>
          <a:noFill/>
          <a:ln/>
        </p:spPr>
        <p:txBody>
          <a:bodyPr wrap="square" lIns="0" tIns="0" rIns="0" bIns="0" rtlCol="0" anchor="ctr"/>
          <a:lstStyle/>
          <a:p>
            <a:pPr algn="ctr"/>
            <a:r>
              <a:rPr lang="en-US" sz="1000" b="1" dirty="0"/>
              <a:t>Life-supporting conditions, Habitability Score, Surface Temperature, Water Availability Indicator, Atmosphere Indicator, Potentially Habitable Classification</a:t>
            </a:r>
            <a:br>
              <a:rPr lang="en-US" sz="1000" dirty="0"/>
            </a:br>
            <a:endParaRPr lang="en-US" sz="1000" dirty="0"/>
          </a:p>
        </p:txBody>
      </p:sp>
      <p:sp>
        <p:nvSpPr>
          <p:cNvPr id="200" name="Shape UX BG"/>
          <p:cNvSpPr/>
          <p:nvPr/>
        </p:nvSpPr>
        <p:spPr>
          <a:xfrm>
            <a:off x="331388" y="4293108"/>
            <a:ext cx="8503920" cy="541753"/>
          </a:xfrm>
          <a:prstGeom prst="rect">
            <a:avLst/>
          </a:prstGeom>
          <a:solidFill>
            <a:srgbClr val="EAF6F1"/>
          </a:solidFill>
          <a:ln w="12700">
            <a:solidFill>
              <a:srgbClr val="047954"/>
            </a:solidFill>
            <a:prstDash val="solid"/>
          </a:ln>
        </p:spPr>
        <p:txBody>
          <a:bodyPr/>
          <a:lstStyle/>
          <a:p>
            <a:endParaRPr lang="en-US"/>
          </a:p>
        </p:txBody>
      </p:sp>
      <p:sp>
        <p:nvSpPr>
          <p:cNvPr id="201" name="Text UX Label"/>
          <p:cNvSpPr/>
          <p:nvPr/>
        </p:nvSpPr>
        <p:spPr>
          <a:xfrm>
            <a:off x="526685" y="4412860"/>
            <a:ext cx="8350000" cy="345000"/>
          </a:xfrm>
          <a:prstGeom prst="rect">
            <a:avLst/>
          </a:prstGeom>
          <a:noFill/>
          <a:ln/>
        </p:spPr>
        <p:txBody>
          <a:bodyPr wrap="square" lIns="0" tIns="0" rIns="0" bIns="0" rtlCol="0" anchor="ctr"/>
          <a:lstStyle/>
          <a:p>
            <a:r>
              <a:rPr lang="en-US" sz="1100" b="1" dirty="0">
                <a:solidFill>
                  <a:srgbClr val="0070C0"/>
                </a:solidFill>
              </a:rPr>
              <a:t>Focus on Data Visualization &amp; User Experience:</a:t>
            </a:r>
            <a:br>
              <a:rPr lang="en-US" sz="1100" b="1" dirty="0"/>
            </a:br>
            <a:r>
              <a:rPr lang="en-US" sz="1100" b="1" dirty="0"/>
              <a:t>The dashboard was designed to present complex exoplanet data through intuitive layouts, interactive filters, consistent color themes, and a storytelling approach that guides users from discovery insights to habitability prediction.</a:t>
            </a:r>
            <a:endParaRPr lang="en-US" sz="1100" b="1" dirty="0">
              <a:solidFill>
                <a:srgbClr val="333333"/>
              </a:solidFill>
            </a:endParaRPr>
          </a:p>
        </p:txBody>
      </p:sp>
      <p:pic>
        <p:nvPicPr>
          <p:cNvPr id="48" name="Picture 2" descr="مبادرة رواد مصر الرقمية - YouTube">
            <a:extLst>
              <a:ext uri="{FF2B5EF4-FFF2-40B4-BE49-F238E27FC236}">
                <a16:creationId xmlns:a16="http://schemas.microsoft.com/office/drawing/2014/main" id="{63F0CDF2-F762-4331-8BC1-70A89BEC8341}"/>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AB9E24F-7D82-454F-871C-64A15BCD705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a:extLst>
              <a:ext uri="{FF2B5EF4-FFF2-40B4-BE49-F238E27FC236}">
                <a16:creationId xmlns:a16="http://schemas.microsoft.com/office/drawing/2014/main" id="{63ED7965-60CB-4474-8F77-1F9706C030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5720" y="483893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a:extLst>
              <a:ext uri="{FF2B5EF4-FFF2-40B4-BE49-F238E27FC236}">
                <a16:creationId xmlns:a16="http://schemas.microsoft.com/office/drawing/2014/main" id="{9709DBCD-7AD6-4124-8945-5242D1C8AEEA}"/>
              </a:ext>
            </a:extLst>
          </p:cNvPr>
          <p:cNvPicPr>
            <a:picLocks noChangeAspect="1"/>
          </p:cNvPicPr>
          <p:nvPr/>
        </p:nvPicPr>
        <p:blipFill>
          <a:blip r:embed="rId6"/>
          <a:stretch>
            <a:fillRect/>
          </a:stretch>
        </p:blipFill>
        <p:spPr>
          <a:xfrm>
            <a:off x="605016" y="1716347"/>
            <a:ext cx="499872" cy="499872"/>
          </a:xfrm>
          <a:prstGeom prst="rect">
            <a:avLst/>
          </a:prstGeom>
        </p:spPr>
      </p:pic>
      <p:pic>
        <p:nvPicPr>
          <p:cNvPr id="54" name="Picture 53">
            <a:extLst>
              <a:ext uri="{FF2B5EF4-FFF2-40B4-BE49-F238E27FC236}">
                <a16:creationId xmlns:a16="http://schemas.microsoft.com/office/drawing/2014/main" id="{66F8B690-2B51-4ECE-AF3E-F396AEB3FA20}"/>
              </a:ext>
            </a:extLst>
          </p:cNvPr>
          <p:cNvPicPr>
            <a:picLocks noChangeAspect="1"/>
          </p:cNvPicPr>
          <p:nvPr/>
        </p:nvPicPr>
        <p:blipFill>
          <a:blip r:embed="rId7"/>
          <a:stretch>
            <a:fillRect/>
          </a:stretch>
        </p:blipFill>
        <p:spPr>
          <a:xfrm>
            <a:off x="2081397" y="1606338"/>
            <a:ext cx="606804" cy="606804"/>
          </a:xfrm>
          <a:prstGeom prst="rect">
            <a:avLst/>
          </a:prstGeom>
        </p:spPr>
      </p:pic>
      <p:pic>
        <p:nvPicPr>
          <p:cNvPr id="56" name="Picture 55">
            <a:extLst>
              <a:ext uri="{FF2B5EF4-FFF2-40B4-BE49-F238E27FC236}">
                <a16:creationId xmlns:a16="http://schemas.microsoft.com/office/drawing/2014/main" id="{781C7E3C-CA48-47D6-9884-94E535E6F385}"/>
              </a:ext>
            </a:extLst>
          </p:cNvPr>
          <p:cNvPicPr>
            <a:picLocks noChangeAspect="1"/>
          </p:cNvPicPr>
          <p:nvPr/>
        </p:nvPicPr>
        <p:blipFill>
          <a:blip r:embed="rId8"/>
          <a:stretch>
            <a:fillRect/>
          </a:stretch>
        </p:blipFill>
        <p:spPr>
          <a:xfrm>
            <a:off x="3547827" y="1669302"/>
            <a:ext cx="606804" cy="547070"/>
          </a:xfrm>
          <a:prstGeom prst="rect">
            <a:avLst/>
          </a:prstGeom>
        </p:spPr>
      </p:pic>
      <p:pic>
        <p:nvPicPr>
          <p:cNvPr id="60" name="Picture 59">
            <a:extLst>
              <a:ext uri="{FF2B5EF4-FFF2-40B4-BE49-F238E27FC236}">
                <a16:creationId xmlns:a16="http://schemas.microsoft.com/office/drawing/2014/main" id="{B197178B-B55F-4863-8CE7-EB284BE29DA4}"/>
              </a:ext>
            </a:extLst>
          </p:cNvPr>
          <p:cNvPicPr>
            <a:picLocks noChangeAspect="1"/>
          </p:cNvPicPr>
          <p:nvPr/>
        </p:nvPicPr>
        <p:blipFill>
          <a:blip r:embed="rId9"/>
          <a:stretch>
            <a:fillRect/>
          </a:stretch>
        </p:blipFill>
        <p:spPr>
          <a:xfrm>
            <a:off x="5092384" y="1589821"/>
            <a:ext cx="606804" cy="606804"/>
          </a:xfrm>
          <a:prstGeom prst="rect">
            <a:avLst/>
          </a:prstGeom>
        </p:spPr>
      </p:pic>
      <p:pic>
        <p:nvPicPr>
          <p:cNvPr id="64" name="Picture 63">
            <a:extLst>
              <a:ext uri="{FF2B5EF4-FFF2-40B4-BE49-F238E27FC236}">
                <a16:creationId xmlns:a16="http://schemas.microsoft.com/office/drawing/2014/main" id="{F99F466A-8128-4171-A076-C06C2F3590C2}"/>
              </a:ext>
            </a:extLst>
          </p:cNvPr>
          <p:cNvPicPr>
            <a:picLocks noChangeAspect="1"/>
          </p:cNvPicPr>
          <p:nvPr/>
        </p:nvPicPr>
        <p:blipFill>
          <a:blip r:embed="rId10"/>
          <a:stretch>
            <a:fillRect/>
          </a:stretch>
        </p:blipFill>
        <p:spPr>
          <a:xfrm>
            <a:off x="6592965" y="1593056"/>
            <a:ext cx="606804" cy="606804"/>
          </a:xfrm>
          <a:prstGeom prst="rect">
            <a:avLst/>
          </a:prstGeom>
        </p:spPr>
      </p:pic>
      <p:sp>
        <p:nvSpPr>
          <p:cNvPr id="86" name="Shape 40">
            <a:extLst>
              <a:ext uri="{FF2B5EF4-FFF2-40B4-BE49-F238E27FC236}">
                <a16:creationId xmlns:a16="http://schemas.microsoft.com/office/drawing/2014/main" id="{7BA43ACA-167D-48D1-95EA-360D4BFC51A8}"/>
              </a:ext>
            </a:extLst>
          </p:cNvPr>
          <p:cNvSpPr/>
          <p:nvPr/>
        </p:nvSpPr>
        <p:spPr>
          <a:xfrm>
            <a:off x="7657243" y="2222956"/>
            <a:ext cx="1467162" cy="1977613"/>
          </a:xfrm>
          <a:prstGeom prst="rect">
            <a:avLst/>
          </a:prstGeom>
          <a:solidFill>
            <a:srgbClr val="F5F5F5"/>
          </a:solidFill>
          <a:ln w="12700">
            <a:solidFill>
              <a:srgbClr val="DDDDDD"/>
            </a:solidFill>
            <a:prstDash val="solid"/>
          </a:ln>
        </p:spPr>
        <p:txBody>
          <a:bodyPr/>
          <a:lstStyle/>
          <a:p>
            <a:endParaRPr lang="en-US"/>
          </a:p>
        </p:txBody>
      </p:sp>
      <p:sp>
        <p:nvSpPr>
          <p:cNvPr id="87" name="Shape 41">
            <a:extLst>
              <a:ext uri="{FF2B5EF4-FFF2-40B4-BE49-F238E27FC236}">
                <a16:creationId xmlns:a16="http://schemas.microsoft.com/office/drawing/2014/main" id="{105B436D-D5FD-4330-AA8F-EE3E7FB364E5}"/>
              </a:ext>
            </a:extLst>
          </p:cNvPr>
          <p:cNvSpPr/>
          <p:nvPr/>
        </p:nvSpPr>
        <p:spPr>
          <a:xfrm>
            <a:off x="7657242" y="2216081"/>
            <a:ext cx="1467163" cy="502920"/>
          </a:xfrm>
          <a:prstGeom prst="rect">
            <a:avLst/>
          </a:prstGeom>
          <a:solidFill>
            <a:srgbClr val="336EA8"/>
          </a:solidFill>
          <a:ln w="12700">
            <a:solidFill>
              <a:srgbClr val="336EA8"/>
            </a:solidFill>
            <a:prstDash val="solid"/>
          </a:ln>
        </p:spPr>
        <p:txBody>
          <a:bodyPr/>
          <a:lstStyle/>
          <a:p>
            <a:endParaRPr lang="en-US"/>
          </a:p>
        </p:txBody>
      </p:sp>
      <p:sp>
        <p:nvSpPr>
          <p:cNvPr id="88" name="Shape 42">
            <a:extLst>
              <a:ext uri="{FF2B5EF4-FFF2-40B4-BE49-F238E27FC236}">
                <a16:creationId xmlns:a16="http://schemas.microsoft.com/office/drawing/2014/main" id="{F80C5779-3E3F-44C6-97AF-150B55075671}"/>
              </a:ext>
            </a:extLst>
          </p:cNvPr>
          <p:cNvSpPr/>
          <p:nvPr/>
        </p:nvSpPr>
        <p:spPr>
          <a:xfrm>
            <a:off x="8251602" y="2243515"/>
            <a:ext cx="411480" cy="411480"/>
          </a:xfrm>
          <a:prstGeom prst="ellipse">
            <a:avLst/>
          </a:prstGeom>
          <a:solidFill>
            <a:srgbClr val="FFFFFF"/>
          </a:solidFill>
          <a:ln w="12700">
            <a:solidFill>
              <a:srgbClr val="FFFFFF"/>
            </a:solidFill>
            <a:prstDash val="solid"/>
          </a:ln>
        </p:spPr>
        <p:txBody>
          <a:bodyPr/>
          <a:lstStyle/>
          <a:p>
            <a:endParaRPr lang="en-US"/>
          </a:p>
        </p:txBody>
      </p:sp>
      <p:sp>
        <p:nvSpPr>
          <p:cNvPr id="89" name="Text 44">
            <a:extLst>
              <a:ext uri="{FF2B5EF4-FFF2-40B4-BE49-F238E27FC236}">
                <a16:creationId xmlns:a16="http://schemas.microsoft.com/office/drawing/2014/main" id="{456C460F-3F56-4686-8691-97A1D048E534}"/>
              </a:ext>
            </a:extLst>
          </p:cNvPr>
          <p:cNvSpPr/>
          <p:nvPr/>
        </p:nvSpPr>
        <p:spPr>
          <a:xfrm>
            <a:off x="7663934" y="2803240"/>
            <a:ext cx="1481328" cy="320040"/>
          </a:xfrm>
          <a:prstGeom prst="rect">
            <a:avLst/>
          </a:prstGeom>
          <a:noFill/>
          <a:ln/>
        </p:spPr>
        <p:txBody>
          <a:bodyPr wrap="square" lIns="0" tIns="0" rIns="0" bIns="0" rtlCol="0" anchor="ctr"/>
          <a:lstStyle/>
          <a:p>
            <a:pPr algn="ctr"/>
            <a:r>
              <a:rPr lang="en-US" sz="1200" b="1" dirty="0">
                <a:solidFill>
                  <a:srgbClr val="0070C0"/>
                </a:solidFill>
              </a:rPr>
              <a:t>Prediction &amp; Recommendation</a:t>
            </a:r>
          </a:p>
        </p:txBody>
      </p:sp>
      <p:sp>
        <p:nvSpPr>
          <p:cNvPr id="90" name="Text 45">
            <a:extLst>
              <a:ext uri="{FF2B5EF4-FFF2-40B4-BE49-F238E27FC236}">
                <a16:creationId xmlns:a16="http://schemas.microsoft.com/office/drawing/2014/main" id="{2676FB40-13C8-4B73-A9DD-B0519DF4D006}"/>
              </a:ext>
            </a:extLst>
          </p:cNvPr>
          <p:cNvSpPr/>
          <p:nvPr/>
        </p:nvSpPr>
        <p:spPr>
          <a:xfrm>
            <a:off x="7673057" y="2864851"/>
            <a:ext cx="1444752" cy="1371600"/>
          </a:xfrm>
          <a:prstGeom prst="rect">
            <a:avLst/>
          </a:prstGeom>
          <a:noFill/>
          <a:ln/>
        </p:spPr>
        <p:txBody>
          <a:bodyPr wrap="square" lIns="0" tIns="0" rIns="0" bIns="0" rtlCol="0" anchor="ctr"/>
          <a:lstStyle/>
          <a:p>
            <a:pPr marL="0" indent="0" algn="ctr">
              <a:buNone/>
            </a:pPr>
            <a:endParaRPr lang="ar-EG" sz="1000" dirty="0"/>
          </a:p>
          <a:p>
            <a:pPr algn="ctr"/>
            <a:r>
              <a:rPr lang="en-US" sz="1000" b="1" dirty="0"/>
              <a:t>Machine Learning Model, Predicted Habitability, Feature Importance, Model Accuracy, Confusion Matrix, Prediction Confidence</a:t>
            </a:r>
          </a:p>
        </p:txBody>
      </p:sp>
      <p:sp>
        <p:nvSpPr>
          <p:cNvPr id="91" name="Text 43">
            <a:extLst>
              <a:ext uri="{FF2B5EF4-FFF2-40B4-BE49-F238E27FC236}">
                <a16:creationId xmlns:a16="http://schemas.microsoft.com/office/drawing/2014/main" id="{60EA1726-D471-49BE-9C98-AD121628BFA5}"/>
              </a:ext>
            </a:extLst>
          </p:cNvPr>
          <p:cNvSpPr/>
          <p:nvPr/>
        </p:nvSpPr>
        <p:spPr>
          <a:xfrm>
            <a:off x="8259347" y="2240329"/>
            <a:ext cx="411480" cy="411480"/>
          </a:xfrm>
          <a:prstGeom prst="rect">
            <a:avLst/>
          </a:prstGeom>
          <a:noFill/>
          <a:ln>
            <a:noFill/>
          </a:ln>
        </p:spPr>
        <p:txBody>
          <a:bodyPr wrap="square" lIns="0" tIns="0" rIns="0" bIns="0" rtlCol="0" anchor="ctr"/>
          <a:lstStyle/>
          <a:p>
            <a:pPr marL="0" indent="0" algn="ctr">
              <a:buNone/>
            </a:pPr>
            <a:r>
              <a:rPr lang="ar-EG" sz="1100" b="1" dirty="0">
                <a:solidFill>
                  <a:srgbClr val="0070C0"/>
                </a:solidFill>
              </a:rPr>
              <a:t>06</a:t>
            </a:r>
            <a:endParaRPr lang="en-US" sz="1100" dirty="0">
              <a:solidFill>
                <a:srgbClr val="0070C0"/>
              </a:solidFill>
            </a:endParaRPr>
          </a:p>
        </p:txBody>
      </p:sp>
      <p:pic>
        <p:nvPicPr>
          <p:cNvPr id="6" name="Picture 5">
            <a:extLst>
              <a:ext uri="{FF2B5EF4-FFF2-40B4-BE49-F238E27FC236}">
                <a16:creationId xmlns:a16="http://schemas.microsoft.com/office/drawing/2014/main" id="{A5886EC5-E14D-4795-B90D-45A1F681BCF7}"/>
              </a:ext>
            </a:extLst>
          </p:cNvPr>
          <p:cNvPicPr>
            <a:picLocks noChangeAspect="1"/>
          </p:cNvPicPr>
          <p:nvPr/>
        </p:nvPicPr>
        <p:blipFill>
          <a:blip r:embed="rId11"/>
          <a:stretch>
            <a:fillRect/>
          </a:stretch>
        </p:blipFill>
        <p:spPr>
          <a:xfrm>
            <a:off x="8017589" y="1549549"/>
            <a:ext cx="675949" cy="6759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5" name="Shape 38">
            <a:extLst>
              <a:ext uri="{FF2B5EF4-FFF2-40B4-BE49-F238E27FC236}">
                <a16:creationId xmlns:a16="http://schemas.microsoft.com/office/drawing/2014/main" id="{FDC954F5-C187-89B0-02BC-EE9CAB57D0D9}"/>
              </a:ext>
            </a:extLst>
          </p:cNvPr>
          <p:cNvSpPr/>
          <p:nvPr/>
        </p:nvSpPr>
        <p:spPr>
          <a:xfrm>
            <a:off x="4628072" y="4128368"/>
            <a:ext cx="4160520" cy="571745"/>
          </a:xfrm>
          <a:prstGeom prst="rect">
            <a:avLst/>
          </a:prstGeom>
          <a:solidFill>
            <a:srgbClr val="F5F5F5"/>
          </a:solidFill>
          <a:ln w="12700">
            <a:solidFill>
              <a:srgbClr val="DDDDDD"/>
            </a:solidFill>
            <a:prstDash val="solid"/>
          </a:ln>
        </p:spPr>
        <p:txBody>
          <a:bodyPr/>
          <a:lstStyle/>
          <a:p>
            <a:endParaRPr lang="en-US" dirty="0"/>
          </a:p>
        </p:txBody>
      </p:sp>
      <p:sp>
        <p:nvSpPr>
          <p:cNvPr id="49" name="Shape 47"/>
          <p:cNvSpPr/>
          <p:nvPr/>
        </p:nvSpPr>
        <p:spPr>
          <a:xfrm>
            <a:off x="4643747" y="3613658"/>
            <a:ext cx="4160520" cy="471510"/>
          </a:xfrm>
          <a:prstGeom prst="rect">
            <a:avLst/>
          </a:prstGeom>
          <a:solidFill>
            <a:srgbClr val="FFFFFF"/>
          </a:solidFill>
          <a:ln w="12700">
            <a:solidFill>
              <a:srgbClr val="DDDDDD"/>
            </a:solidFill>
            <a:prstDash val="solid"/>
          </a:ln>
        </p:spPr>
        <p:txBody>
          <a:bodyPr/>
          <a:lstStyle/>
          <a:p>
            <a:endParaRPr lang="en-US"/>
          </a:p>
        </p:txBody>
      </p:sp>
      <p:sp>
        <p:nvSpPr>
          <p:cNvPr id="46" name="Shape 44"/>
          <p:cNvSpPr/>
          <p:nvPr/>
        </p:nvSpPr>
        <p:spPr>
          <a:xfrm>
            <a:off x="4654544" y="3177266"/>
            <a:ext cx="4160520" cy="393192"/>
          </a:xfrm>
          <a:prstGeom prst="rect">
            <a:avLst/>
          </a:prstGeom>
          <a:solidFill>
            <a:srgbClr val="F5F5F5"/>
          </a:solidFill>
          <a:ln w="12700">
            <a:solidFill>
              <a:srgbClr val="DDDDDD"/>
            </a:solidFill>
            <a:prstDash val="solid"/>
          </a:ln>
        </p:spPr>
        <p:txBody>
          <a:bodyPr/>
          <a:lstStyle/>
          <a:p>
            <a:endParaRPr lang="en-US"/>
          </a:p>
        </p:txBody>
      </p:sp>
      <p:sp>
        <p:nvSpPr>
          <p:cNvPr id="43" name="Shape 41"/>
          <p:cNvSpPr/>
          <p:nvPr/>
        </p:nvSpPr>
        <p:spPr>
          <a:xfrm>
            <a:off x="4654544" y="2734130"/>
            <a:ext cx="4160520" cy="393192"/>
          </a:xfrm>
          <a:prstGeom prst="rect">
            <a:avLst/>
          </a:prstGeom>
          <a:solidFill>
            <a:srgbClr val="FFFFFF"/>
          </a:solidFill>
          <a:ln w="12700">
            <a:solidFill>
              <a:srgbClr val="DDDDDD"/>
            </a:solidFill>
            <a:prstDash val="solid"/>
          </a:ln>
        </p:spPr>
        <p:txBody>
          <a:bodyPr/>
          <a:lstStyle/>
          <a:p>
            <a:endParaRPr lang="en-US"/>
          </a:p>
        </p:txBody>
      </p:sp>
      <p:sp>
        <p:nvSpPr>
          <p:cNvPr id="40" name="Shape 38"/>
          <p:cNvSpPr/>
          <p:nvPr/>
        </p:nvSpPr>
        <p:spPr>
          <a:xfrm>
            <a:off x="4643747" y="2187967"/>
            <a:ext cx="4160520" cy="468324"/>
          </a:xfrm>
          <a:prstGeom prst="rect">
            <a:avLst/>
          </a:prstGeom>
          <a:solidFill>
            <a:srgbClr val="F5F5F5"/>
          </a:solidFill>
          <a:ln w="12700">
            <a:solidFill>
              <a:srgbClr val="DDDDDD"/>
            </a:solidFill>
            <a:prstDash val="solid"/>
          </a:ln>
        </p:spPr>
        <p:txBody>
          <a:bodyPr/>
          <a:lstStyle/>
          <a:p>
            <a:endParaRPr lang="en-US" dirty="0"/>
          </a:p>
        </p:txBody>
      </p:sp>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4</a:t>
            </a:r>
            <a:endParaRPr lang="en-US" sz="1000" dirty="0"/>
          </a:p>
        </p:txBody>
      </p:sp>
      <p:sp>
        <p:nvSpPr>
          <p:cNvPr id="15" name="Text 13"/>
          <p:cNvSpPr/>
          <p:nvPr/>
        </p:nvSpPr>
        <p:spPr>
          <a:xfrm>
            <a:off x="916496" y="322993"/>
            <a:ext cx="7772400" cy="438912"/>
          </a:xfrm>
          <a:prstGeom prst="rect">
            <a:avLst/>
          </a:prstGeom>
          <a:noFill/>
          <a:ln/>
        </p:spPr>
        <p:txBody>
          <a:bodyPr wrap="square" lIns="0" tIns="0" rIns="0" bIns="0" rtlCol="0" anchor="ctr"/>
          <a:lstStyle/>
          <a:p>
            <a:pPr marL="0" indent="0">
              <a:buNone/>
            </a:pPr>
            <a:r>
              <a:rPr lang="en-US" sz="2200" b="1" dirty="0">
                <a:solidFill>
                  <a:srgbClr val="047954"/>
                </a:solidFill>
                <a:latin typeface="Times New Roman" panose="02020603050405020304" pitchFamily="18" charset="0"/>
                <a:cs typeface="Times New Roman" panose="02020603050405020304" pitchFamily="18" charset="0"/>
              </a:rPr>
              <a:t>End Users + Features</a:t>
            </a:r>
            <a:endParaRPr lang="en-US" sz="2200" dirty="0">
              <a:latin typeface="Times New Roman" panose="02020603050405020304" pitchFamily="18" charset="0"/>
              <a:cs typeface="Times New Roman" panose="02020603050405020304" pitchFamily="18" charset="0"/>
            </a:endParaRPr>
          </a:p>
        </p:txBody>
      </p:sp>
      <p:sp>
        <p:nvSpPr>
          <p:cNvPr id="16" name="Shape 14"/>
          <p:cNvSpPr/>
          <p:nvPr/>
        </p:nvSpPr>
        <p:spPr>
          <a:xfrm>
            <a:off x="374904" y="761905"/>
            <a:ext cx="8503920" cy="0"/>
          </a:xfrm>
          <a:prstGeom prst="line">
            <a:avLst/>
          </a:prstGeom>
          <a:noFill/>
          <a:ln w="12700">
            <a:solidFill>
              <a:srgbClr val="DDDDDD"/>
            </a:solidFill>
            <a:prstDash val="solid"/>
          </a:ln>
        </p:spPr>
        <p:txBody>
          <a:bodyPr/>
          <a:lstStyle/>
          <a:p>
            <a:endParaRPr lang="en-US"/>
          </a:p>
        </p:txBody>
      </p:sp>
      <p:sp>
        <p:nvSpPr>
          <p:cNvPr id="17" name="Shape 15"/>
          <p:cNvSpPr/>
          <p:nvPr/>
        </p:nvSpPr>
        <p:spPr>
          <a:xfrm>
            <a:off x="320040" y="1417320"/>
            <a:ext cx="4023360" cy="320040"/>
          </a:xfrm>
          <a:prstGeom prst="rect">
            <a:avLst/>
          </a:prstGeom>
          <a:solidFill>
            <a:srgbClr val="7030A0"/>
          </a:solidFill>
          <a:ln w="12700">
            <a:solidFill>
              <a:srgbClr val="047954"/>
            </a:solidFill>
            <a:prstDash val="solid"/>
          </a:ln>
        </p:spPr>
        <p:txBody>
          <a:bodyPr/>
          <a:lstStyle/>
          <a:p>
            <a:endParaRPr lang="en-US"/>
          </a:p>
        </p:txBody>
      </p:sp>
      <p:sp>
        <p:nvSpPr>
          <p:cNvPr id="18" name="Text 16"/>
          <p:cNvSpPr/>
          <p:nvPr/>
        </p:nvSpPr>
        <p:spPr>
          <a:xfrm>
            <a:off x="342900" y="1417320"/>
            <a:ext cx="4023360" cy="320040"/>
          </a:xfrm>
          <a:prstGeom prst="rect">
            <a:avLst/>
          </a:prstGeom>
          <a:noFill/>
          <a:ln/>
        </p:spPr>
        <p:txBody>
          <a:bodyPr wrap="square" lIns="0" tIns="0" rIns="0" bIns="0" rtlCol="0" anchor="ctr"/>
          <a:lstStyle/>
          <a:p>
            <a:pPr marL="0" indent="0" algn="ctr">
              <a:buNone/>
            </a:pPr>
            <a:r>
              <a:rPr lang="en-US" sz="1100" b="1" dirty="0">
                <a:solidFill>
                  <a:srgbClr val="FFFFFF"/>
                </a:solidFill>
              </a:rPr>
              <a:t>Primary End Users</a:t>
            </a:r>
            <a:endParaRPr lang="en-US" sz="1100" dirty="0"/>
          </a:p>
        </p:txBody>
      </p:sp>
      <p:sp>
        <p:nvSpPr>
          <p:cNvPr id="19" name="Shape 17"/>
          <p:cNvSpPr/>
          <p:nvPr/>
        </p:nvSpPr>
        <p:spPr>
          <a:xfrm>
            <a:off x="320040" y="1796967"/>
            <a:ext cx="4023360" cy="804672"/>
          </a:xfrm>
          <a:prstGeom prst="rect">
            <a:avLst/>
          </a:prstGeom>
          <a:solidFill>
            <a:srgbClr val="F5F5F5"/>
          </a:solidFill>
          <a:ln w="12700">
            <a:solidFill>
              <a:srgbClr val="DDDDDD"/>
            </a:solidFill>
            <a:prstDash val="solid"/>
          </a:ln>
        </p:spPr>
        <p:txBody>
          <a:bodyPr/>
          <a:lstStyle/>
          <a:p>
            <a:endParaRPr lang="en-US" dirty="0"/>
          </a:p>
        </p:txBody>
      </p:sp>
      <p:sp>
        <p:nvSpPr>
          <p:cNvPr id="20" name="Shape 18"/>
          <p:cNvSpPr/>
          <p:nvPr/>
        </p:nvSpPr>
        <p:spPr>
          <a:xfrm>
            <a:off x="320040" y="1801368"/>
            <a:ext cx="54864" cy="804672"/>
          </a:xfrm>
          <a:prstGeom prst="rect">
            <a:avLst/>
          </a:prstGeom>
          <a:solidFill>
            <a:srgbClr val="7030A0"/>
          </a:solidFill>
          <a:ln w="12700">
            <a:noFill/>
            <a:prstDash val="solid"/>
          </a:ln>
        </p:spPr>
        <p:txBody>
          <a:bodyPr/>
          <a:lstStyle/>
          <a:p>
            <a:endParaRPr lang="en-US"/>
          </a:p>
        </p:txBody>
      </p:sp>
      <p:sp>
        <p:nvSpPr>
          <p:cNvPr id="21" name="Text 19"/>
          <p:cNvSpPr/>
          <p:nvPr/>
        </p:nvSpPr>
        <p:spPr>
          <a:xfrm>
            <a:off x="457200" y="1856232"/>
            <a:ext cx="3794760" cy="256032"/>
          </a:xfrm>
          <a:prstGeom prst="rect">
            <a:avLst/>
          </a:prstGeom>
          <a:noFill/>
          <a:ln/>
        </p:spPr>
        <p:txBody>
          <a:bodyPr wrap="square" lIns="0" tIns="0" rIns="0" bIns="0" rtlCol="0" anchor="ctr"/>
          <a:lstStyle/>
          <a:p>
            <a:r>
              <a:rPr lang="en-US" sz="1100" b="1" dirty="0">
                <a:solidFill>
                  <a:srgbClr val="7030A0"/>
                </a:solidFill>
              </a:rPr>
              <a:t>Astronomers &amp; Space Researchers</a:t>
            </a:r>
          </a:p>
        </p:txBody>
      </p:sp>
      <p:sp>
        <p:nvSpPr>
          <p:cNvPr id="22" name="Text 20"/>
          <p:cNvSpPr/>
          <p:nvPr/>
        </p:nvSpPr>
        <p:spPr>
          <a:xfrm>
            <a:off x="457200" y="2121408"/>
            <a:ext cx="3794760" cy="420624"/>
          </a:xfrm>
          <a:prstGeom prst="rect">
            <a:avLst/>
          </a:prstGeom>
          <a:noFill/>
          <a:ln/>
        </p:spPr>
        <p:txBody>
          <a:bodyPr wrap="square" lIns="0" tIns="0" rIns="0" bIns="0" rtlCol="0" anchor="ctr"/>
          <a:lstStyle/>
          <a:p>
            <a:r>
              <a:rPr lang="en-US" sz="1050" dirty="0"/>
              <a:t>Analyze exoplanet data, identify potentially habitable planets, and support future space exploration missions.</a:t>
            </a:r>
            <a:br>
              <a:rPr lang="en-US" sz="1050" b="1" dirty="0"/>
            </a:br>
            <a:r>
              <a:rPr lang="en-US" sz="1050" dirty="0">
                <a:solidFill>
                  <a:srgbClr val="555555"/>
                </a:solidFill>
              </a:rPr>
              <a:t>.</a:t>
            </a:r>
            <a:endParaRPr lang="en-US" sz="1050" dirty="0"/>
          </a:p>
        </p:txBody>
      </p:sp>
      <p:sp>
        <p:nvSpPr>
          <p:cNvPr id="23" name="Shape 21"/>
          <p:cNvSpPr/>
          <p:nvPr/>
        </p:nvSpPr>
        <p:spPr>
          <a:xfrm>
            <a:off x="320040" y="2715768"/>
            <a:ext cx="4023360" cy="804672"/>
          </a:xfrm>
          <a:prstGeom prst="rect">
            <a:avLst/>
          </a:prstGeom>
          <a:solidFill>
            <a:srgbClr val="F5F5F5"/>
          </a:solidFill>
          <a:ln w="12700">
            <a:solidFill>
              <a:srgbClr val="DDDDDD"/>
            </a:solidFill>
            <a:prstDash val="solid"/>
          </a:ln>
        </p:spPr>
        <p:txBody>
          <a:bodyPr/>
          <a:lstStyle/>
          <a:p>
            <a:endParaRPr lang="en-US" dirty="0"/>
          </a:p>
        </p:txBody>
      </p:sp>
      <p:sp>
        <p:nvSpPr>
          <p:cNvPr id="24" name="Shape 22"/>
          <p:cNvSpPr/>
          <p:nvPr/>
        </p:nvSpPr>
        <p:spPr>
          <a:xfrm>
            <a:off x="320040" y="2715768"/>
            <a:ext cx="54864" cy="804672"/>
          </a:xfrm>
          <a:prstGeom prst="rect">
            <a:avLst/>
          </a:prstGeom>
          <a:solidFill>
            <a:srgbClr val="7030A0"/>
          </a:solidFill>
          <a:ln w="12700">
            <a:noFill/>
            <a:prstDash val="solid"/>
          </a:ln>
        </p:spPr>
        <p:txBody>
          <a:bodyPr/>
          <a:lstStyle/>
          <a:p>
            <a:endParaRPr lang="en-US"/>
          </a:p>
        </p:txBody>
      </p:sp>
      <p:sp>
        <p:nvSpPr>
          <p:cNvPr id="25" name="Text 23"/>
          <p:cNvSpPr/>
          <p:nvPr/>
        </p:nvSpPr>
        <p:spPr>
          <a:xfrm>
            <a:off x="457200" y="2770632"/>
            <a:ext cx="3794760" cy="256032"/>
          </a:xfrm>
          <a:prstGeom prst="rect">
            <a:avLst/>
          </a:prstGeom>
          <a:noFill/>
          <a:ln/>
        </p:spPr>
        <p:txBody>
          <a:bodyPr wrap="square" lIns="0" tIns="0" rIns="0" bIns="0" rtlCol="0" anchor="ctr"/>
          <a:lstStyle/>
          <a:p>
            <a:r>
              <a:rPr lang="en-US" sz="1100" b="1" dirty="0">
                <a:solidFill>
                  <a:srgbClr val="7030A0"/>
                </a:solidFill>
              </a:rPr>
              <a:t>Space Agencies &amp; Decision Makers</a:t>
            </a:r>
          </a:p>
        </p:txBody>
      </p:sp>
      <p:sp>
        <p:nvSpPr>
          <p:cNvPr id="26" name="Text 24"/>
          <p:cNvSpPr/>
          <p:nvPr/>
        </p:nvSpPr>
        <p:spPr>
          <a:xfrm>
            <a:off x="457200" y="3035808"/>
            <a:ext cx="3794760" cy="420624"/>
          </a:xfrm>
          <a:prstGeom prst="rect">
            <a:avLst/>
          </a:prstGeom>
          <a:noFill/>
          <a:ln/>
        </p:spPr>
        <p:txBody>
          <a:bodyPr wrap="square" lIns="0" tIns="0" rIns="0" bIns="0" rtlCol="0" anchor="ctr"/>
          <a:lstStyle/>
          <a:p>
            <a:r>
              <a:rPr lang="en-US" sz="1050" dirty="0"/>
              <a:t>Use insights to prioritize promising exoplanets for observation and future exploration programs.</a:t>
            </a:r>
            <a:br>
              <a:rPr lang="en-US" sz="1050" b="1" dirty="0"/>
            </a:br>
            <a:r>
              <a:rPr lang="en-US" sz="1050" dirty="0">
                <a:solidFill>
                  <a:srgbClr val="555555"/>
                </a:solidFill>
              </a:rPr>
              <a:t>.</a:t>
            </a:r>
            <a:endParaRPr lang="en-US" sz="1050" dirty="0"/>
          </a:p>
        </p:txBody>
      </p:sp>
      <p:sp>
        <p:nvSpPr>
          <p:cNvPr id="27" name="Shape 25"/>
          <p:cNvSpPr/>
          <p:nvPr/>
        </p:nvSpPr>
        <p:spPr>
          <a:xfrm>
            <a:off x="375285" y="3620492"/>
            <a:ext cx="4023360" cy="804672"/>
          </a:xfrm>
          <a:prstGeom prst="rect">
            <a:avLst/>
          </a:prstGeom>
          <a:solidFill>
            <a:srgbClr val="F5F5F5"/>
          </a:solidFill>
          <a:ln w="12700">
            <a:solidFill>
              <a:srgbClr val="DDDDDD"/>
            </a:solidFill>
            <a:prstDash val="solid"/>
          </a:ln>
        </p:spPr>
        <p:txBody>
          <a:bodyPr/>
          <a:lstStyle/>
          <a:p>
            <a:endParaRPr lang="en-US"/>
          </a:p>
        </p:txBody>
      </p:sp>
      <p:sp>
        <p:nvSpPr>
          <p:cNvPr id="28" name="Shape 26"/>
          <p:cNvSpPr/>
          <p:nvPr/>
        </p:nvSpPr>
        <p:spPr>
          <a:xfrm>
            <a:off x="320040" y="3630168"/>
            <a:ext cx="54864" cy="804672"/>
          </a:xfrm>
          <a:prstGeom prst="rect">
            <a:avLst/>
          </a:prstGeom>
          <a:solidFill>
            <a:srgbClr val="7030A0"/>
          </a:solidFill>
          <a:ln w="12700">
            <a:noFill/>
            <a:prstDash val="solid"/>
          </a:ln>
        </p:spPr>
        <p:txBody>
          <a:bodyPr/>
          <a:lstStyle/>
          <a:p>
            <a:endParaRPr lang="en-US"/>
          </a:p>
        </p:txBody>
      </p:sp>
      <p:sp>
        <p:nvSpPr>
          <p:cNvPr id="29" name="Text 27"/>
          <p:cNvSpPr/>
          <p:nvPr/>
        </p:nvSpPr>
        <p:spPr>
          <a:xfrm>
            <a:off x="457200" y="3685032"/>
            <a:ext cx="3794760" cy="256032"/>
          </a:xfrm>
          <a:prstGeom prst="rect">
            <a:avLst/>
          </a:prstGeom>
          <a:noFill/>
          <a:ln/>
        </p:spPr>
        <p:txBody>
          <a:bodyPr wrap="square" lIns="0" tIns="0" rIns="0" bIns="0" rtlCol="0" anchor="ctr"/>
          <a:lstStyle/>
          <a:p>
            <a:r>
              <a:rPr lang="en-US" sz="1100" b="1" dirty="0">
                <a:solidFill>
                  <a:srgbClr val="7030A0"/>
                </a:solidFill>
              </a:rPr>
              <a:t>Students &amp; Astronomy Enthusiasts</a:t>
            </a:r>
          </a:p>
        </p:txBody>
      </p:sp>
      <p:sp>
        <p:nvSpPr>
          <p:cNvPr id="30" name="Text 28"/>
          <p:cNvSpPr/>
          <p:nvPr/>
        </p:nvSpPr>
        <p:spPr>
          <a:xfrm>
            <a:off x="457200" y="3950208"/>
            <a:ext cx="3794760" cy="420624"/>
          </a:xfrm>
          <a:prstGeom prst="rect">
            <a:avLst/>
          </a:prstGeom>
          <a:noFill/>
          <a:ln/>
        </p:spPr>
        <p:txBody>
          <a:bodyPr wrap="square" lIns="0" tIns="0" rIns="0" bIns="0" rtlCol="0" anchor="ctr"/>
          <a:lstStyle/>
          <a:p>
            <a:r>
              <a:rPr lang="en-US" sz="1050" dirty="0"/>
              <a:t>Explore planetary discoveries, compare Earth-like planets, and understand the factors affecting habitability.</a:t>
            </a:r>
            <a:br>
              <a:rPr lang="en-US" sz="1050" b="1" dirty="0"/>
            </a:br>
            <a:endParaRPr lang="en-US" sz="1050" dirty="0"/>
          </a:p>
        </p:txBody>
      </p:sp>
      <p:sp>
        <p:nvSpPr>
          <p:cNvPr id="31" name="Shape 29"/>
          <p:cNvSpPr/>
          <p:nvPr/>
        </p:nvSpPr>
        <p:spPr>
          <a:xfrm>
            <a:off x="4480560" y="1417320"/>
            <a:ext cx="0" cy="3140923"/>
          </a:xfrm>
          <a:prstGeom prst="line">
            <a:avLst/>
          </a:prstGeom>
          <a:noFill/>
          <a:ln w="12700">
            <a:solidFill>
              <a:srgbClr val="DDDDDD"/>
            </a:solidFill>
            <a:prstDash val="solid"/>
          </a:ln>
        </p:spPr>
        <p:txBody>
          <a:bodyPr/>
          <a:lstStyle/>
          <a:p>
            <a:endParaRPr lang="en-US"/>
          </a:p>
        </p:txBody>
      </p:sp>
      <p:sp>
        <p:nvSpPr>
          <p:cNvPr id="32" name="Shape 30"/>
          <p:cNvSpPr/>
          <p:nvPr/>
        </p:nvSpPr>
        <p:spPr>
          <a:xfrm>
            <a:off x="4626864" y="832773"/>
            <a:ext cx="4160520" cy="320040"/>
          </a:xfrm>
          <a:prstGeom prst="rect">
            <a:avLst/>
          </a:prstGeom>
          <a:solidFill>
            <a:srgbClr val="336EA8"/>
          </a:solidFill>
          <a:ln w="12700">
            <a:solidFill>
              <a:srgbClr val="336EA8"/>
            </a:solidFill>
            <a:prstDash val="solid"/>
          </a:ln>
        </p:spPr>
        <p:txBody>
          <a:bodyPr/>
          <a:lstStyle/>
          <a:p>
            <a:endParaRPr lang="en-US" dirty="0"/>
          </a:p>
        </p:txBody>
      </p:sp>
      <p:sp>
        <p:nvSpPr>
          <p:cNvPr id="33" name="Text 31"/>
          <p:cNvSpPr/>
          <p:nvPr/>
        </p:nvSpPr>
        <p:spPr>
          <a:xfrm>
            <a:off x="4608496" y="832773"/>
            <a:ext cx="4160520" cy="320040"/>
          </a:xfrm>
          <a:prstGeom prst="rect">
            <a:avLst/>
          </a:prstGeom>
          <a:noFill/>
          <a:ln/>
        </p:spPr>
        <p:txBody>
          <a:bodyPr wrap="square" lIns="0" tIns="0" rIns="0" bIns="0" rtlCol="0" anchor="ctr"/>
          <a:lstStyle/>
          <a:p>
            <a:pPr marL="0" indent="0" algn="ctr">
              <a:buNone/>
            </a:pPr>
            <a:r>
              <a:rPr lang="en-US" sz="1100" b="1" dirty="0">
                <a:solidFill>
                  <a:srgbClr val="FFFFFF"/>
                </a:solidFill>
              </a:rPr>
              <a:t>Key Features</a:t>
            </a:r>
            <a:endParaRPr lang="en-US" sz="1100" dirty="0"/>
          </a:p>
        </p:txBody>
      </p:sp>
      <p:sp>
        <p:nvSpPr>
          <p:cNvPr id="34" name="Shape 32"/>
          <p:cNvSpPr/>
          <p:nvPr/>
        </p:nvSpPr>
        <p:spPr>
          <a:xfrm>
            <a:off x="4628072" y="1172523"/>
            <a:ext cx="4160520" cy="493776"/>
          </a:xfrm>
          <a:prstGeom prst="rect">
            <a:avLst/>
          </a:prstGeom>
          <a:solidFill>
            <a:srgbClr val="F5F5F5"/>
          </a:solidFill>
          <a:ln w="12700">
            <a:solidFill>
              <a:srgbClr val="DDDDDD"/>
            </a:solidFill>
            <a:prstDash val="solid"/>
          </a:ln>
        </p:spPr>
        <p:txBody>
          <a:bodyPr/>
          <a:lstStyle/>
          <a:p>
            <a:endParaRPr lang="en-US" dirty="0"/>
          </a:p>
        </p:txBody>
      </p:sp>
      <p:sp>
        <p:nvSpPr>
          <p:cNvPr id="35" name="Text 33"/>
          <p:cNvSpPr/>
          <p:nvPr/>
        </p:nvSpPr>
        <p:spPr>
          <a:xfrm>
            <a:off x="4754880" y="1247028"/>
            <a:ext cx="1554480" cy="320040"/>
          </a:xfrm>
          <a:prstGeom prst="rect">
            <a:avLst/>
          </a:prstGeom>
          <a:noFill/>
          <a:ln/>
        </p:spPr>
        <p:txBody>
          <a:bodyPr wrap="square" lIns="0" tIns="0" rIns="0" bIns="0" rtlCol="0" anchor="ctr"/>
          <a:lstStyle/>
          <a:p>
            <a:pPr marL="0" indent="0">
              <a:buNone/>
            </a:pPr>
            <a:r>
              <a:rPr lang="en-US" sz="1000" b="1" dirty="0">
                <a:solidFill>
                  <a:srgbClr val="0070C0"/>
                </a:solidFill>
              </a:rPr>
              <a:t>✓ Medallion Pipeline:</a:t>
            </a:r>
            <a:endParaRPr lang="en-US" sz="1000" dirty="0">
              <a:solidFill>
                <a:srgbClr val="0070C0"/>
              </a:solidFill>
            </a:endParaRPr>
          </a:p>
        </p:txBody>
      </p:sp>
      <p:sp>
        <p:nvSpPr>
          <p:cNvPr id="36" name="Text 34"/>
          <p:cNvSpPr/>
          <p:nvPr/>
        </p:nvSpPr>
        <p:spPr>
          <a:xfrm>
            <a:off x="6265736" y="1374680"/>
            <a:ext cx="2276857" cy="85280"/>
          </a:xfrm>
          <a:prstGeom prst="rect">
            <a:avLst/>
          </a:prstGeom>
          <a:noFill/>
          <a:ln/>
        </p:spPr>
        <p:txBody>
          <a:bodyPr wrap="square" lIns="0" tIns="0" rIns="0" bIns="0" rtlCol="0" anchor="ctr"/>
          <a:lstStyle/>
          <a:p>
            <a:r>
              <a:rPr lang="en-US" sz="1000" dirty="0">
                <a:solidFill>
                  <a:srgbClr val="1A1A1A"/>
                </a:solidFill>
              </a:rPr>
              <a:t>Bronze → Silver → Gold on Microsoft Fabric with automated data </a:t>
            </a:r>
            <a:r>
              <a:rPr lang="en-US" sz="1000" dirty="0"/>
              <a:t>transformation and validation.</a:t>
            </a:r>
          </a:p>
        </p:txBody>
      </p:sp>
      <p:sp>
        <p:nvSpPr>
          <p:cNvPr id="37" name="Shape 35"/>
          <p:cNvSpPr/>
          <p:nvPr/>
        </p:nvSpPr>
        <p:spPr>
          <a:xfrm>
            <a:off x="4643747" y="1653482"/>
            <a:ext cx="4160520" cy="493776"/>
          </a:xfrm>
          <a:prstGeom prst="rect">
            <a:avLst/>
          </a:prstGeom>
          <a:solidFill>
            <a:srgbClr val="FFFFFF"/>
          </a:solidFill>
          <a:ln w="12700">
            <a:solidFill>
              <a:srgbClr val="DDDDDD"/>
            </a:solidFill>
            <a:prstDash val="solid"/>
          </a:ln>
        </p:spPr>
        <p:txBody>
          <a:bodyPr/>
          <a:lstStyle/>
          <a:p>
            <a:endParaRPr lang="en-US"/>
          </a:p>
        </p:txBody>
      </p:sp>
      <p:sp>
        <p:nvSpPr>
          <p:cNvPr id="38" name="Text 36"/>
          <p:cNvSpPr/>
          <p:nvPr/>
        </p:nvSpPr>
        <p:spPr>
          <a:xfrm>
            <a:off x="4784599" y="2241687"/>
            <a:ext cx="1641348" cy="320040"/>
          </a:xfrm>
          <a:prstGeom prst="rect">
            <a:avLst/>
          </a:prstGeom>
          <a:noFill/>
          <a:ln/>
        </p:spPr>
        <p:txBody>
          <a:bodyPr wrap="square" lIns="0" tIns="0" rIns="0" bIns="0" rtlCol="0" anchor="ctr"/>
          <a:lstStyle/>
          <a:p>
            <a:r>
              <a:rPr lang="en-US" sz="1000" b="1" dirty="0">
                <a:solidFill>
                  <a:srgbClr val="0070C0"/>
                </a:solidFill>
              </a:rPr>
              <a:t>✓ Habitability Score</a:t>
            </a:r>
            <a:r>
              <a:rPr lang="en-US" sz="1000" dirty="0">
                <a:solidFill>
                  <a:srgbClr val="0070C0"/>
                </a:solidFill>
              </a:rPr>
              <a:t>:</a:t>
            </a:r>
          </a:p>
        </p:txBody>
      </p:sp>
      <p:sp>
        <p:nvSpPr>
          <p:cNvPr id="39" name="Text 37"/>
          <p:cNvSpPr/>
          <p:nvPr/>
        </p:nvSpPr>
        <p:spPr>
          <a:xfrm>
            <a:off x="6265736" y="2321497"/>
            <a:ext cx="2423160" cy="219456"/>
          </a:xfrm>
          <a:prstGeom prst="rect">
            <a:avLst/>
          </a:prstGeom>
          <a:noFill/>
          <a:ln/>
        </p:spPr>
        <p:txBody>
          <a:bodyPr wrap="square" lIns="0" tIns="0" rIns="0" bIns="0" rtlCol="0" anchor="ctr"/>
          <a:lstStyle/>
          <a:p>
            <a:r>
              <a:rPr lang="en-US" sz="1000" dirty="0"/>
              <a:t>0–100 composite score evaluating the potential of each exoplanet to support human life.</a:t>
            </a:r>
          </a:p>
        </p:txBody>
      </p:sp>
      <p:sp>
        <p:nvSpPr>
          <p:cNvPr id="41" name="Text 39"/>
          <p:cNvSpPr/>
          <p:nvPr/>
        </p:nvSpPr>
        <p:spPr>
          <a:xfrm>
            <a:off x="4697730" y="2727846"/>
            <a:ext cx="1554480" cy="320040"/>
          </a:xfrm>
          <a:prstGeom prst="rect">
            <a:avLst/>
          </a:prstGeom>
          <a:noFill/>
          <a:ln/>
        </p:spPr>
        <p:txBody>
          <a:bodyPr wrap="square" lIns="0" tIns="0" rIns="0" bIns="0" rtlCol="0" anchor="ctr"/>
          <a:lstStyle/>
          <a:p>
            <a:r>
              <a:rPr lang="en-US" sz="1000" b="1" dirty="0">
                <a:solidFill>
                  <a:srgbClr val="0070C0"/>
                </a:solidFill>
              </a:rPr>
              <a:t>✓ Habitable Zone Detection:</a:t>
            </a:r>
          </a:p>
        </p:txBody>
      </p:sp>
      <p:sp>
        <p:nvSpPr>
          <p:cNvPr id="42" name="Text 40"/>
          <p:cNvSpPr/>
          <p:nvPr/>
        </p:nvSpPr>
        <p:spPr>
          <a:xfrm>
            <a:off x="6265736" y="2742507"/>
            <a:ext cx="2423160" cy="320040"/>
          </a:xfrm>
          <a:prstGeom prst="rect">
            <a:avLst/>
          </a:prstGeom>
          <a:noFill/>
          <a:ln/>
        </p:spPr>
        <p:txBody>
          <a:bodyPr wrap="square" lIns="0" tIns="0" rIns="0" bIns="0" rtlCol="0" anchor="ctr"/>
          <a:lstStyle/>
          <a:p>
            <a:r>
              <a:rPr lang="en-US" sz="1000" dirty="0"/>
              <a:t>Identifies whether a planet lies within its star’s habitable (Goldilocks) zone.</a:t>
            </a:r>
          </a:p>
        </p:txBody>
      </p:sp>
      <p:sp>
        <p:nvSpPr>
          <p:cNvPr id="44" name="Text 42"/>
          <p:cNvSpPr/>
          <p:nvPr/>
        </p:nvSpPr>
        <p:spPr>
          <a:xfrm>
            <a:off x="4697730" y="3177959"/>
            <a:ext cx="1554480" cy="320040"/>
          </a:xfrm>
          <a:prstGeom prst="rect">
            <a:avLst/>
          </a:prstGeom>
          <a:noFill/>
          <a:ln/>
        </p:spPr>
        <p:txBody>
          <a:bodyPr wrap="square" lIns="0" tIns="0" rIns="0" bIns="0" rtlCol="0" anchor="ctr"/>
          <a:lstStyle/>
          <a:p>
            <a:r>
              <a:rPr lang="en-US" sz="1000" b="1" dirty="0">
                <a:solidFill>
                  <a:srgbClr val="0070C0"/>
                </a:solidFill>
              </a:rPr>
              <a:t>✓ Earth Similarity Index (ESI):</a:t>
            </a:r>
          </a:p>
        </p:txBody>
      </p:sp>
      <p:sp>
        <p:nvSpPr>
          <p:cNvPr id="45" name="Text 43"/>
          <p:cNvSpPr/>
          <p:nvPr/>
        </p:nvSpPr>
        <p:spPr>
          <a:xfrm>
            <a:off x="6295396" y="3208206"/>
            <a:ext cx="2423160" cy="320040"/>
          </a:xfrm>
          <a:prstGeom prst="rect">
            <a:avLst/>
          </a:prstGeom>
          <a:noFill/>
          <a:ln/>
        </p:spPr>
        <p:txBody>
          <a:bodyPr wrap="square" lIns="0" tIns="0" rIns="0" bIns="0" rtlCol="0" anchor="ctr"/>
          <a:lstStyle/>
          <a:p>
            <a:r>
              <a:rPr lang="en-US" sz="1000" dirty="0"/>
              <a:t>Calculates similarity to Earth based on radius, mass, temperature, and gravity</a:t>
            </a:r>
            <a:r>
              <a:rPr lang="en-US" sz="1000" b="1" dirty="0"/>
              <a:t>.</a:t>
            </a:r>
            <a:endParaRPr lang="en-US" sz="1000" dirty="0"/>
          </a:p>
        </p:txBody>
      </p:sp>
      <p:sp>
        <p:nvSpPr>
          <p:cNvPr id="47" name="Text 45"/>
          <p:cNvSpPr/>
          <p:nvPr/>
        </p:nvSpPr>
        <p:spPr>
          <a:xfrm>
            <a:off x="4754880" y="3670496"/>
            <a:ext cx="1554480" cy="320040"/>
          </a:xfrm>
          <a:prstGeom prst="rect">
            <a:avLst/>
          </a:prstGeom>
          <a:noFill/>
          <a:ln/>
        </p:spPr>
        <p:txBody>
          <a:bodyPr wrap="square" lIns="0" tIns="0" rIns="0" bIns="0" rtlCol="0" anchor="ctr"/>
          <a:lstStyle/>
          <a:p>
            <a:pPr marL="0" indent="0">
              <a:buNone/>
            </a:pPr>
            <a:r>
              <a:rPr lang="en-US" sz="1000" b="1" dirty="0">
                <a:solidFill>
                  <a:srgbClr val="0070C0"/>
                </a:solidFill>
              </a:rPr>
              <a:t>✓ Star Schema (Gold):</a:t>
            </a:r>
            <a:endParaRPr lang="en-US" sz="1000" dirty="0">
              <a:solidFill>
                <a:srgbClr val="0070C0"/>
              </a:solidFill>
            </a:endParaRPr>
          </a:p>
        </p:txBody>
      </p:sp>
      <p:sp>
        <p:nvSpPr>
          <p:cNvPr id="48" name="Text 46"/>
          <p:cNvSpPr/>
          <p:nvPr/>
        </p:nvSpPr>
        <p:spPr>
          <a:xfrm>
            <a:off x="6265736" y="3721437"/>
            <a:ext cx="2423160" cy="320040"/>
          </a:xfrm>
          <a:prstGeom prst="rect">
            <a:avLst/>
          </a:prstGeom>
          <a:noFill/>
          <a:ln/>
        </p:spPr>
        <p:txBody>
          <a:bodyPr wrap="square" lIns="0" tIns="0" rIns="0" bIns="0" rtlCol="0" anchor="ctr"/>
          <a:lstStyle/>
          <a:p>
            <a:r>
              <a:rPr lang="en-US" sz="1000" dirty="0"/>
              <a:t>1 Fact Table + 4 Dimension Tables optimized for Power BI reporting and analytics.</a:t>
            </a:r>
          </a:p>
        </p:txBody>
      </p:sp>
      <p:sp>
        <p:nvSpPr>
          <p:cNvPr id="50" name="Text 48"/>
          <p:cNvSpPr/>
          <p:nvPr/>
        </p:nvSpPr>
        <p:spPr>
          <a:xfrm>
            <a:off x="4754880" y="4169716"/>
            <a:ext cx="1554480" cy="320040"/>
          </a:xfrm>
          <a:prstGeom prst="rect">
            <a:avLst/>
          </a:prstGeom>
          <a:noFill/>
          <a:ln/>
        </p:spPr>
        <p:txBody>
          <a:bodyPr wrap="square" lIns="0" tIns="0" rIns="0" bIns="0" rtlCol="0" anchor="ctr"/>
          <a:lstStyle/>
          <a:p>
            <a:pPr marL="0" indent="0">
              <a:buNone/>
            </a:pPr>
            <a:r>
              <a:rPr lang="en-US" sz="1000" b="1" dirty="0">
                <a:solidFill>
                  <a:srgbClr val="0070C0"/>
                </a:solidFill>
              </a:rPr>
              <a:t>✓ 7-Page Dashboard:</a:t>
            </a:r>
            <a:endParaRPr lang="en-US" sz="1000" dirty="0">
              <a:solidFill>
                <a:srgbClr val="0070C0"/>
              </a:solidFill>
            </a:endParaRPr>
          </a:p>
        </p:txBody>
      </p:sp>
      <p:sp>
        <p:nvSpPr>
          <p:cNvPr id="51" name="Text 49"/>
          <p:cNvSpPr/>
          <p:nvPr/>
        </p:nvSpPr>
        <p:spPr>
          <a:xfrm>
            <a:off x="6265736" y="4417279"/>
            <a:ext cx="2019109" cy="116354"/>
          </a:xfrm>
          <a:prstGeom prst="rect">
            <a:avLst/>
          </a:prstGeom>
          <a:noFill/>
          <a:ln/>
        </p:spPr>
        <p:txBody>
          <a:bodyPr wrap="square" lIns="0" tIns="0" rIns="0" bIns="0" rtlCol="0" anchor="ctr"/>
          <a:lstStyle/>
          <a:p>
            <a:r>
              <a:rPr lang="en-US" sz="1000" dirty="0"/>
              <a:t>Multi-page Power BI dashboard with KPIs, slicers, maps, and dynamic visualizations for planet exploration</a:t>
            </a:r>
            <a:r>
              <a:rPr lang="en-US" sz="1000" b="1" dirty="0"/>
              <a:t>.</a:t>
            </a:r>
            <a:br>
              <a:rPr lang="en-US" sz="1000" dirty="0"/>
            </a:br>
            <a:endParaRPr lang="en-US" sz="1000" dirty="0"/>
          </a:p>
        </p:txBody>
      </p:sp>
      <p:pic>
        <p:nvPicPr>
          <p:cNvPr id="52" name="Picture 2" descr="مبادرة رواد مصر الرقمية - YouTube">
            <a:extLst>
              <a:ext uri="{FF2B5EF4-FFF2-40B4-BE49-F238E27FC236}">
                <a16:creationId xmlns:a16="http://schemas.microsoft.com/office/drawing/2014/main" id="{6202F33F-1577-484A-A619-2619319317CA}"/>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3687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E0E3F17E-9076-41B2-9A7A-BD8BA8B4B32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22335"/>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a:extLst>
              <a:ext uri="{FF2B5EF4-FFF2-40B4-BE49-F238E27FC236}">
                <a16:creationId xmlns:a16="http://schemas.microsoft.com/office/drawing/2014/main" id="{61DBA704-ED25-4887-A5A3-EE525BEEBF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5720"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9D22677-0279-CCE7-3786-8C0907D173C3}"/>
              </a:ext>
            </a:extLst>
          </p:cNvPr>
          <p:cNvSpPr txBox="1"/>
          <p:nvPr/>
        </p:nvSpPr>
        <p:spPr>
          <a:xfrm>
            <a:off x="4617721" y="1785375"/>
            <a:ext cx="1975104" cy="261610"/>
          </a:xfrm>
          <a:prstGeom prst="rect">
            <a:avLst/>
          </a:prstGeom>
          <a:noFill/>
        </p:spPr>
        <p:txBody>
          <a:bodyPr wrap="square" rtlCol="0">
            <a:spAutoFit/>
          </a:bodyPr>
          <a:lstStyle/>
          <a:p>
            <a:r>
              <a:rPr lang="en-US" sz="1100" b="1" dirty="0">
                <a:solidFill>
                  <a:srgbClr val="0070C0"/>
                </a:solidFill>
              </a:rPr>
              <a:t>✓ AI Prediction Model:</a:t>
            </a:r>
          </a:p>
        </p:txBody>
      </p:sp>
      <p:sp>
        <p:nvSpPr>
          <p:cNvPr id="11" name="TextBox 10">
            <a:extLst>
              <a:ext uri="{FF2B5EF4-FFF2-40B4-BE49-F238E27FC236}">
                <a16:creationId xmlns:a16="http://schemas.microsoft.com/office/drawing/2014/main" id="{AEA74677-7D42-A563-34C9-48F870344D95}"/>
              </a:ext>
            </a:extLst>
          </p:cNvPr>
          <p:cNvSpPr txBox="1"/>
          <p:nvPr/>
        </p:nvSpPr>
        <p:spPr>
          <a:xfrm>
            <a:off x="6195065" y="1632532"/>
            <a:ext cx="2276851" cy="553998"/>
          </a:xfrm>
          <a:prstGeom prst="rect">
            <a:avLst/>
          </a:prstGeom>
          <a:noFill/>
        </p:spPr>
        <p:txBody>
          <a:bodyPr wrap="square" rtlCol="0">
            <a:spAutoFit/>
          </a:bodyPr>
          <a:lstStyle/>
          <a:p>
            <a:r>
              <a:rPr lang="en-US" sz="1000" dirty="0"/>
              <a:t>Machine Learning model predicts planetary habitability using key astronomical features</a:t>
            </a:r>
            <a:r>
              <a:rPr lang="en-US" sz="1000" b="1" dirty="0"/>
              <a: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5</a:t>
            </a:r>
            <a:endParaRPr lang="en-US" sz="1000" dirty="0"/>
          </a:p>
        </p:txBody>
      </p:sp>
      <p:sp>
        <p:nvSpPr>
          <p:cNvPr id="14" name="Shape 12"/>
          <p:cNvSpPr/>
          <p:nvPr/>
        </p:nvSpPr>
        <p:spPr>
          <a:xfrm>
            <a:off x="320040" y="850392"/>
            <a:ext cx="64008" cy="438912"/>
          </a:xfrm>
          <a:prstGeom prst="rect">
            <a:avLst/>
          </a:prstGeom>
          <a:solidFill>
            <a:srgbClr val="047954"/>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047954"/>
                </a:solidFill>
                <a:latin typeface="Times New Roman" panose="02020603050405020304" pitchFamily="18" charset="0"/>
                <a:cs typeface="Times New Roman" panose="02020603050405020304" pitchFamily="18" charset="0"/>
              </a:rPr>
              <a:t>Data Structure</a:t>
            </a:r>
            <a:endParaRPr lang="en-US" sz="2200" dirty="0">
              <a:latin typeface="Times New Roman" panose="02020603050405020304" pitchFamily="18" charset="0"/>
              <a:cs typeface="Times New Roman" panose="02020603050405020304" pitchFamily="18" charset="0"/>
            </a:endParaRP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sp>
        <p:nvSpPr>
          <p:cNvPr id="17" name="Shape 15"/>
          <p:cNvSpPr/>
          <p:nvPr/>
        </p:nvSpPr>
        <p:spPr>
          <a:xfrm>
            <a:off x="320040" y="1417320"/>
            <a:ext cx="4023360" cy="292608"/>
          </a:xfrm>
          <a:prstGeom prst="rect">
            <a:avLst/>
          </a:prstGeom>
          <a:solidFill>
            <a:srgbClr val="0070C0"/>
          </a:solidFill>
          <a:ln w="12700">
            <a:solidFill>
              <a:srgbClr val="047954"/>
            </a:solidFill>
            <a:prstDash val="solid"/>
          </a:ln>
        </p:spPr>
        <p:txBody>
          <a:bodyPr/>
          <a:lstStyle/>
          <a:p>
            <a:endParaRPr lang="en-US"/>
          </a:p>
        </p:txBody>
      </p:sp>
      <p:sp>
        <p:nvSpPr>
          <p:cNvPr id="18" name="Text 16"/>
          <p:cNvSpPr/>
          <p:nvPr/>
        </p:nvSpPr>
        <p:spPr>
          <a:xfrm>
            <a:off x="320040" y="1417320"/>
            <a:ext cx="4023360" cy="292608"/>
          </a:xfrm>
          <a:prstGeom prst="rect">
            <a:avLst/>
          </a:prstGeom>
          <a:noFill/>
          <a:ln/>
        </p:spPr>
        <p:txBody>
          <a:bodyPr wrap="square" lIns="0" tIns="0" rIns="0" bIns="0" rtlCol="0" anchor="ctr"/>
          <a:lstStyle/>
          <a:p>
            <a:pPr marL="0" indent="0" algn="ctr">
              <a:buNone/>
            </a:pPr>
            <a:r>
              <a:rPr lang="en-US" sz="1200" b="1" dirty="0">
                <a:solidFill>
                  <a:srgbClr val="FFFFFF"/>
                </a:solidFill>
              </a:rPr>
              <a:t>Dataset Overview</a:t>
            </a:r>
            <a:endParaRPr lang="en-US" sz="1200" dirty="0"/>
          </a:p>
        </p:txBody>
      </p:sp>
      <p:sp>
        <p:nvSpPr>
          <p:cNvPr id="19" name="Shape 17"/>
          <p:cNvSpPr/>
          <p:nvPr/>
        </p:nvSpPr>
        <p:spPr>
          <a:xfrm>
            <a:off x="320040" y="1709928"/>
            <a:ext cx="4023360" cy="365760"/>
          </a:xfrm>
          <a:prstGeom prst="rect">
            <a:avLst/>
          </a:prstGeom>
          <a:solidFill>
            <a:srgbClr val="F5F5F5"/>
          </a:solidFill>
          <a:ln w="12700">
            <a:solidFill>
              <a:srgbClr val="DDDDDD"/>
            </a:solidFill>
            <a:prstDash val="solid"/>
          </a:ln>
        </p:spPr>
        <p:txBody>
          <a:bodyPr/>
          <a:lstStyle/>
          <a:p>
            <a:endParaRPr lang="en-US"/>
          </a:p>
        </p:txBody>
      </p:sp>
      <p:sp>
        <p:nvSpPr>
          <p:cNvPr id="20" name="Text 18"/>
          <p:cNvSpPr/>
          <p:nvPr/>
        </p:nvSpPr>
        <p:spPr>
          <a:xfrm>
            <a:off x="384048" y="1709928"/>
            <a:ext cx="1005840" cy="365760"/>
          </a:xfrm>
          <a:prstGeom prst="rect">
            <a:avLst/>
          </a:prstGeom>
          <a:noFill/>
          <a:ln/>
        </p:spPr>
        <p:txBody>
          <a:bodyPr wrap="square" lIns="0" tIns="0" rIns="0" bIns="0" rtlCol="0" anchor="ctr"/>
          <a:lstStyle/>
          <a:p>
            <a:pPr marL="0" indent="0">
              <a:buNone/>
            </a:pPr>
            <a:r>
              <a:rPr lang="en-US" sz="1100" b="1" dirty="0">
                <a:solidFill>
                  <a:srgbClr val="047954"/>
                </a:solidFill>
              </a:rPr>
              <a:t>Source</a:t>
            </a:r>
            <a:endParaRPr lang="en-US" sz="1100" dirty="0"/>
          </a:p>
        </p:txBody>
      </p:sp>
      <p:sp>
        <p:nvSpPr>
          <p:cNvPr id="21" name="Text 19"/>
          <p:cNvSpPr/>
          <p:nvPr/>
        </p:nvSpPr>
        <p:spPr>
          <a:xfrm>
            <a:off x="1417320" y="1709928"/>
            <a:ext cx="2834640" cy="365760"/>
          </a:xfrm>
          <a:prstGeom prst="rect">
            <a:avLst/>
          </a:prstGeom>
          <a:noFill/>
          <a:ln/>
        </p:spPr>
        <p:txBody>
          <a:bodyPr wrap="square" lIns="0" tIns="0" rIns="0" bIns="0" rtlCol="0" anchor="ctr"/>
          <a:lstStyle/>
          <a:p>
            <a:r>
              <a:rPr lang="en-US" sz="1100" dirty="0"/>
              <a:t>NASA Exoplanet Watch Dataset and Kaggle</a:t>
            </a:r>
          </a:p>
        </p:txBody>
      </p:sp>
      <p:sp>
        <p:nvSpPr>
          <p:cNvPr id="22" name="Shape 20"/>
          <p:cNvSpPr/>
          <p:nvPr/>
        </p:nvSpPr>
        <p:spPr>
          <a:xfrm>
            <a:off x="320040" y="2112264"/>
            <a:ext cx="4023360" cy="365760"/>
          </a:xfrm>
          <a:prstGeom prst="rect">
            <a:avLst/>
          </a:prstGeom>
          <a:solidFill>
            <a:srgbClr val="FFFFFF"/>
          </a:solidFill>
          <a:ln w="12700">
            <a:solidFill>
              <a:srgbClr val="DDDDDD"/>
            </a:solidFill>
            <a:prstDash val="solid"/>
          </a:ln>
        </p:spPr>
        <p:txBody>
          <a:bodyPr/>
          <a:lstStyle/>
          <a:p>
            <a:endParaRPr lang="en-US"/>
          </a:p>
        </p:txBody>
      </p:sp>
      <p:sp>
        <p:nvSpPr>
          <p:cNvPr id="23" name="Text 21"/>
          <p:cNvSpPr/>
          <p:nvPr/>
        </p:nvSpPr>
        <p:spPr>
          <a:xfrm>
            <a:off x="384048" y="2112264"/>
            <a:ext cx="1005840" cy="365760"/>
          </a:xfrm>
          <a:prstGeom prst="rect">
            <a:avLst/>
          </a:prstGeom>
          <a:noFill/>
          <a:ln/>
        </p:spPr>
        <p:txBody>
          <a:bodyPr wrap="square" lIns="0" tIns="0" rIns="0" bIns="0" rtlCol="0" anchor="ctr"/>
          <a:lstStyle/>
          <a:p>
            <a:pPr marL="0" indent="0">
              <a:buNone/>
            </a:pPr>
            <a:r>
              <a:rPr lang="en-US" sz="1100" b="1" dirty="0">
                <a:solidFill>
                  <a:srgbClr val="047954"/>
                </a:solidFill>
              </a:rPr>
              <a:t>Data Type</a:t>
            </a:r>
            <a:endParaRPr lang="en-US" sz="1100" dirty="0"/>
          </a:p>
        </p:txBody>
      </p:sp>
      <p:sp>
        <p:nvSpPr>
          <p:cNvPr id="24" name="Text 22"/>
          <p:cNvSpPr/>
          <p:nvPr/>
        </p:nvSpPr>
        <p:spPr>
          <a:xfrm>
            <a:off x="1417320" y="2112264"/>
            <a:ext cx="2834640" cy="365760"/>
          </a:xfrm>
          <a:prstGeom prst="rect">
            <a:avLst/>
          </a:prstGeom>
          <a:noFill/>
          <a:ln/>
        </p:spPr>
        <p:txBody>
          <a:bodyPr wrap="square" lIns="0" tIns="0" rIns="0" bIns="0" rtlCol="0" anchor="ctr"/>
          <a:lstStyle/>
          <a:p>
            <a:r>
              <a:rPr lang="en-US" sz="1100" dirty="0"/>
              <a:t>Synthetic CSV</a:t>
            </a:r>
          </a:p>
        </p:txBody>
      </p:sp>
      <p:sp>
        <p:nvSpPr>
          <p:cNvPr id="25" name="Shape 23"/>
          <p:cNvSpPr/>
          <p:nvPr/>
        </p:nvSpPr>
        <p:spPr>
          <a:xfrm>
            <a:off x="320040" y="2514600"/>
            <a:ext cx="4023360" cy="365760"/>
          </a:xfrm>
          <a:prstGeom prst="rect">
            <a:avLst/>
          </a:prstGeom>
          <a:solidFill>
            <a:srgbClr val="F5F5F5"/>
          </a:solidFill>
          <a:ln w="12700">
            <a:solidFill>
              <a:srgbClr val="DDDDDD"/>
            </a:solidFill>
            <a:prstDash val="solid"/>
          </a:ln>
        </p:spPr>
        <p:txBody>
          <a:bodyPr/>
          <a:lstStyle/>
          <a:p>
            <a:endParaRPr lang="en-US"/>
          </a:p>
        </p:txBody>
      </p:sp>
      <p:sp>
        <p:nvSpPr>
          <p:cNvPr id="26" name="Text 24"/>
          <p:cNvSpPr/>
          <p:nvPr/>
        </p:nvSpPr>
        <p:spPr>
          <a:xfrm>
            <a:off x="384048" y="2514600"/>
            <a:ext cx="1005840" cy="365760"/>
          </a:xfrm>
          <a:prstGeom prst="rect">
            <a:avLst/>
          </a:prstGeom>
          <a:noFill/>
          <a:ln/>
        </p:spPr>
        <p:txBody>
          <a:bodyPr wrap="square" lIns="0" tIns="0" rIns="0" bIns="0" rtlCol="0" anchor="ctr"/>
          <a:lstStyle/>
          <a:p>
            <a:pPr marL="0" indent="0">
              <a:buNone/>
            </a:pPr>
            <a:r>
              <a:rPr lang="en-US" sz="1100" b="1" dirty="0">
                <a:solidFill>
                  <a:srgbClr val="047954"/>
                </a:solidFill>
              </a:rPr>
              <a:t>Rows</a:t>
            </a:r>
            <a:endParaRPr lang="en-US" sz="1100" dirty="0"/>
          </a:p>
        </p:txBody>
      </p:sp>
      <p:sp>
        <p:nvSpPr>
          <p:cNvPr id="27" name="Text 25"/>
          <p:cNvSpPr/>
          <p:nvPr/>
        </p:nvSpPr>
        <p:spPr>
          <a:xfrm>
            <a:off x="1417320" y="2514600"/>
            <a:ext cx="2834640" cy="365760"/>
          </a:xfrm>
          <a:prstGeom prst="rect">
            <a:avLst/>
          </a:prstGeom>
          <a:noFill/>
          <a:ln/>
        </p:spPr>
        <p:txBody>
          <a:bodyPr wrap="square" lIns="0" tIns="0" rIns="0" bIns="0" rtlCol="0" anchor="ctr"/>
          <a:lstStyle/>
          <a:p>
            <a:r>
              <a:rPr lang="en-US" sz="1100" dirty="0"/>
              <a:t>5678 (full dataset)</a:t>
            </a:r>
          </a:p>
        </p:txBody>
      </p:sp>
      <p:sp>
        <p:nvSpPr>
          <p:cNvPr id="28" name="Shape 26"/>
          <p:cNvSpPr/>
          <p:nvPr/>
        </p:nvSpPr>
        <p:spPr>
          <a:xfrm>
            <a:off x="320040" y="2916936"/>
            <a:ext cx="4023360" cy="365760"/>
          </a:xfrm>
          <a:prstGeom prst="rect">
            <a:avLst/>
          </a:prstGeom>
          <a:solidFill>
            <a:srgbClr val="FFFFFF"/>
          </a:solidFill>
          <a:ln w="12700">
            <a:solidFill>
              <a:srgbClr val="DDDDDD"/>
            </a:solidFill>
            <a:prstDash val="solid"/>
          </a:ln>
        </p:spPr>
        <p:txBody>
          <a:bodyPr/>
          <a:lstStyle/>
          <a:p>
            <a:endParaRPr lang="en-US"/>
          </a:p>
        </p:txBody>
      </p:sp>
      <p:sp>
        <p:nvSpPr>
          <p:cNvPr id="29" name="Text 27"/>
          <p:cNvSpPr/>
          <p:nvPr/>
        </p:nvSpPr>
        <p:spPr>
          <a:xfrm>
            <a:off x="384048" y="2916936"/>
            <a:ext cx="1005840" cy="365760"/>
          </a:xfrm>
          <a:prstGeom prst="rect">
            <a:avLst/>
          </a:prstGeom>
          <a:noFill/>
          <a:ln/>
        </p:spPr>
        <p:txBody>
          <a:bodyPr wrap="square" lIns="0" tIns="0" rIns="0" bIns="0" rtlCol="0" anchor="ctr"/>
          <a:lstStyle/>
          <a:p>
            <a:pPr marL="0" indent="0">
              <a:buNone/>
            </a:pPr>
            <a:r>
              <a:rPr lang="en-US" sz="1100" b="1" dirty="0">
                <a:solidFill>
                  <a:srgbClr val="047954"/>
                </a:solidFill>
              </a:rPr>
              <a:t>Raw Columns</a:t>
            </a:r>
            <a:endParaRPr lang="en-US" sz="1100" dirty="0"/>
          </a:p>
        </p:txBody>
      </p:sp>
      <p:sp>
        <p:nvSpPr>
          <p:cNvPr id="30" name="Text 28"/>
          <p:cNvSpPr/>
          <p:nvPr/>
        </p:nvSpPr>
        <p:spPr>
          <a:xfrm>
            <a:off x="1417320" y="2916936"/>
            <a:ext cx="2834640" cy="365760"/>
          </a:xfrm>
          <a:prstGeom prst="rect">
            <a:avLst/>
          </a:prstGeom>
          <a:noFill/>
          <a:ln/>
        </p:spPr>
        <p:txBody>
          <a:bodyPr wrap="square" lIns="0" tIns="0" rIns="0" bIns="0" rtlCol="0" anchor="ctr"/>
          <a:lstStyle/>
          <a:p>
            <a:r>
              <a:rPr lang="en-US" sz="1100" dirty="0"/>
              <a:t>19 columns</a:t>
            </a:r>
          </a:p>
        </p:txBody>
      </p:sp>
      <p:sp>
        <p:nvSpPr>
          <p:cNvPr id="31" name="Shape 29"/>
          <p:cNvSpPr/>
          <p:nvPr/>
        </p:nvSpPr>
        <p:spPr>
          <a:xfrm>
            <a:off x="320040" y="3319272"/>
            <a:ext cx="4023360" cy="365760"/>
          </a:xfrm>
          <a:prstGeom prst="rect">
            <a:avLst/>
          </a:prstGeom>
          <a:solidFill>
            <a:srgbClr val="F5F5F5"/>
          </a:solidFill>
          <a:ln w="12700">
            <a:solidFill>
              <a:srgbClr val="DDDDDD"/>
            </a:solidFill>
            <a:prstDash val="solid"/>
          </a:ln>
        </p:spPr>
        <p:txBody>
          <a:bodyPr/>
          <a:lstStyle/>
          <a:p>
            <a:endParaRPr lang="en-US"/>
          </a:p>
        </p:txBody>
      </p:sp>
      <p:sp>
        <p:nvSpPr>
          <p:cNvPr id="32" name="Text 30"/>
          <p:cNvSpPr/>
          <p:nvPr/>
        </p:nvSpPr>
        <p:spPr>
          <a:xfrm>
            <a:off x="384048" y="3319272"/>
            <a:ext cx="1005840" cy="365760"/>
          </a:xfrm>
          <a:prstGeom prst="rect">
            <a:avLst/>
          </a:prstGeom>
          <a:noFill/>
          <a:ln/>
        </p:spPr>
        <p:txBody>
          <a:bodyPr wrap="square" lIns="0" tIns="0" rIns="0" bIns="0" rtlCol="0" anchor="ctr"/>
          <a:lstStyle/>
          <a:p>
            <a:pPr marL="0" indent="0">
              <a:buNone/>
            </a:pPr>
            <a:r>
              <a:rPr lang="en-US" sz="1100" b="1" dirty="0">
                <a:solidFill>
                  <a:srgbClr val="047954"/>
                </a:solidFill>
              </a:rPr>
              <a:t>Engineered Cols</a:t>
            </a:r>
            <a:endParaRPr lang="en-US" sz="1100" dirty="0"/>
          </a:p>
        </p:txBody>
      </p:sp>
      <p:sp>
        <p:nvSpPr>
          <p:cNvPr id="33" name="Text 31"/>
          <p:cNvSpPr/>
          <p:nvPr/>
        </p:nvSpPr>
        <p:spPr>
          <a:xfrm>
            <a:off x="1417320" y="3319272"/>
            <a:ext cx="2834640" cy="365760"/>
          </a:xfrm>
          <a:prstGeom prst="rect">
            <a:avLst/>
          </a:prstGeom>
          <a:noFill/>
          <a:ln/>
        </p:spPr>
        <p:txBody>
          <a:bodyPr wrap="square" lIns="0" tIns="0" rIns="0" bIns="0" rtlCol="0" anchor="ctr"/>
          <a:lstStyle/>
          <a:p>
            <a:pPr marL="0" indent="0">
              <a:buNone/>
            </a:pPr>
            <a:r>
              <a:rPr lang="en-US" sz="1100" dirty="0">
                <a:solidFill>
                  <a:srgbClr val="1A1A1A"/>
                </a:solidFill>
              </a:rPr>
              <a:t>6 KPIs added in Silver layer (total 25 cols)</a:t>
            </a:r>
            <a:endParaRPr lang="en-US" sz="1100" dirty="0"/>
          </a:p>
        </p:txBody>
      </p:sp>
      <p:sp>
        <p:nvSpPr>
          <p:cNvPr id="34" name="Shape 32"/>
          <p:cNvSpPr/>
          <p:nvPr/>
        </p:nvSpPr>
        <p:spPr>
          <a:xfrm>
            <a:off x="320040" y="3721608"/>
            <a:ext cx="4023360" cy="365760"/>
          </a:xfrm>
          <a:prstGeom prst="rect">
            <a:avLst/>
          </a:prstGeom>
          <a:solidFill>
            <a:srgbClr val="FFFFFF"/>
          </a:solidFill>
          <a:ln w="12700">
            <a:solidFill>
              <a:srgbClr val="DDDDDD"/>
            </a:solidFill>
            <a:prstDash val="solid"/>
          </a:ln>
        </p:spPr>
        <p:txBody>
          <a:bodyPr/>
          <a:lstStyle/>
          <a:p>
            <a:endParaRPr lang="en-US"/>
          </a:p>
        </p:txBody>
      </p:sp>
      <p:sp>
        <p:nvSpPr>
          <p:cNvPr id="35" name="Text 33"/>
          <p:cNvSpPr/>
          <p:nvPr/>
        </p:nvSpPr>
        <p:spPr>
          <a:xfrm>
            <a:off x="384048" y="3721608"/>
            <a:ext cx="1005840" cy="365760"/>
          </a:xfrm>
          <a:prstGeom prst="rect">
            <a:avLst/>
          </a:prstGeom>
          <a:noFill/>
          <a:ln/>
        </p:spPr>
        <p:txBody>
          <a:bodyPr wrap="square" lIns="0" tIns="0" rIns="0" bIns="0" rtlCol="0" anchor="ctr"/>
          <a:lstStyle/>
          <a:p>
            <a:pPr marL="0" indent="0">
              <a:buNone/>
            </a:pPr>
            <a:r>
              <a:rPr lang="en-US" sz="1100" b="1" dirty="0">
                <a:solidFill>
                  <a:srgbClr val="047954"/>
                </a:solidFill>
              </a:rPr>
              <a:t>Nulls</a:t>
            </a:r>
            <a:endParaRPr lang="en-US" sz="1100" dirty="0"/>
          </a:p>
        </p:txBody>
      </p:sp>
      <p:sp>
        <p:nvSpPr>
          <p:cNvPr id="36" name="Text 34"/>
          <p:cNvSpPr/>
          <p:nvPr/>
        </p:nvSpPr>
        <p:spPr>
          <a:xfrm>
            <a:off x="1417320" y="3721608"/>
            <a:ext cx="2834640" cy="365760"/>
          </a:xfrm>
          <a:prstGeom prst="rect">
            <a:avLst/>
          </a:prstGeom>
          <a:noFill/>
          <a:ln/>
        </p:spPr>
        <p:txBody>
          <a:bodyPr wrap="square" lIns="0" tIns="0" rIns="0" bIns="0" rtlCol="0" anchor="ctr"/>
          <a:lstStyle/>
          <a:p>
            <a:r>
              <a:rPr lang="en-US" sz="1100" dirty="0"/>
              <a:t>about 30% of the raw data and handled with scientific relations and equations</a:t>
            </a:r>
          </a:p>
        </p:txBody>
      </p:sp>
      <p:sp>
        <p:nvSpPr>
          <p:cNvPr id="37" name="Shape 35"/>
          <p:cNvSpPr/>
          <p:nvPr/>
        </p:nvSpPr>
        <p:spPr>
          <a:xfrm>
            <a:off x="4572000" y="1417320"/>
            <a:ext cx="4251960" cy="292608"/>
          </a:xfrm>
          <a:prstGeom prst="rect">
            <a:avLst/>
          </a:prstGeom>
          <a:solidFill>
            <a:srgbClr val="0070C0"/>
          </a:solidFill>
          <a:ln w="12700">
            <a:solidFill>
              <a:srgbClr val="336EA8"/>
            </a:solidFill>
            <a:prstDash val="solid"/>
          </a:ln>
        </p:spPr>
        <p:txBody>
          <a:bodyPr/>
          <a:lstStyle/>
          <a:p>
            <a:endParaRPr lang="en-US"/>
          </a:p>
        </p:txBody>
      </p:sp>
      <p:sp>
        <p:nvSpPr>
          <p:cNvPr id="38" name="Text 36"/>
          <p:cNvSpPr/>
          <p:nvPr/>
        </p:nvSpPr>
        <p:spPr>
          <a:xfrm>
            <a:off x="4572000" y="1417320"/>
            <a:ext cx="4251960" cy="292608"/>
          </a:xfrm>
          <a:prstGeom prst="rect">
            <a:avLst/>
          </a:prstGeom>
          <a:noFill/>
          <a:ln/>
        </p:spPr>
        <p:txBody>
          <a:bodyPr wrap="square" lIns="0" tIns="0" rIns="0" bIns="0" rtlCol="0" anchor="ctr"/>
          <a:lstStyle/>
          <a:p>
            <a:pPr marL="0" indent="0" algn="ctr">
              <a:buNone/>
            </a:pPr>
            <a:r>
              <a:rPr lang="en-US" sz="1200" b="1" dirty="0">
                <a:solidFill>
                  <a:srgbClr val="FFFFFF"/>
                </a:solidFill>
              </a:rPr>
              <a:t>Medallion Architecture — Data Flow</a:t>
            </a:r>
            <a:endParaRPr lang="en-US" sz="1200" dirty="0"/>
          </a:p>
        </p:txBody>
      </p:sp>
      <p:sp>
        <p:nvSpPr>
          <p:cNvPr id="39" name="Shape 37"/>
          <p:cNvSpPr/>
          <p:nvPr/>
        </p:nvSpPr>
        <p:spPr>
          <a:xfrm>
            <a:off x="4572000" y="1874520"/>
            <a:ext cx="4251960" cy="804672"/>
          </a:xfrm>
          <a:prstGeom prst="rect">
            <a:avLst/>
          </a:prstGeom>
          <a:solidFill>
            <a:srgbClr val="F5F5F5"/>
          </a:solidFill>
          <a:ln w="12700">
            <a:solidFill>
              <a:srgbClr val="DDDDDD"/>
            </a:solidFill>
            <a:prstDash val="solid"/>
          </a:ln>
        </p:spPr>
        <p:txBody>
          <a:bodyPr/>
          <a:lstStyle/>
          <a:p>
            <a:endParaRPr lang="en-US"/>
          </a:p>
        </p:txBody>
      </p:sp>
      <p:sp>
        <p:nvSpPr>
          <p:cNvPr id="40" name="Shape 38"/>
          <p:cNvSpPr/>
          <p:nvPr/>
        </p:nvSpPr>
        <p:spPr>
          <a:xfrm>
            <a:off x="4572000" y="1874520"/>
            <a:ext cx="777240" cy="804672"/>
          </a:xfrm>
          <a:prstGeom prst="rect">
            <a:avLst/>
          </a:prstGeom>
          <a:solidFill>
            <a:srgbClr val="CD7F32">
              <a:alpha val="85000"/>
            </a:srgbClr>
          </a:solidFill>
          <a:ln w="12700">
            <a:solidFill>
              <a:srgbClr val="CD7F32"/>
            </a:solidFill>
            <a:prstDash val="solid"/>
          </a:ln>
        </p:spPr>
        <p:txBody>
          <a:bodyPr/>
          <a:lstStyle/>
          <a:p>
            <a:endParaRPr lang="en-US"/>
          </a:p>
        </p:txBody>
      </p:sp>
      <p:sp>
        <p:nvSpPr>
          <p:cNvPr id="41" name="Text 39"/>
          <p:cNvSpPr/>
          <p:nvPr/>
        </p:nvSpPr>
        <p:spPr>
          <a:xfrm>
            <a:off x="4572000" y="1874520"/>
            <a:ext cx="777240" cy="804672"/>
          </a:xfrm>
          <a:prstGeom prst="rect">
            <a:avLst/>
          </a:prstGeom>
          <a:noFill/>
          <a:ln/>
        </p:spPr>
        <p:txBody>
          <a:bodyPr wrap="square" lIns="0" tIns="0" rIns="0" bIns="0" rtlCol="0" anchor="ctr"/>
          <a:lstStyle/>
          <a:p>
            <a:pPr marL="0" indent="0" algn="ctr">
              <a:buNone/>
            </a:pPr>
            <a:r>
              <a:rPr lang="en-US" sz="1100" b="1" dirty="0">
                <a:solidFill>
                  <a:srgbClr val="FFFFFF"/>
                </a:solidFill>
              </a:rPr>
              <a:t>BRONZE</a:t>
            </a:r>
            <a:endParaRPr lang="en-US" sz="1100" dirty="0"/>
          </a:p>
        </p:txBody>
      </p:sp>
      <p:sp>
        <p:nvSpPr>
          <p:cNvPr id="43" name="Text 41"/>
          <p:cNvSpPr/>
          <p:nvPr/>
        </p:nvSpPr>
        <p:spPr>
          <a:xfrm>
            <a:off x="5440680" y="2116699"/>
            <a:ext cx="3291840" cy="347472"/>
          </a:xfrm>
          <a:prstGeom prst="rect">
            <a:avLst/>
          </a:prstGeom>
          <a:noFill/>
          <a:ln/>
        </p:spPr>
        <p:txBody>
          <a:bodyPr wrap="square" lIns="0" tIns="0" rIns="0" bIns="0" rtlCol="0" anchor="ctr"/>
          <a:lstStyle/>
          <a:p>
            <a:r>
              <a:rPr lang="en-US" sz="1100" dirty="0">
                <a:hlinkClick r:id="rId3"/>
              </a:rPr>
              <a:t>Bronze</a:t>
            </a:r>
            <a:r>
              <a:rPr lang="ar-EG" sz="1100" dirty="0">
                <a:hlinkClick r:id="rId3"/>
              </a:rPr>
              <a:t> </a:t>
            </a:r>
            <a:r>
              <a:rPr lang="en-US" sz="1100" dirty="0">
                <a:hlinkClick r:id="rId3"/>
              </a:rPr>
              <a:t>Layer</a:t>
            </a:r>
            <a:r>
              <a:rPr lang="en-US" sz="1100" dirty="0"/>
              <a:t> - Raw ingestion, no transforms → new_cleaned_exoplanets.csv,</a:t>
            </a:r>
            <a:br>
              <a:rPr lang="en-US" sz="1100" dirty="0"/>
            </a:br>
            <a:r>
              <a:rPr lang="en-US" sz="1100" dirty="0"/>
              <a:t>new_parallax.csv</a:t>
            </a:r>
          </a:p>
        </p:txBody>
      </p:sp>
      <p:sp>
        <p:nvSpPr>
          <p:cNvPr id="44" name="Text 42"/>
          <p:cNvSpPr/>
          <p:nvPr/>
        </p:nvSpPr>
        <p:spPr>
          <a:xfrm>
            <a:off x="6217920" y="2679192"/>
            <a:ext cx="914400" cy="164592"/>
          </a:xfrm>
          <a:prstGeom prst="rect">
            <a:avLst/>
          </a:prstGeom>
          <a:noFill/>
          <a:ln/>
        </p:spPr>
        <p:txBody>
          <a:bodyPr wrap="square" lIns="0" tIns="0" rIns="0" bIns="0" rtlCol="0" anchor="ctr"/>
          <a:lstStyle/>
          <a:p>
            <a:pPr marL="0" indent="0" algn="ctr">
              <a:buNone/>
            </a:pPr>
            <a:r>
              <a:rPr lang="en-US" sz="1100" dirty="0">
                <a:solidFill>
                  <a:srgbClr val="0FAB7D"/>
                </a:solidFill>
              </a:rPr>
              <a:t>▼</a:t>
            </a:r>
            <a:endParaRPr lang="en-US" sz="1100" dirty="0"/>
          </a:p>
        </p:txBody>
      </p:sp>
      <p:sp>
        <p:nvSpPr>
          <p:cNvPr id="45" name="Shape 43"/>
          <p:cNvSpPr/>
          <p:nvPr/>
        </p:nvSpPr>
        <p:spPr>
          <a:xfrm>
            <a:off x="4572000" y="2862072"/>
            <a:ext cx="4251960" cy="804672"/>
          </a:xfrm>
          <a:prstGeom prst="rect">
            <a:avLst/>
          </a:prstGeom>
          <a:solidFill>
            <a:srgbClr val="F5F5F5"/>
          </a:solidFill>
          <a:ln w="12700">
            <a:solidFill>
              <a:srgbClr val="DDDDDD"/>
            </a:solidFill>
            <a:prstDash val="solid"/>
          </a:ln>
        </p:spPr>
        <p:txBody>
          <a:bodyPr/>
          <a:lstStyle/>
          <a:p>
            <a:endParaRPr lang="en-US"/>
          </a:p>
        </p:txBody>
      </p:sp>
      <p:sp>
        <p:nvSpPr>
          <p:cNvPr id="46" name="Shape 44"/>
          <p:cNvSpPr/>
          <p:nvPr/>
        </p:nvSpPr>
        <p:spPr>
          <a:xfrm>
            <a:off x="4572000" y="2862072"/>
            <a:ext cx="777240" cy="804672"/>
          </a:xfrm>
          <a:prstGeom prst="rect">
            <a:avLst/>
          </a:prstGeom>
          <a:solidFill>
            <a:srgbClr val="888888">
              <a:alpha val="85000"/>
            </a:srgbClr>
          </a:solidFill>
          <a:ln w="12700">
            <a:solidFill>
              <a:srgbClr val="888888"/>
            </a:solidFill>
            <a:prstDash val="solid"/>
          </a:ln>
        </p:spPr>
        <p:txBody>
          <a:bodyPr/>
          <a:lstStyle/>
          <a:p>
            <a:endParaRPr lang="en-US"/>
          </a:p>
        </p:txBody>
      </p:sp>
      <p:sp>
        <p:nvSpPr>
          <p:cNvPr id="47" name="Text 45"/>
          <p:cNvSpPr/>
          <p:nvPr/>
        </p:nvSpPr>
        <p:spPr>
          <a:xfrm>
            <a:off x="4572000" y="2862072"/>
            <a:ext cx="777240" cy="804672"/>
          </a:xfrm>
          <a:prstGeom prst="rect">
            <a:avLst/>
          </a:prstGeom>
          <a:noFill/>
          <a:ln/>
        </p:spPr>
        <p:txBody>
          <a:bodyPr wrap="square" lIns="0" tIns="0" rIns="0" bIns="0" rtlCol="0" anchor="ctr"/>
          <a:lstStyle/>
          <a:p>
            <a:pPr marL="0" indent="0" algn="ctr">
              <a:buNone/>
            </a:pPr>
            <a:r>
              <a:rPr lang="en-US" sz="1100" b="1" dirty="0">
                <a:solidFill>
                  <a:srgbClr val="FFFFFF"/>
                </a:solidFill>
              </a:rPr>
              <a:t>SILVER</a:t>
            </a:r>
            <a:endParaRPr lang="en-US" sz="1100" dirty="0"/>
          </a:p>
        </p:txBody>
      </p:sp>
      <p:sp>
        <p:nvSpPr>
          <p:cNvPr id="48" name="Text 46"/>
          <p:cNvSpPr/>
          <p:nvPr/>
        </p:nvSpPr>
        <p:spPr>
          <a:xfrm>
            <a:off x="5440680" y="2953512"/>
            <a:ext cx="3291840" cy="256032"/>
          </a:xfrm>
          <a:prstGeom prst="rect">
            <a:avLst/>
          </a:prstGeom>
          <a:noFill/>
          <a:ln/>
        </p:spPr>
        <p:txBody>
          <a:bodyPr wrap="square" lIns="0" tIns="0" rIns="0" bIns="0" rtlCol="0" anchor="ctr"/>
          <a:lstStyle/>
          <a:p>
            <a:pPr marL="0" indent="0">
              <a:buNone/>
            </a:pPr>
            <a:endParaRPr lang="en-US" sz="1100" dirty="0"/>
          </a:p>
        </p:txBody>
      </p:sp>
      <p:sp>
        <p:nvSpPr>
          <p:cNvPr id="49" name="Text 47"/>
          <p:cNvSpPr/>
          <p:nvPr/>
        </p:nvSpPr>
        <p:spPr>
          <a:xfrm>
            <a:off x="5440680" y="3080370"/>
            <a:ext cx="3291840" cy="476645"/>
          </a:xfrm>
          <a:prstGeom prst="rect">
            <a:avLst/>
          </a:prstGeom>
          <a:noFill/>
          <a:ln/>
        </p:spPr>
        <p:txBody>
          <a:bodyPr wrap="square" lIns="0" tIns="0" rIns="0" bIns="0" rtlCol="0" anchor="ctr"/>
          <a:lstStyle/>
          <a:p>
            <a:r>
              <a:rPr lang="en-US" sz="1100" dirty="0">
                <a:hlinkClick r:id="rId4"/>
              </a:rPr>
              <a:t>Silver</a:t>
            </a:r>
            <a:r>
              <a:rPr lang="ar-EG" sz="1100" dirty="0">
                <a:hlinkClick r:id="rId4"/>
              </a:rPr>
              <a:t> </a:t>
            </a:r>
            <a:r>
              <a:rPr lang="en-US" sz="1100" dirty="0">
                <a:hlinkClick r:id="rId4"/>
              </a:rPr>
              <a:t>Layer</a:t>
            </a:r>
            <a:r>
              <a:rPr lang="en-US" sz="1100" dirty="0"/>
              <a:t> - Physics-based cleaning + imputation → Data_Cleaned_Silver_layer.csv</a:t>
            </a:r>
          </a:p>
        </p:txBody>
      </p:sp>
      <p:sp>
        <p:nvSpPr>
          <p:cNvPr id="50" name="Text 48"/>
          <p:cNvSpPr/>
          <p:nvPr/>
        </p:nvSpPr>
        <p:spPr>
          <a:xfrm>
            <a:off x="6217920" y="3666744"/>
            <a:ext cx="914400" cy="164592"/>
          </a:xfrm>
          <a:prstGeom prst="rect">
            <a:avLst/>
          </a:prstGeom>
          <a:noFill/>
          <a:ln/>
        </p:spPr>
        <p:txBody>
          <a:bodyPr wrap="square" lIns="0" tIns="0" rIns="0" bIns="0" rtlCol="0" anchor="ctr"/>
          <a:lstStyle/>
          <a:p>
            <a:pPr marL="0" indent="0" algn="ctr">
              <a:buNone/>
            </a:pPr>
            <a:r>
              <a:rPr lang="en-US" sz="1100" dirty="0">
                <a:solidFill>
                  <a:srgbClr val="0FAB7D"/>
                </a:solidFill>
              </a:rPr>
              <a:t>▼</a:t>
            </a:r>
            <a:endParaRPr lang="en-US" sz="1100" dirty="0"/>
          </a:p>
        </p:txBody>
      </p:sp>
      <p:sp>
        <p:nvSpPr>
          <p:cNvPr id="51" name="Shape 49"/>
          <p:cNvSpPr/>
          <p:nvPr/>
        </p:nvSpPr>
        <p:spPr>
          <a:xfrm>
            <a:off x="4572000" y="3849624"/>
            <a:ext cx="4251960" cy="804672"/>
          </a:xfrm>
          <a:prstGeom prst="rect">
            <a:avLst/>
          </a:prstGeom>
          <a:solidFill>
            <a:srgbClr val="F5F5F5"/>
          </a:solidFill>
          <a:ln w="12700">
            <a:solidFill>
              <a:srgbClr val="DDDDDD"/>
            </a:solidFill>
            <a:prstDash val="solid"/>
          </a:ln>
        </p:spPr>
        <p:txBody>
          <a:bodyPr/>
          <a:lstStyle/>
          <a:p>
            <a:endParaRPr lang="en-US" dirty="0"/>
          </a:p>
        </p:txBody>
      </p:sp>
      <p:sp>
        <p:nvSpPr>
          <p:cNvPr id="52" name="Shape 50"/>
          <p:cNvSpPr/>
          <p:nvPr/>
        </p:nvSpPr>
        <p:spPr>
          <a:xfrm>
            <a:off x="4572000" y="3849624"/>
            <a:ext cx="777240" cy="804672"/>
          </a:xfrm>
          <a:prstGeom prst="rect">
            <a:avLst/>
          </a:prstGeom>
          <a:solidFill>
            <a:srgbClr val="D7B119">
              <a:alpha val="85000"/>
            </a:srgbClr>
          </a:solidFill>
          <a:ln w="12700">
            <a:solidFill>
              <a:srgbClr val="D7B119"/>
            </a:solidFill>
            <a:prstDash val="solid"/>
          </a:ln>
        </p:spPr>
        <p:txBody>
          <a:bodyPr/>
          <a:lstStyle/>
          <a:p>
            <a:endParaRPr lang="en-US"/>
          </a:p>
        </p:txBody>
      </p:sp>
      <p:sp>
        <p:nvSpPr>
          <p:cNvPr id="53" name="Text 51"/>
          <p:cNvSpPr/>
          <p:nvPr/>
        </p:nvSpPr>
        <p:spPr>
          <a:xfrm>
            <a:off x="4572000" y="3849624"/>
            <a:ext cx="777240" cy="804672"/>
          </a:xfrm>
          <a:prstGeom prst="rect">
            <a:avLst/>
          </a:prstGeom>
          <a:noFill/>
          <a:ln/>
        </p:spPr>
        <p:txBody>
          <a:bodyPr wrap="square" lIns="0" tIns="0" rIns="0" bIns="0" rtlCol="0" anchor="ctr"/>
          <a:lstStyle/>
          <a:p>
            <a:pPr marL="0" indent="0" algn="ctr">
              <a:buNone/>
            </a:pPr>
            <a:r>
              <a:rPr lang="en-US" sz="1050" b="1" dirty="0">
                <a:solidFill>
                  <a:srgbClr val="FFFFFF"/>
                </a:solidFill>
              </a:rPr>
              <a:t>GOLD</a:t>
            </a:r>
            <a:endParaRPr lang="en-US" sz="1050" dirty="0"/>
          </a:p>
        </p:txBody>
      </p:sp>
      <p:sp>
        <p:nvSpPr>
          <p:cNvPr id="54" name="Text 52"/>
          <p:cNvSpPr/>
          <p:nvPr/>
        </p:nvSpPr>
        <p:spPr>
          <a:xfrm>
            <a:off x="5440680" y="3941064"/>
            <a:ext cx="3291840" cy="256032"/>
          </a:xfrm>
          <a:prstGeom prst="rect">
            <a:avLst/>
          </a:prstGeom>
          <a:noFill/>
          <a:ln/>
        </p:spPr>
        <p:txBody>
          <a:bodyPr wrap="square" lIns="0" tIns="0" rIns="0" bIns="0" rtlCol="0" anchor="ctr"/>
          <a:lstStyle/>
          <a:p>
            <a:pPr marL="0" indent="0">
              <a:buNone/>
            </a:pPr>
            <a:endParaRPr lang="en-US" sz="1100" dirty="0"/>
          </a:p>
        </p:txBody>
      </p:sp>
      <p:sp>
        <p:nvSpPr>
          <p:cNvPr id="55" name="Text 53"/>
          <p:cNvSpPr/>
          <p:nvPr/>
        </p:nvSpPr>
        <p:spPr>
          <a:xfrm>
            <a:off x="5440680" y="3941064"/>
            <a:ext cx="3291840" cy="640080"/>
          </a:xfrm>
          <a:prstGeom prst="rect">
            <a:avLst/>
          </a:prstGeom>
          <a:noFill/>
          <a:ln/>
        </p:spPr>
        <p:txBody>
          <a:bodyPr wrap="square" lIns="0" tIns="0" rIns="0" bIns="0" rtlCol="0" anchor="ctr"/>
          <a:lstStyle/>
          <a:p>
            <a:r>
              <a:rPr lang="en-US" sz="1100" dirty="0">
                <a:hlinkClick r:id="rId5"/>
              </a:rPr>
              <a:t>Gold</a:t>
            </a:r>
            <a:r>
              <a:rPr lang="ar-EG" sz="1100" dirty="0">
                <a:hlinkClick r:id="rId5"/>
              </a:rPr>
              <a:t> </a:t>
            </a:r>
            <a:r>
              <a:rPr lang="en-US" sz="1100" dirty="0">
                <a:hlinkClick r:id="rId5"/>
              </a:rPr>
              <a:t>Layer</a:t>
            </a:r>
            <a:r>
              <a:rPr lang="en-US" sz="1100" dirty="0"/>
              <a:t> - Star Schema (1 Fact + 4 Dimension tables) → Data_Gold_Layer.csv / </a:t>
            </a:r>
            <a:r>
              <a:rPr lang="en-US" sz="1100" dirty="0" err="1"/>
              <a:t>xIsx</a:t>
            </a:r>
            <a:r>
              <a:rPr lang="en-US" sz="1100" dirty="0"/>
              <a:t>,</a:t>
            </a:r>
            <a:br>
              <a:rPr lang="en-US" sz="1100" dirty="0"/>
            </a:br>
            <a:r>
              <a:rPr lang="en-US" sz="1100" dirty="0"/>
              <a:t>Power BI ready</a:t>
            </a:r>
          </a:p>
        </p:txBody>
      </p:sp>
      <p:pic>
        <p:nvPicPr>
          <p:cNvPr id="56" name="Picture 2" descr="مبادرة رواد مصر الرقمية - YouTube">
            <a:extLst>
              <a:ext uri="{FF2B5EF4-FFF2-40B4-BE49-F238E27FC236}">
                <a16:creationId xmlns:a16="http://schemas.microsoft.com/office/drawing/2014/main" id="{8809583B-2D73-449E-BA23-61DB382EB98E}"/>
              </a:ext>
            </a:extLst>
          </p:cNvPr>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91D0EF5-B7E4-4B0A-8931-1E80D02B6C54}"/>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a:extLst>
              <a:ext uri="{FF2B5EF4-FFF2-40B4-BE49-F238E27FC236}">
                <a16:creationId xmlns:a16="http://schemas.microsoft.com/office/drawing/2014/main" id="{D73E64F7-CB44-4805-812F-562DE1DFE22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5720"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BDB98C-4040-93E4-3B19-BC6A9FAE881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6C708C0-875F-644C-67B2-38078A8B3DA2}"/>
              </a:ext>
            </a:extLst>
          </p:cNvPr>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a:extLst>
              <a:ext uri="{FF2B5EF4-FFF2-40B4-BE49-F238E27FC236}">
                <a16:creationId xmlns:a16="http://schemas.microsoft.com/office/drawing/2014/main" id="{AA429528-13FE-D8FF-1EA1-5F18BBBE0CA5}"/>
              </a:ext>
            </a:extLst>
          </p:cNvPr>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a:extLst>
              <a:ext uri="{FF2B5EF4-FFF2-40B4-BE49-F238E27FC236}">
                <a16:creationId xmlns:a16="http://schemas.microsoft.com/office/drawing/2014/main" id="{E46A0C66-6369-A311-830B-D1E5178E4747}"/>
              </a:ext>
            </a:extLst>
          </p:cNvPr>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7</a:t>
            </a:r>
            <a:endParaRPr lang="en-US" sz="1000" dirty="0"/>
          </a:p>
        </p:txBody>
      </p:sp>
      <p:sp>
        <p:nvSpPr>
          <p:cNvPr id="14" name="Shape 12">
            <a:extLst>
              <a:ext uri="{FF2B5EF4-FFF2-40B4-BE49-F238E27FC236}">
                <a16:creationId xmlns:a16="http://schemas.microsoft.com/office/drawing/2014/main" id="{7B70B9F9-2886-F079-9234-802B85F68D7D}"/>
              </a:ext>
            </a:extLst>
          </p:cNvPr>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a:extLst>
              <a:ext uri="{FF2B5EF4-FFF2-40B4-BE49-F238E27FC236}">
                <a16:creationId xmlns:a16="http://schemas.microsoft.com/office/drawing/2014/main" id="{B5B0FDA6-728C-B95C-1F6F-8ACF7822BE56}"/>
              </a:ext>
            </a:extLst>
          </p:cNvPr>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ARCHITECTURE</a:t>
            </a:r>
          </a:p>
        </p:txBody>
      </p:sp>
      <p:sp>
        <p:nvSpPr>
          <p:cNvPr id="16" name="Shape 14">
            <a:extLst>
              <a:ext uri="{FF2B5EF4-FFF2-40B4-BE49-F238E27FC236}">
                <a16:creationId xmlns:a16="http://schemas.microsoft.com/office/drawing/2014/main" id="{8D642AC1-D0D9-9131-87B4-0A2AEA8093E1}"/>
              </a:ext>
            </a:extLst>
          </p:cNvPr>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6D35AB42-BDFD-BD8A-0752-A5D05B5CC224}"/>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BEEA67E2-50EF-E23D-2208-BD683D84FFB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2B0E72EE-173A-9441-E345-CABAF56D0A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92CF78D-EB76-EA3D-9AA2-5B63E8BC0C11}"/>
              </a:ext>
            </a:extLst>
          </p:cNvPr>
          <p:cNvSpPr txBox="1"/>
          <p:nvPr/>
        </p:nvSpPr>
        <p:spPr>
          <a:xfrm>
            <a:off x="2246086" y="2398877"/>
            <a:ext cx="4637314" cy="369332"/>
          </a:xfrm>
          <a:prstGeom prst="rect">
            <a:avLst/>
          </a:prstGeom>
          <a:noFill/>
        </p:spPr>
        <p:txBody>
          <a:bodyPr wrap="square">
            <a:spAutoFit/>
          </a:bodyPr>
          <a:lstStyle/>
          <a:p>
            <a:pPr marL="0" indent="0">
              <a:buNone/>
            </a:pPr>
            <a:r>
              <a:rPr lang="en-US" sz="1800" b="1" dirty="0">
                <a:solidFill>
                  <a:srgbClr val="FFFFFF"/>
                </a:solidFill>
              </a:rPr>
              <a:t>Power BI Dashboard</a:t>
            </a:r>
            <a:endParaRPr lang="en-US" sz="1800" dirty="0"/>
          </a:p>
        </p:txBody>
      </p:sp>
      <p:pic>
        <p:nvPicPr>
          <p:cNvPr id="3" name="Picture 2">
            <a:extLst>
              <a:ext uri="{FF2B5EF4-FFF2-40B4-BE49-F238E27FC236}">
                <a16:creationId xmlns:a16="http://schemas.microsoft.com/office/drawing/2014/main" id="{E9172D09-DD90-27FD-CB04-E0D3994D9F7E}"/>
              </a:ext>
            </a:extLst>
          </p:cNvPr>
          <p:cNvPicPr>
            <a:picLocks noChangeAspect="1"/>
          </p:cNvPicPr>
          <p:nvPr/>
        </p:nvPicPr>
        <p:blipFill>
          <a:blip r:embed="rId6"/>
          <a:stretch>
            <a:fillRect/>
          </a:stretch>
        </p:blipFill>
        <p:spPr>
          <a:xfrm>
            <a:off x="54591" y="1426191"/>
            <a:ext cx="9025401" cy="3412739"/>
          </a:xfrm>
          <a:prstGeom prst="rect">
            <a:avLst/>
          </a:prstGeom>
        </p:spPr>
      </p:pic>
    </p:spTree>
    <p:extLst>
      <p:ext uri="{BB962C8B-B14F-4D97-AF65-F5344CB8AC3E}">
        <p14:creationId xmlns:p14="http://schemas.microsoft.com/office/powerpoint/2010/main" val="2493426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8</a:t>
            </a:r>
            <a:endParaRPr lang="en-US" sz="1000" dirty="0"/>
          </a:p>
        </p:txBody>
      </p:sp>
      <p:sp>
        <p:nvSpPr>
          <p:cNvPr id="14" name="Shape 12"/>
          <p:cNvSpPr/>
          <p:nvPr/>
        </p:nvSpPr>
        <p:spPr>
          <a:xfrm>
            <a:off x="320040" y="850392"/>
            <a:ext cx="64008" cy="438912"/>
          </a:xfrm>
          <a:prstGeom prst="rect">
            <a:avLst/>
          </a:prstGeom>
          <a:solidFill>
            <a:srgbClr val="047954"/>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047954"/>
                </a:solidFill>
                <a:latin typeface="Times New Roman" panose="02020603050405020304" pitchFamily="18" charset="0"/>
                <a:cs typeface="Times New Roman" panose="02020603050405020304" pitchFamily="18" charset="0"/>
              </a:rPr>
              <a:t>Programming Languages + Frameworks</a:t>
            </a:r>
            <a:endParaRPr lang="en-US" sz="2200" dirty="0">
              <a:latin typeface="Times New Roman" panose="02020603050405020304" pitchFamily="18" charset="0"/>
              <a:cs typeface="Times New Roman" panose="02020603050405020304" pitchFamily="18" charset="0"/>
            </a:endParaRP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sp>
        <p:nvSpPr>
          <p:cNvPr id="17" name="Shape 15"/>
          <p:cNvSpPr/>
          <p:nvPr/>
        </p:nvSpPr>
        <p:spPr>
          <a:xfrm>
            <a:off x="320040" y="1417320"/>
            <a:ext cx="4160520" cy="1517904"/>
          </a:xfrm>
          <a:prstGeom prst="rect">
            <a:avLst/>
          </a:prstGeom>
          <a:solidFill>
            <a:srgbClr val="F5F5F5"/>
          </a:solidFill>
          <a:ln w="12700">
            <a:solidFill>
              <a:srgbClr val="DDDDDD"/>
            </a:solidFill>
            <a:prstDash val="solid"/>
          </a:ln>
        </p:spPr>
        <p:txBody>
          <a:bodyPr/>
          <a:lstStyle/>
          <a:p>
            <a:endParaRPr lang="en-US"/>
          </a:p>
        </p:txBody>
      </p:sp>
      <p:sp>
        <p:nvSpPr>
          <p:cNvPr id="18" name="Shape 16"/>
          <p:cNvSpPr/>
          <p:nvPr/>
        </p:nvSpPr>
        <p:spPr>
          <a:xfrm>
            <a:off x="320040" y="1417320"/>
            <a:ext cx="4160520" cy="347472"/>
          </a:xfrm>
          <a:prstGeom prst="rect">
            <a:avLst/>
          </a:prstGeom>
          <a:solidFill>
            <a:schemeClr val="accent1">
              <a:lumMod val="75000"/>
            </a:schemeClr>
          </a:solidFill>
          <a:ln w="12700">
            <a:solidFill>
              <a:srgbClr val="047954"/>
            </a:solidFill>
            <a:prstDash val="solid"/>
          </a:ln>
        </p:spPr>
        <p:txBody>
          <a:bodyPr/>
          <a:lstStyle/>
          <a:p>
            <a:endParaRPr lang="en-US"/>
          </a:p>
        </p:txBody>
      </p:sp>
      <p:sp>
        <p:nvSpPr>
          <p:cNvPr id="19" name="Text 17"/>
          <p:cNvSpPr/>
          <p:nvPr/>
        </p:nvSpPr>
        <p:spPr>
          <a:xfrm>
            <a:off x="411480" y="1417320"/>
            <a:ext cx="3977640" cy="347472"/>
          </a:xfrm>
          <a:prstGeom prst="rect">
            <a:avLst/>
          </a:prstGeom>
          <a:noFill/>
          <a:ln/>
        </p:spPr>
        <p:txBody>
          <a:bodyPr wrap="square" lIns="0" tIns="0" rIns="0" bIns="0" rtlCol="0" anchor="ctr"/>
          <a:lstStyle/>
          <a:p>
            <a:pPr marL="0" indent="0">
              <a:buNone/>
            </a:pPr>
            <a:r>
              <a:rPr lang="en-US" sz="1200" b="1" dirty="0">
                <a:solidFill>
                  <a:srgbClr val="FFFFFF"/>
                </a:solidFill>
              </a:rPr>
              <a:t>Programming Languages</a:t>
            </a:r>
            <a:endParaRPr lang="en-US" sz="1200" dirty="0"/>
          </a:p>
        </p:txBody>
      </p:sp>
      <p:sp>
        <p:nvSpPr>
          <p:cNvPr id="20" name="Text 18"/>
          <p:cNvSpPr/>
          <p:nvPr/>
        </p:nvSpPr>
        <p:spPr>
          <a:xfrm>
            <a:off x="457200" y="1801368"/>
            <a:ext cx="3931920" cy="256032"/>
          </a:xfrm>
          <a:prstGeom prst="rect">
            <a:avLst/>
          </a:prstGeom>
          <a:noFill/>
          <a:ln/>
        </p:spPr>
        <p:txBody>
          <a:bodyPr wrap="square" lIns="0" tIns="0" rIns="0" bIns="0" rtlCol="0" anchor="ctr"/>
          <a:lstStyle/>
          <a:p>
            <a:pPr marL="0" indent="0">
              <a:buNone/>
            </a:pPr>
            <a:endParaRPr lang="en-US" sz="1100" dirty="0"/>
          </a:p>
        </p:txBody>
      </p:sp>
      <p:sp>
        <p:nvSpPr>
          <p:cNvPr id="21" name="Text 19"/>
          <p:cNvSpPr/>
          <p:nvPr/>
        </p:nvSpPr>
        <p:spPr>
          <a:xfrm>
            <a:off x="457200" y="2093976"/>
            <a:ext cx="3931920" cy="256032"/>
          </a:xfrm>
          <a:prstGeom prst="rect">
            <a:avLst/>
          </a:prstGeom>
          <a:noFill/>
          <a:ln/>
        </p:spPr>
        <p:txBody>
          <a:bodyPr wrap="square" lIns="0" tIns="0" rIns="0" bIns="0" rtlCol="0" anchor="ctr"/>
          <a:lstStyle/>
          <a:p>
            <a:pPr marL="0" indent="0">
              <a:buNone/>
            </a:pPr>
            <a:endParaRPr lang="en-US" sz="1100" dirty="0"/>
          </a:p>
        </p:txBody>
      </p:sp>
      <p:sp>
        <p:nvSpPr>
          <p:cNvPr id="22" name="Text 20"/>
          <p:cNvSpPr/>
          <p:nvPr/>
        </p:nvSpPr>
        <p:spPr>
          <a:xfrm>
            <a:off x="457200" y="1910839"/>
            <a:ext cx="3931920" cy="256032"/>
          </a:xfrm>
          <a:prstGeom prst="rect">
            <a:avLst/>
          </a:prstGeom>
          <a:noFill/>
          <a:ln/>
        </p:spPr>
        <p:txBody>
          <a:bodyPr wrap="square" lIns="0" tIns="0" rIns="0" bIns="0" rtlCol="0" anchor="ctr"/>
          <a:lstStyle/>
          <a:p>
            <a:r>
              <a:rPr lang="en-US" sz="1100" dirty="0">
                <a:solidFill>
                  <a:srgbClr val="1A1A1A"/>
                </a:solidFill>
              </a:rPr>
              <a:t>• </a:t>
            </a:r>
            <a:r>
              <a:rPr lang="en-US" sz="1100" dirty="0"/>
              <a:t>Python — primary language for all Data Engineering and ML</a:t>
            </a:r>
            <a:br>
              <a:rPr lang="en-US" sz="1100" dirty="0"/>
            </a:br>
            <a:r>
              <a:rPr lang="en-US" sz="1100" dirty="0"/>
              <a:t>﻿﻿</a:t>
            </a:r>
            <a:r>
              <a:rPr lang="en-US" sz="1100" dirty="0">
                <a:solidFill>
                  <a:srgbClr val="1A1A1A"/>
                </a:solidFill>
              </a:rPr>
              <a:t>• </a:t>
            </a:r>
            <a:r>
              <a:rPr lang="en-US" sz="1100" dirty="0"/>
              <a:t>DAX - Power BI KPI calculations &amp; measures</a:t>
            </a:r>
          </a:p>
        </p:txBody>
      </p:sp>
      <p:sp>
        <p:nvSpPr>
          <p:cNvPr id="23" name="Shape 21"/>
          <p:cNvSpPr/>
          <p:nvPr/>
        </p:nvSpPr>
        <p:spPr>
          <a:xfrm>
            <a:off x="320040" y="3077330"/>
            <a:ext cx="4160520" cy="1800994"/>
          </a:xfrm>
          <a:prstGeom prst="rect">
            <a:avLst/>
          </a:prstGeom>
          <a:solidFill>
            <a:srgbClr val="F5F5F5"/>
          </a:solidFill>
          <a:ln w="12700">
            <a:solidFill>
              <a:srgbClr val="DDDDDD"/>
            </a:solidFill>
            <a:prstDash val="solid"/>
          </a:ln>
        </p:spPr>
        <p:txBody>
          <a:bodyPr/>
          <a:lstStyle/>
          <a:p>
            <a:endParaRPr lang="en-US"/>
          </a:p>
        </p:txBody>
      </p:sp>
      <p:sp>
        <p:nvSpPr>
          <p:cNvPr id="24" name="Shape 22"/>
          <p:cNvSpPr/>
          <p:nvPr/>
        </p:nvSpPr>
        <p:spPr>
          <a:xfrm>
            <a:off x="320040" y="3008580"/>
            <a:ext cx="4160520" cy="347472"/>
          </a:xfrm>
          <a:prstGeom prst="rect">
            <a:avLst/>
          </a:prstGeom>
          <a:solidFill>
            <a:srgbClr val="336EA8"/>
          </a:solidFill>
          <a:ln w="12700">
            <a:solidFill>
              <a:srgbClr val="336EA8"/>
            </a:solidFill>
            <a:prstDash val="solid"/>
          </a:ln>
        </p:spPr>
        <p:txBody>
          <a:bodyPr/>
          <a:lstStyle/>
          <a:p>
            <a:endParaRPr lang="en-AE" dirty="0"/>
          </a:p>
        </p:txBody>
      </p:sp>
      <p:sp>
        <p:nvSpPr>
          <p:cNvPr id="25" name="Text 23"/>
          <p:cNvSpPr/>
          <p:nvPr/>
        </p:nvSpPr>
        <p:spPr>
          <a:xfrm>
            <a:off x="411480" y="3077330"/>
            <a:ext cx="3977640" cy="347472"/>
          </a:xfrm>
          <a:prstGeom prst="rect">
            <a:avLst/>
          </a:prstGeom>
          <a:noFill/>
          <a:ln/>
        </p:spPr>
        <p:txBody>
          <a:bodyPr wrap="square" lIns="0" tIns="0" rIns="0" bIns="0" rtlCol="0" anchor="ctr"/>
          <a:lstStyle/>
          <a:p>
            <a:pPr marL="0" indent="0">
              <a:buNone/>
            </a:pPr>
            <a:r>
              <a:rPr lang="en-US" sz="1200" b="1" dirty="0">
                <a:solidFill>
                  <a:srgbClr val="FFFFFF"/>
                </a:solidFill>
              </a:rPr>
              <a:t>Frameworks &amp; Libraries</a:t>
            </a:r>
            <a:endParaRPr lang="en-US" sz="1200" dirty="0"/>
          </a:p>
        </p:txBody>
      </p:sp>
      <p:sp>
        <p:nvSpPr>
          <p:cNvPr id="26" name="Text 24"/>
          <p:cNvSpPr/>
          <p:nvPr/>
        </p:nvSpPr>
        <p:spPr>
          <a:xfrm>
            <a:off x="457200" y="3424802"/>
            <a:ext cx="3931920" cy="1310448"/>
          </a:xfrm>
          <a:prstGeom prst="rect">
            <a:avLst/>
          </a:prstGeom>
          <a:noFill/>
          <a:ln/>
        </p:spPr>
        <p:txBody>
          <a:bodyPr wrap="square" lIns="0" tIns="0" rIns="0" bIns="0" rtlCol="0" anchor="ctr"/>
          <a:lstStyle/>
          <a:p>
            <a:r>
              <a:rPr lang="en-US" sz="1100" dirty="0">
                <a:solidFill>
                  <a:srgbClr val="1A1A1A"/>
                </a:solidFill>
              </a:rPr>
              <a:t>• </a:t>
            </a:r>
            <a:r>
              <a:rPr lang="en-US" sz="1100" dirty="0"/>
              <a:t>pandas/ NumPy - data cleaning &amp; scientific calculations</a:t>
            </a:r>
            <a:br>
              <a:rPr lang="en-US" sz="1100" dirty="0"/>
            </a:br>
            <a:r>
              <a:rPr lang="en-US" sz="1100" dirty="0"/>
              <a:t>﻿﻿</a:t>
            </a:r>
            <a:r>
              <a:rPr lang="en-US" sz="1100" dirty="0">
                <a:solidFill>
                  <a:srgbClr val="1A1A1A"/>
                </a:solidFill>
              </a:rPr>
              <a:t> • </a:t>
            </a:r>
            <a:r>
              <a:rPr lang="en-US" sz="1100" dirty="0"/>
              <a:t>scikit-learn - </a:t>
            </a:r>
            <a:r>
              <a:rPr lang="en-US" sz="1100" dirty="0" err="1"/>
              <a:t>RandomForestClassifier</a:t>
            </a:r>
            <a:r>
              <a:rPr lang="en-US" sz="1100" dirty="0"/>
              <a:t>, </a:t>
            </a:r>
            <a:r>
              <a:rPr lang="en-US" sz="1100" dirty="0" err="1"/>
              <a:t>StandardScaler</a:t>
            </a:r>
            <a:br>
              <a:rPr lang="en-US" sz="1100" dirty="0"/>
            </a:br>
            <a:r>
              <a:rPr lang="en-US" sz="1100" dirty="0">
                <a:solidFill>
                  <a:srgbClr val="1A1A1A"/>
                </a:solidFill>
              </a:rPr>
              <a:t>• </a:t>
            </a:r>
            <a:r>
              <a:rPr lang="en-US" sz="1100" dirty="0"/>
              <a:t>﻿﻿</a:t>
            </a:r>
            <a:r>
              <a:rPr lang="en-US" sz="1100" dirty="0" err="1"/>
              <a:t>XGBoost</a:t>
            </a:r>
            <a:r>
              <a:rPr lang="en-US" sz="1100" dirty="0"/>
              <a:t> — Earth Similarity Regressor</a:t>
            </a:r>
            <a:br>
              <a:rPr lang="en-US" sz="1100" dirty="0"/>
            </a:br>
            <a:r>
              <a:rPr lang="en-US" sz="1100" dirty="0"/>
              <a:t>﻿﻿</a:t>
            </a:r>
            <a:r>
              <a:rPr lang="en-US" sz="1100" dirty="0">
                <a:solidFill>
                  <a:srgbClr val="1A1A1A"/>
                </a:solidFill>
              </a:rPr>
              <a:t> • </a:t>
            </a:r>
            <a:r>
              <a:rPr lang="en-US" sz="1100" dirty="0"/>
              <a:t>imbalanced-learn (SMOTE) - handling class imbalance</a:t>
            </a:r>
            <a:br>
              <a:rPr lang="en-US" sz="1100" dirty="0"/>
            </a:br>
            <a:r>
              <a:rPr lang="en-US" sz="1100" dirty="0"/>
              <a:t>﻿﻿</a:t>
            </a:r>
            <a:r>
              <a:rPr lang="en-US" sz="1100" dirty="0">
                <a:solidFill>
                  <a:srgbClr val="1A1A1A"/>
                </a:solidFill>
              </a:rPr>
              <a:t> • </a:t>
            </a:r>
            <a:r>
              <a:rPr lang="en-US" sz="1100" dirty="0" err="1"/>
              <a:t>joblib</a:t>
            </a:r>
            <a:r>
              <a:rPr lang="en-US" sz="1100" dirty="0"/>
              <a:t> — model serialization</a:t>
            </a:r>
            <a:br>
              <a:rPr lang="en-US" sz="1100" dirty="0"/>
            </a:br>
            <a:r>
              <a:rPr lang="en-US" sz="1100" dirty="0"/>
              <a:t>﻿﻿</a:t>
            </a:r>
            <a:r>
              <a:rPr lang="en-US" sz="1100" dirty="0">
                <a:solidFill>
                  <a:srgbClr val="1A1A1A"/>
                </a:solidFill>
              </a:rPr>
              <a:t> • </a:t>
            </a:r>
            <a:r>
              <a:rPr lang="en-US" sz="1100" dirty="0" err="1"/>
              <a:t>Streamlit</a:t>
            </a:r>
            <a:r>
              <a:rPr lang="en-US" sz="1100" dirty="0"/>
              <a:t> — the demo app</a:t>
            </a:r>
            <a:br>
              <a:rPr lang="en-US" sz="1100" dirty="0"/>
            </a:br>
            <a:r>
              <a:rPr lang="en-US" sz="1100" dirty="0"/>
              <a:t>﻿﻿</a:t>
            </a:r>
            <a:r>
              <a:rPr lang="en-US" sz="1100" dirty="0">
                <a:solidFill>
                  <a:srgbClr val="1A1A1A"/>
                </a:solidFill>
              </a:rPr>
              <a:t> • </a:t>
            </a:r>
            <a:r>
              <a:rPr lang="en-US" sz="1100" dirty="0" err="1"/>
              <a:t>kagglehub</a:t>
            </a:r>
            <a:r>
              <a:rPr lang="en-US" sz="1100" dirty="0"/>
              <a:t> - downloading the </a:t>
            </a:r>
            <a:r>
              <a:rPr lang="en-US" sz="1100" dirty="0" err="1"/>
              <a:t>ExoHabX</a:t>
            </a:r>
            <a:r>
              <a:rPr lang="en-US" sz="1100" dirty="0"/>
              <a:t> dataset</a:t>
            </a:r>
          </a:p>
        </p:txBody>
      </p:sp>
      <p:sp>
        <p:nvSpPr>
          <p:cNvPr id="28" name="Text 26"/>
          <p:cNvSpPr/>
          <p:nvPr/>
        </p:nvSpPr>
        <p:spPr>
          <a:xfrm>
            <a:off x="457200" y="4046594"/>
            <a:ext cx="3931920" cy="256032"/>
          </a:xfrm>
          <a:prstGeom prst="rect">
            <a:avLst/>
          </a:prstGeom>
          <a:noFill/>
          <a:ln/>
        </p:spPr>
        <p:txBody>
          <a:bodyPr wrap="square" lIns="0" tIns="0" rIns="0" bIns="0" rtlCol="0" anchor="ctr"/>
          <a:lstStyle/>
          <a:p>
            <a:pPr marL="0" indent="0">
              <a:buNone/>
            </a:pPr>
            <a:endParaRPr lang="en-US" sz="1100" dirty="0"/>
          </a:p>
        </p:txBody>
      </p:sp>
      <p:sp>
        <p:nvSpPr>
          <p:cNvPr id="29" name="Text 27"/>
          <p:cNvSpPr/>
          <p:nvPr/>
        </p:nvSpPr>
        <p:spPr>
          <a:xfrm>
            <a:off x="457200" y="4339202"/>
            <a:ext cx="3931920" cy="256032"/>
          </a:xfrm>
          <a:prstGeom prst="rect">
            <a:avLst/>
          </a:prstGeom>
          <a:noFill/>
          <a:ln/>
        </p:spPr>
        <p:txBody>
          <a:bodyPr wrap="square" lIns="0" tIns="0" rIns="0" bIns="0" rtlCol="0" anchor="ctr"/>
          <a:lstStyle/>
          <a:p>
            <a:pPr marL="0" indent="0">
              <a:buNone/>
            </a:pPr>
            <a:endParaRPr lang="en-US" sz="1100" dirty="0"/>
          </a:p>
        </p:txBody>
      </p:sp>
      <p:sp>
        <p:nvSpPr>
          <p:cNvPr id="30" name="Shape 28"/>
          <p:cNvSpPr/>
          <p:nvPr/>
        </p:nvSpPr>
        <p:spPr>
          <a:xfrm>
            <a:off x="4709160" y="1397998"/>
            <a:ext cx="4160520" cy="1537226"/>
          </a:xfrm>
          <a:prstGeom prst="rect">
            <a:avLst/>
          </a:prstGeom>
          <a:solidFill>
            <a:srgbClr val="F5F5F5"/>
          </a:solidFill>
          <a:ln w="12700">
            <a:solidFill>
              <a:srgbClr val="DDDDDD"/>
            </a:solidFill>
            <a:prstDash val="solid"/>
          </a:ln>
        </p:spPr>
        <p:txBody>
          <a:bodyPr/>
          <a:lstStyle/>
          <a:p>
            <a:endParaRPr lang="en-US" dirty="0"/>
          </a:p>
        </p:txBody>
      </p:sp>
      <p:sp>
        <p:nvSpPr>
          <p:cNvPr id="31" name="Shape 29"/>
          <p:cNvSpPr/>
          <p:nvPr/>
        </p:nvSpPr>
        <p:spPr>
          <a:xfrm>
            <a:off x="4709160" y="1417320"/>
            <a:ext cx="4160520" cy="347472"/>
          </a:xfrm>
          <a:prstGeom prst="rect">
            <a:avLst/>
          </a:prstGeom>
          <a:solidFill>
            <a:srgbClr val="7030A0"/>
          </a:solidFill>
          <a:ln w="12700">
            <a:solidFill>
              <a:srgbClr val="0FAB7D"/>
            </a:solidFill>
            <a:prstDash val="solid"/>
          </a:ln>
        </p:spPr>
        <p:txBody>
          <a:bodyPr/>
          <a:lstStyle/>
          <a:p>
            <a:endParaRPr lang="en-US"/>
          </a:p>
        </p:txBody>
      </p:sp>
      <p:sp>
        <p:nvSpPr>
          <p:cNvPr id="32" name="Text 30"/>
          <p:cNvSpPr/>
          <p:nvPr/>
        </p:nvSpPr>
        <p:spPr>
          <a:xfrm>
            <a:off x="4800600" y="1417320"/>
            <a:ext cx="3977640" cy="347472"/>
          </a:xfrm>
          <a:prstGeom prst="rect">
            <a:avLst/>
          </a:prstGeom>
          <a:noFill/>
          <a:ln/>
        </p:spPr>
        <p:txBody>
          <a:bodyPr wrap="square" lIns="0" tIns="0" rIns="0" bIns="0" rtlCol="0" anchor="ctr"/>
          <a:lstStyle/>
          <a:p>
            <a:pPr marL="0" indent="0">
              <a:buNone/>
            </a:pPr>
            <a:r>
              <a:rPr lang="en-US" sz="1200" b="1" dirty="0">
                <a:solidFill>
                  <a:srgbClr val="FFFFFF"/>
                </a:solidFill>
              </a:rPr>
              <a:t>Cloud &amp; Platforms</a:t>
            </a:r>
            <a:endParaRPr lang="en-US" sz="1200" dirty="0"/>
          </a:p>
        </p:txBody>
      </p:sp>
      <p:sp>
        <p:nvSpPr>
          <p:cNvPr id="33" name="Text 31"/>
          <p:cNvSpPr/>
          <p:nvPr/>
        </p:nvSpPr>
        <p:spPr>
          <a:xfrm>
            <a:off x="4846320" y="1801368"/>
            <a:ext cx="3931920" cy="256032"/>
          </a:xfrm>
          <a:prstGeom prst="rect">
            <a:avLst/>
          </a:prstGeom>
          <a:noFill/>
          <a:ln/>
        </p:spPr>
        <p:txBody>
          <a:bodyPr wrap="square" lIns="0" tIns="0" rIns="0" bIns="0" rtlCol="0" anchor="ctr"/>
          <a:lstStyle/>
          <a:p>
            <a:pPr marL="0" indent="0">
              <a:buNone/>
            </a:pPr>
            <a:endParaRPr lang="en-US" sz="1100" dirty="0"/>
          </a:p>
        </p:txBody>
      </p:sp>
      <p:sp>
        <p:nvSpPr>
          <p:cNvPr id="34" name="Text 32"/>
          <p:cNvSpPr/>
          <p:nvPr/>
        </p:nvSpPr>
        <p:spPr>
          <a:xfrm>
            <a:off x="4846320" y="2093976"/>
            <a:ext cx="3931920" cy="256032"/>
          </a:xfrm>
          <a:prstGeom prst="rect">
            <a:avLst/>
          </a:prstGeom>
          <a:noFill/>
          <a:ln/>
        </p:spPr>
        <p:txBody>
          <a:bodyPr wrap="square" lIns="0" tIns="0" rIns="0" bIns="0" rtlCol="0" anchor="ctr"/>
          <a:lstStyle/>
          <a:p>
            <a:pPr marL="0" indent="0">
              <a:buNone/>
            </a:pPr>
            <a:endParaRPr lang="en-US" sz="1100" dirty="0"/>
          </a:p>
        </p:txBody>
      </p:sp>
      <p:sp>
        <p:nvSpPr>
          <p:cNvPr id="35" name="Text 33"/>
          <p:cNvSpPr/>
          <p:nvPr/>
        </p:nvSpPr>
        <p:spPr>
          <a:xfrm>
            <a:off x="4846320" y="1856094"/>
            <a:ext cx="3931920" cy="786522"/>
          </a:xfrm>
          <a:prstGeom prst="rect">
            <a:avLst/>
          </a:prstGeom>
          <a:noFill/>
          <a:ln/>
        </p:spPr>
        <p:txBody>
          <a:bodyPr wrap="square" lIns="0" tIns="0" rIns="0" bIns="0" rtlCol="0" anchor="ctr"/>
          <a:lstStyle/>
          <a:p>
            <a:r>
              <a:rPr lang="en-US" sz="1100" dirty="0">
                <a:solidFill>
                  <a:srgbClr val="1A1A1A"/>
                </a:solidFill>
              </a:rPr>
              <a:t>• </a:t>
            </a:r>
            <a:r>
              <a:rPr lang="en-US" sz="1100" dirty="0"/>
              <a:t>NASA Exoplanet Archive - primary data source</a:t>
            </a:r>
            <a:br>
              <a:rPr lang="en-US" sz="1100" dirty="0"/>
            </a:br>
            <a:r>
              <a:rPr lang="en-US" sz="1100" dirty="0"/>
              <a:t>﻿﻿</a:t>
            </a:r>
            <a:r>
              <a:rPr lang="en-US" sz="1100" dirty="0">
                <a:solidFill>
                  <a:srgbClr val="1A1A1A"/>
                </a:solidFill>
              </a:rPr>
              <a:t>• </a:t>
            </a:r>
            <a:r>
              <a:rPr lang="en-US" sz="1100" dirty="0"/>
              <a:t>Kaggle - source of </a:t>
            </a:r>
            <a:r>
              <a:rPr lang="en-US" sz="1100" dirty="0" err="1"/>
              <a:t>ExoHab</a:t>
            </a:r>
            <a:r>
              <a:rPr lang="en-US" sz="1100" dirty="0"/>
              <a:t> (NASA/HWC) for the ML model</a:t>
            </a:r>
            <a:br>
              <a:rPr lang="en-US" sz="1100" dirty="0"/>
            </a:br>
            <a:r>
              <a:rPr lang="en-US" sz="1100" dirty="0"/>
              <a:t>﻿﻿</a:t>
            </a:r>
            <a:r>
              <a:rPr lang="en-US" sz="1100" dirty="0">
                <a:solidFill>
                  <a:srgbClr val="1A1A1A"/>
                </a:solidFill>
              </a:rPr>
              <a:t>• </a:t>
            </a:r>
            <a:r>
              <a:rPr lang="en-US" sz="1100" dirty="0"/>
              <a:t>Power BI - 7-page interactive dashboard</a:t>
            </a:r>
            <a:br>
              <a:rPr lang="en-US" sz="1100" dirty="0"/>
            </a:br>
            <a:r>
              <a:rPr lang="en-US" sz="1100" dirty="0"/>
              <a:t>﻿﻿</a:t>
            </a:r>
            <a:r>
              <a:rPr lang="en-US" sz="1100" dirty="0">
                <a:solidFill>
                  <a:srgbClr val="1A1A1A"/>
                </a:solidFill>
              </a:rPr>
              <a:t>• </a:t>
            </a:r>
            <a:r>
              <a:rPr lang="en-US" sz="1100" dirty="0"/>
              <a:t>Figma — dashboard design</a:t>
            </a:r>
          </a:p>
        </p:txBody>
      </p:sp>
      <p:sp>
        <p:nvSpPr>
          <p:cNvPr id="36" name="Text 34"/>
          <p:cNvSpPr/>
          <p:nvPr/>
        </p:nvSpPr>
        <p:spPr>
          <a:xfrm>
            <a:off x="4846320" y="2679192"/>
            <a:ext cx="3931920" cy="256032"/>
          </a:xfrm>
          <a:prstGeom prst="rect">
            <a:avLst/>
          </a:prstGeom>
          <a:noFill/>
          <a:ln/>
        </p:spPr>
        <p:txBody>
          <a:bodyPr wrap="square" lIns="0" tIns="0" rIns="0" bIns="0" rtlCol="0" anchor="ctr"/>
          <a:lstStyle/>
          <a:p>
            <a:pPr marL="0" indent="0">
              <a:buNone/>
            </a:pPr>
            <a:endParaRPr lang="en-US" sz="1100" dirty="0"/>
          </a:p>
        </p:txBody>
      </p:sp>
      <p:sp>
        <p:nvSpPr>
          <p:cNvPr id="37" name="Shape 35"/>
          <p:cNvSpPr/>
          <p:nvPr/>
        </p:nvSpPr>
        <p:spPr>
          <a:xfrm>
            <a:off x="4709160" y="3029205"/>
            <a:ext cx="4160520" cy="1517904"/>
          </a:xfrm>
          <a:prstGeom prst="rect">
            <a:avLst/>
          </a:prstGeom>
          <a:solidFill>
            <a:srgbClr val="F5F5F5"/>
          </a:solidFill>
          <a:ln w="12700">
            <a:solidFill>
              <a:srgbClr val="DDDDDD"/>
            </a:solidFill>
            <a:prstDash val="solid"/>
          </a:ln>
        </p:spPr>
        <p:txBody>
          <a:bodyPr/>
          <a:lstStyle/>
          <a:p>
            <a:endParaRPr lang="en-US"/>
          </a:p>
        </p:txBody>
      </p:sp>
      <p:sp>
        <p:nvSpPr>
          <p:cNvPr id="38" name="Shape 36"/>
          <p:cNvSpPr/>
          <p:nvPr/>
        </p:nvSpPr>
        <p:spPr>
          <a:xfrm>
            <a:off x="4709160" y="3029205"/>
            <a:ext cx="4160520" cy="347472"/>
          </a:xfrm>
          <a:prstGeom prst="rect">
            <a:avLst/>
          </a:prstGeom>
          <a:solidFill>
            <a:srgbClr val="7030A0"/>
          </a:solidFill>
          <a:ln w="12700">
            <a:solidFill>
              <a:schemeClr val="bg1"/>
            </a:solidFill>
            <a:prstDash val="solid"/>
          </a:ln>
        </p:spPr>
        <p:txBody>
          <a:bodyPr/>
          <a:lstStyle/>
          <a:p>
            <a:endParaRPr lang="en-US"/>
          </a:p>
        </p:txBody>
      </p:sp>
      <p:sp>
        <p:nvSpPr>
          <p:cNvPr id="39" name="Text 37"/>
          <p:cNvSpPr/>
          <p:nvPr/>
        </p:nvSpPr>
        <p:spPr>
          <a:xfrm>
            <a:off x="4800600" y="3029205"/>
            <a:ext cx="3977640" cy="347472"/>
          </a:xfrm>
          <a:prstGeom prst="rect">
            <a:avLst/>
          </a:prstGeom>
          <a:noFill/>
          <a:ln/>
        </p:spPr>
        <p:txBody>
          <a:bodyPr wrap="square" lIns="0" tIns="0" rIns="0" bIns="0" rtlCol="0" anchor="ctr"/>
          <a:lstStyle/>
          <a:p>
            <a:pPr marL="0" indent="0">
              <a:buNone/>
            </a:pPr>
            <a:r>
              <a:rPr lang="en-US" sz="1200" b="1" dirty="0">
                <a:solidFill>
                  <a:srgbClr val="FFFFFF"/>
                </a:solidFill>
              </a:rPr>
              <a:t>Storage Formats</a:t>
            </a:r>
            <a:endParaRPr lang="en-US" sz="1200" dirty="0"/>
          </a:p>
        </p:txBody>
      </p:sp>
      <p:sp>
        <p:nvSpPr>
          <p:cNvPr id="40" name="Text 38"/>
          <p:cNvSpPr/>
          <p:nvPr/>
        </p:nvSpPr>
        <p:spPr>
          <a:xfrm>
            <a:off x="4846320" y="3413253"/>
            <a:ext cx="3931920" cy="877824"/>
          </a:xfrm>
          <a:prstGeom prst="rect">
            <a:avLst/>
          </a:prstGeom>
          <a:noFill/>
          <a:ln/>
        </p:spPr>
        <p:txBody>
          <a:bodyPr wrap="square" lIns="0" tIns="0" rIns="0" bIns="0" rtlCol="0" anchor="ctr"/>
          <a:lstStyle/>
          <a:p>
            <a:r>
              <a:rPr lang="en-US" sz="1100" dirty="0">
                <a:solidFill>
                  <a:srgbClr val="1A1A1A"/>
                </a:solidFill>
              </a:rPr>
              <a:t>•</a:t>
            </a:r>
            <a:r>
              <a:rPr lang="en-US" sz="1100" dirty="0"/>
              <a:t> CSV / Excel — used across the whole pipeline (Bronze/Silver/Gold)</a:t>
            </a:r>
            <a:br>
              <a:rPr lang="en-US" sz="1100" dirty="0"/>
            </a:br>
            <a:r>
              <a:rPr lang="en-US" sz="1100" dirty="0"/>
              <a:t>﻿﻿</a:t>
            </a:r>
            <a:r>
              <a:rPr lang="en-US" sz="1100" dirty="0">
                <a:solidFill>
                  <a:srgbClr val="1A1A1A"/>
                </a:solidFill>
              </a:rPr>
              <a:t>• </a:t>
            </a:r>
            <a:r>
              <a:rPr lang="en-US" sz="1100" dirty="0"/>
              <a:t>Star Schema - Fact table + 4 Dimension tables</a:t>
            </a:r>
            <a:br>
              <a:rPr lang="en-US" sz="1100" dirty="0"/>
            </a:br>
            <a:r>
              <a:rPr lang="en-US" sz="1100" dirty="0"/>
              <a:t>﻿﻿</a:t>
            </a:r>
            <a:r>
              <a:rPr lang="en-US" sz="1100" dirty="0">
                <a:solidFill>
                  <a:srgbClr val="1A1A1A"/>
                </a:solidFill>
              </a:rPr>
              <a:t>• </a:t>
            </a:r>
            <a:r>
              <a:rPr lang="en-US" sz="1100" dirty="0"/>
              <a:t>Direct import - Power BI connects directly to the Gold/Enriched              CSV files</a:t>
            </a:r>
          </a:p>
        </p:txBody>
      </p:sp>
      <p:sp>
        <p:nvSpPr>
          <p:cNvPr id="41" name="Text 39"/>
          <p:cNvSpPr/>
          <p:nvPr/>
        </p:nvSpPr>
        <p:spPr>
          <a:xfrm>
            <a:off x="4846320" y="3705861"/>
            <a:ext cx="3931920" cy="256032"/>
          </a:xfrm>
          <a:prstGeom prst="rect">
            <a:avLst/>
          </a:prstGeom>
          <a:noFill/>
          <a:ln/>
        </p:spPr>
        <p:txBody>
          <a:bodyPr wrap="square" lIns="0" tIns="0" rIns="0" bIns="0" rtlCol="0" anchor="ctr"/>
          <a:lstStyle/>
          <a:p>
            <a:pPr marL="0" indent="0">
              <a:buNone/>
            </a:pPr>
            <a:endParaRPr lang="en-US" sz="1100" dirty="0"/>
          </a:p>
        </p:txBody>
      </p:sp>
      <p:sp>
        <p:nvSpPr>
          <p:cNvPr id="42" name="Text 40"/>
          <p:cNvSpPr/>
          <p:nvPr/>
        </p:nvSpPr>
        <p:spPr>
          <a:xfrm>
            <a:off x="4846320" y="3998469"/>
            <a:ext cx="3931920" cy="256032"/>
          </a:xfrm>
          <a:prstGeom prst="rect">
            <a:avLst/>
          </a:prstGeom>
          <a:noFill/>
          <a:ln/>
        </p:spPr>
        <p:txBody>
          <a:bodyPr wrap="square" lIns="0" tIns="0" rIns="0" bIns="0" rtlCol="0" anchor="ctr"/>
          <a:lstStyle/>
          <a:p>
            <a:pPr marL="0" indent="0">
              <a:buNone/>
            </a:pPr>
            <a:endParaRPr lang="en-US" sz="1100" dirty="0"/>
          </a:p>
        </p:txBody>
      </p:sp>
      <p:sp>
        <p:nvSpPr>
          <p:cNvPr id="43" name="Text 41"/>
          <p:cNvSpPr/>
          <p:nvPr/>
        </p:nvSpPr>
        <p:spPr>
          <a:xfrm>
            <a:off x="4846320" y="4291077"/>
            <a:ext cx="3931920" cy="256032"/>
          </a:xfrm>
          <a:prstGeom prst="rect">
            <a:avLst/>
          </a:prstGeom>
          <a:noFill/>
          <a:ln/>
        </p:spPr>
        <p:txBody>
          <a:bodyPr wrap="square" lIns="0" tIns="0" rIns="0" bIns="0" rtlCol="0" anchor="ctr"/>
          <a:lstStyle/>
          <a:p>
            <a:pPr marL="0" indent="0">
              <a:buNone/>
            </a:pPr>
            <a:endParaRPr lang="en-US" sz="1100" dirty="0"/>
          </a:p>
        </p:txBody>
      </p:sp>
      <p:pic>
        <p:nvPicPr>
          <p:cNvPr id="44" name="Picture 2" descr="مبادرة رواد مصر الرقمية - YouTube">
            <a:extLst>
              <a:ext uri="{FF2B5EF4-FFF2-40B4-BE49-F238E27FC236}">
                <a16:creationId xmlns:a16="http://schemas.microsoft.com/office/drawing/2014/main" id="{0355F3AA-9C3A-4F93-9FEF-36F6596D570A}"/>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34E5C61E-9CAC-48D5-9972-1EA451FEB41E}"/>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a:extLst>
              <a:ext uri="{FF2B5EF4-FFF2-40B4-BE49-F238E27FC236}">
                <a16:creationId xmlns:a16="http://schemas.microsoft.com/office/drawing/2014/main" id="{7B1523EA-6F67-458F-B25B-4C11D2DEB1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5720" y="4832055"/>
            <a:ext cx="821436" cy="3320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63" name="Shape 48">
            <a:extLst>
              <a:ext uri="{FF2B5EF4-FFF2-40B4-BE49-F238E27FC236}">
                <a16:creationId xmlns:a16="http://schemas.microsoft.com/office/drawing/2014/main" id="{FA750A6A-BDB0-4DD6-B5F4-0F3938B565D0}"/>
              </a:ext>
            </a:extLst>
          </p:cNvPr>
          <p:cNvSpPr/>
          <p:nvPr/>
        </p:nvSpPr>
        <p:spPr>
          <a:xfrm>
            <a:off x="4676547" y="3989277"/>
            <a:ext cx="4160520" cy="362942"/>
          </a:xfrm>
          <a:prstGeom prst="rect">
            <a:avLst/>
          </a:prstGeom>
          <a:solidFill>
            <a:srgbClr val="FFFFFF"/>
          </a:solidFill>
          <a:ln w="12700">
            <a:solidFill>
              <a:srgbClr val="DDDDDD"/>
            </a:solidFill>
            <a:prstDash val="solid"/>
          </a:ln>
        </p:spPr>
        <p:txBody>
          <a:bodyPr/>
          <a:lstStyle/>
          <a:p>
            <a:endParaRPr lang="en-US" dirty="0"/>
          </a:p>
        </p:txBody>
      </p:sp>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0" name="Text 8"/>
          <p:cNvSpPr/>
          <p:nvPr/>
        </p:nvSpPr>
        <p:spPr>
          <a:xfrm>
            <a:off x="137160" y="4850892"/>
            <a:ext cx="1097280" cy="292608"/>
          </a:xfrm>
          <a:prstGeom prst="rect">
            <a:avLst/>
          </a:prstGeom>
          <a:noFill/>
          <a:ln/>
        </p:spPr>
        <p:txBody>
          <a:bodyPr wrap="square" lIns="0" tIns="0" rIns="0" bIns="0" rtlCol="0" anchor="ctr"/>
          <a:lstStyle/>
          <a:p>
            <a:pPr marL="0" indent="0">
              <a:buNone/>
            </a:pPr>
            <a:r>
              <a:rPr lang="en-US" sz="900" dirty="0">
                <a:solidFill>
                  <a:srgbClr val="FFFFFF"/>
                </a:solidFill>
              </a:rPr>
              <a:t>12/05</a:t>
            </a:r>
            <a:r>
              <a:rPr lang="ar-EG" sz="900" dirty="0">
                <a:solidFill>
                  <a:srgbClr val="FFFFFF"/>
                </a:solidFill>
              </a:rPr>
              <a:t>/</a:t>
            </a:r>
            <a:r>
              <a:rPr lang="en-US" sz="900" dirty="0">
                <a:solidFill>
                  <a:srgbClr val="FFFFFF"/>
                </a:solidFill>
              </a:rPr>
              <a:t>2026</a:t>
            </a:r>
            <a:endParaRPr lang="en-US" sz="900" dirty="0"/>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9</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Live Application + Test — Power BI &amp; ML Models</a:t>
            </a:r>
            <a:endParaRPr lang="en-US" sz="2200" dirty="0">
              <a:solidFill>
                <a:srgbClr val="7030A0"/>
              </a:solidFill>
              <a:latin typeface="Times New Roman" panose="02020603050405020304" pitchFamily="18" charset="0"/>
              <a:cs typeface="Times New Roman" panose="02020603050405020304" pitchFamily="18" charset="0"/>
            </a:endParaRP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sp>
        <p:nvSpPr>
          <p:cNvPr id="17" name="Shape 15"/>
          <p:cNvSpPr/>
          <p:nvPr/>
        </p:nvSpPr>
        <p:spPr>
          <a:xfrm>
            <a:off x="320040" y="1417320"/>
            <a:ext cx="1828800" cy="320040"/>
          </a:xfrm>
          <a:prstGeom prst="rect">
            <a:avLst/>
          </a:prstGeom>
          <a:solidFill>
            <a:srgbClr val="7030A0"/>
          </a:solidFill>
          <a:ln w="12700">
            <a:solidFill>
              <a:srgbClr val="0FAB7D"/>
            </a:solidFill>
            <a:prstDash val="solid"/>
          </a:ln>
        </p:spPr>
        <p:txBody>
          <a:bodyPr/>
          <a:lstStyle/>
          <a:p>
            <a:endParaRPr lang="en-US"/>
          </a:p>
        </p:txBody>
      </p:sp>
      <p:sp>
        <p:nvSpPr>
          <p:cNvPr id="18" name="Text 16"/>
          <p:cNvSpPr/>
          <p:nvPr/>
        </p:nvSpPr>
        <p:spPr>
          <a:xfrm>
            <a:off x="320040" y="141732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Status: Production Ready</a:t>
            </a:r>
            <a:endParaRPr lang="en-US" sz="900" dirty="0"/>
          </a:p>
        </p:txBody>
      </p:sp>
      <p:sp>
        <p:nvSpPr>
          <p:cNvPr id="19" name="Text 17"/>
          <p:cNvSpPr/>
          <p:nvPr/>
        </p:nvSpPr>
        <p:spPr>
          <a:xfrm>
            <a:off x="320040" y="1828800"/>
            <a:ext cx="4114800" cy="274320"/>
          </a:xfrm>
          <a:prstGeom prst="rect">
            <a:avLst/>
          </a:prstGeom>
          <a:noFill/>
          <a:ln/>
        </p:spPr>
        <p:txBody>
          <a:bodyPr wrap="square" lIns="0" tIns="0" rIns="0" bIns="0" rtlCol="0" anchor="ctr"/>
          <a:lstStyle/>
          <a:p>
            <a:r>
              <a:rPr lang="en-US" sz="1100" b="1" dirty="0">
                <a:solidFill>
                  <a:srgbClr val="7030A0"/>
                </a:solidFill>
              </a:rPr>
              <a:t>Power BI Dashboard - 7 Pages</a:t>
            </a:r>
          </a:p>
        </p:txBody>
      </p:sp>
      <p:sp>
        <p:nvSpPr>
          <p:cNvPr id="20" name="Text 18"/>
          <p:cNvSpPr/>
          <p:nvPr/>
        </p:nvSpPr>
        <p:spPr>
          <a:xfrm>
            <a:off x="320040" y="2130552"/>
            <a:ext cx="4114800" cy="1097280"/>
          </a:xfrm>
          <a:prstGeom prst="rect">
            <a:avLst/>
          </a:prstGeom>
          <a:noFill/>
          <a:ln/>
        </p:spPr>
        <p:txBody>
          <a:bodyPr wrap="square" lIns="0" tIns="0" rIns="0" bIns="0" rtlCol="0" anchor="ctr"/>
          <a:lstStyle/>
          <a:p>
            <a:r>
              <a:rPr lang="en-US" sz="1000" dirty="0"/>
              <a:t>The dashboard connects via Direct Import to the Gold/Enriched CSV files (</a:t>
            </a:r>
            <a:r>
              <a:rPr lang="en-US" sz="1000" dirty="0" err="1"/>
              <a:t>Data_Gold</a:t>
            </a:r>
            <a:r>
              <a:rPr lang="en-US" sz="1000" dirty="0"/>
              <a:t> _Layer _Enriched.csv). It features KPI cards, scatter plots, histograms, bar charts, a donut chart, a correlation heatmap, and a Python visual (on the Al Model page) with interactive slicers on every analytical page</a:t>
            </a:r>
            <a:endParaRPr lang="en-US" sz="950" dirty="0"/>
          </a:p>
        </p:txBody>
      </p:sp>
      <p:sp>
        <p:nvSpPr>
          <p:cNvPr id="21" name="Shape 19"/>
          <p:cNvSpPr/>
          <p:nvPr/>
        </p:nvSpPr>
        <p:spPr>
          <a:xfrm>
            <a:off x="323455" y="3013609"/>
            <a:ext cx="4114800" cy="492022"/>
          </a:xfrm>
          <a:prstGeom prst="rect">
            <a:avLst/>
          </a:prstGeom>
          <a:solidFill>
            <a:srgbClr val="F5F5F5"/>
          </a:solidFill>
          <a:ln w="12700">
            <a:solidFill>
              <a:srgbClr val="DDDDDD"/>
            </a:solidFill>
            <a:prstDash val="solid"/>
          </a:ln>
        </p:spPr>
        <p:txBody>
          <a:bodyPr/>
          <a:lstStyle/>
          <a:p>
            <a:endParaRPr lang="en-US"/>
          </a:p>
        </p:txBody>
      </p:sp>
      <p:sp>
        <p:nvSpPr>
          <p:cNvPr id="22" name="Text 20"/>
          <p:cNvSpPr/>
          <p:nvPr/>
        </p:nvSpPr>
        <p:spPr>
          <a:xfrm>
            <a:off x="472073" y="2965245"/>
            <a:ext cx="274320" cy="384048"/>
          </a:xfrm>
          <a:prstGeom prst="rect">
            <a:avLst/>
          </a:prstGeom>
          <a:noFill/>
          <a:ln/>
        </p:spPr>
        <p:txBody>
          <a:bodyPr wrap="square" lIns="0" tIns="0" rIns="0" bIns="0" rtlCol="0" anchor="ctr"/>
          <a:lstStyle/>
          <a:p>
            <a:pPr marL="0" indent="0">
              <a:buNone/>
            </a:pPr>
            <a:r>
              <a:rPr lang="en-US" sz="1200" dirty="0">
                <a:solidFill>
                  <a:srgbClr val="047954"/>
                </a:solidFill>
              </a:rPr>
              <a:t>✓</a:t>
            </a:r>
            <a:endParaRPr lang="en-US" sz="1200" dirty="0"/>
          </a:p>
        </p:txBody>
      </p:sp>
      <p:sp>
        <p:nvSpPr>
          <p:cNvPr id="23" name="Text 21"/>
          <p:cNvSpPr/>
          <p:nvPr/>
        </p:nvSpPr>
        <p:spPr>
          <a:xfrm>
            <a:off x="612648" y="3058668"/>
            <a:ext cx="1097280" cy="182880"/>
          </a:xfrm>
          <a:prstGeom prst="rect">
            <a:avLst/>
          </a:prstGeom>
          <a:noFill/>
          <a:ln/>
        </p:spPr>
        <p:txBody>
          <a:bodyPr wrap="square" lIns="0" tIns="0" rIns="0" bIns="0" rtlCol="0" anchor="ctr"/>
          <a:lstStyle/>
          <a:p>
            <a:pPr marL="0" indent="0">
              <a:buNone/>
            </a:pPr>
            <a:r>
              <a:rPr lang="en-US" sz="850" b="1" dirty="0">
                <a:solidFill>
                  <a:srgbClr val="336EA8"/>
                </a:solidFill>
              </a:rPr>
              <a:t>Data Validation: </a:t>
            </a:r>
            <a:endParaRPr lang="en-US" sz="850" dirty="0"/>
          </a:p>
        </p:txBody>
      </p:sp>
      <p:sp>
        <p:nvSpPr>
          <p:cNvPr id="24" name="Text 22"/>
          <p:cNvSpPr/>
          <p:nvPr/>
        </p:nvSpPr>
        <p:spPr>
          <a:xfrm>
            <a:off x="598767" y="3253855"/>
            <a:ext cx="3657600" cy="146304"/>
          </a:xfrm>
          <a:prstGeom prst="rect">
            <a:avLst/>
          </a:prstGeom>
          <a:noFill/>
          <a:ln/>
        </p:spPr>
        <p:txBody>
          <a:bodyPr wrap="square" lIns="0" tIns="0" rIns="0" bIns="0" rtlCol="0" anchor="ctr"/>
          <a:lstStyle/>
          <a:p>
            <a:r>
              <a:rPr lang="en-US" sz="800" dirty="0"/>
              <a:t>Core physical columns (Radius, Mass, Density, Temperature, Flux) confirmed with zero remaining nulls after the Silver-layer cleaning pass</a:t>
            </a:r>
          </a:p>
        </p:txBody>
      </p:sp>
      <p:sp>
        <p:nvSpPr>
          <p:cNvPr id="25" name="Shape 23"/>
          <p:cNvSpPr/>
          <p:nvPr/>
        </p:nvSpPr>
        <p:spPr>
          <a:xfrm>
            <a:off x="320040" y="3579775"/>
            <a:ext cx="4114800" cy="475488"/>
          </a:xfrm>
          <a:prstGeom prst="rect">
            <a:avLst/>
          </a:prstGeom>
          <a:solidFill>
            <a:srgbClr val="F5F5F5"/>
          </a:solidFill>
          <a:ln w="12700">
            <a:solidFill>
              <a:srgbClr val="DDDDDD"/>
            </a:solidFill>
            <a:prstDash val="solid"/>
          </a:ln>
        </p:spPr>
        <p:txBody>
          <a:bodyPr/>
          <a:lstStyle/>
          <a:p>
            <a:endParaRPr lang="en-US"/>
          </a:p>
        </p:txBody>
      </p:sp>
      <p:sp>
        <p:nvSpPr>
          <p:cNvPr id="26" name="Text 24"/>
          <p:cNvSpPr/>
          <p:nvPr/>
        </p:nvSpPr>
        <p:spPr>
          <a:xfrm>
            <a:off x="472073" y="3505016"/>
            <a:ext cx="274320" cy="384048"/>
          </a:xfrm>
          <a:prstGeom prst="rect">
            <a:avLst/>
          </a:prstGeom>
          <a:noFill/>
          <a:ln/>
        </p:spPr>
        <p:txBody>
          <a:bodyPr wrap="square" lIns="0" tIns="0" rIns="0" bIns="0" rtlCol="0" anchor="ctr"/>
          <a:lstStyle/>
          <a:p>
            <a:pPr marL="0" indent="0">
              <a:buNone/>
            </a:pPr>
            <a:r>
              <a:rPr lang="en-US" sz="1200" dirty="0">
                <a:solidFill>
                  <a:srgbClr val="047954"/>
                </a:solidFill>
              </a:rPr>
              <a:t>✓</a:t>
            </a:r>
            <a:endParaRPr lang="en-US" sz="1200" dirty="0"/>
          </a:p>
        </p:txBody>
      </p:sp>
      <p:sp>
        <p:nvSpPr>
          <p:cNvPr id="27" name="Text 25"/>
          <p:cNvSpPr/>
          <p:nvPr/>
        </p:nvSpPr>
        <p:spPr>
          <a:xfrm>
            <a:off x="658368" y="3607308"/>
            <a:ext cx="1097280" cy="182880"/>
          </a:xfrm>
          <a:prstGeom prst="rect">
            <a:avLst/>
          </a:prstGeom>
          <a:noFill/>
          <a:ln/>
        </p:spPr>
        <p:txBody>
          <a:bodyPr wrap="square" lIns="0" tIns="0" rIns="0" bIns="0" rtlCol="0" anchor="ctr"/>
          <a:lstStyle/>
          <a:p>
            <a:pPr marL="0" indent="0">
              <a:buNone/>
            </a:pPr>
            <a:r>
              <a:rPr lang="en-US" sz="850" b="1" dirty="0">
                <a:solidFill>
                  <a:srgbClr val="336EA8"/>
                </a:solidFill>
              </a:rPr>
              <a:t>Pipeline Testing: </a:t>
            </a:r>
            <a:endParaRPr lang="en-US" sz="850" dirty="0"/>
          </a:p>
        </p:txBody>
      </p:sp>
      <p:sp>
        <p:nvSpPr>
          <p:cNvPr id="28" name="Text 26"/>
          <p:cNvSpPr/>
          <p:nvPr/>
        </p:nvSpPr>
        <p:spPr>
          <a:xfrm>
            <a:off x="658368" y="3813048"/>
            <a:ext cx="3657600" cy="146304"/>
          </a:xfrm>
          <a:prstGeom prst="rect">
            <a:avLst/>
          </a:prstGeom>
          <a:noFill/>
          <a:ln/>
        </p:spPr>
        <p:txBody>
          <a:bodyPr wrap="square" lIns="0" tIns="0" rIns="0" bIns="0" rtlCol="0" anchor="ctr"/>
          <a:lstStyle/>
          <a:p>
            <a:r>
              <a:rPr lang="en-US" sz="800" dirty="0"/>
              <a:t>Bronze → Silver → Gold run end-to-end on ~5,394-5,878 rows (varies by snapshot, since NASA's source updates daily) - no data loss</a:t>
            </a:r>
          </a:p>
        </p:txBody>
      </p:sp>
      <p:sp>
        <p:nvSpPr>
          <p:cNvPr id="29" name="Shape 27"/>
          <p:cNvSpPr/>
          <p:nvPr/>
        </p:nvSpPr>
        <p:spPr>
          <a:xfrm>
            <a:off x="320040" y="4153129"/>
            <a:ext cx="4114800" cy="601851"/>
          </a:xfrm>
          <a:prstGeom prst="rect">
            <a:avLst/>
          </a:prstGeom>
          <a:solidFill>
            <a:srgbClr val="F5F5F5"/>
          </a:solidFill>
          <a:ln w="12700">
            <a:solidFill>
              <a:srgbClr val="DDDDDD"/>
            </a:solidFill>
            <a:prstDash val="solid"/>
          </a:ln>
        </p:spPr>
        <p:txBody>
          <a:bodyPr/>
          <a:lstStyle/>
          <a:p>
            <a:endParaRPr lang="en-US"/>
          </a:p>
        </p:txBody>
      </p:sp>
      <p:sp>
        <p:nvSpPr>
          <p:cNvPr id="30" name="Text 28"/>
          <p:cNvSpPr/>
          <p:nvPr/>
        </p:nvSpPr>
        <p:spPr>
          <a:xfrm>
            <a:off x="472073" y="4098039"/>
            <a:ext cx="274320" cy="384048"/>
          </a:xfrm>
          <a:prstGeom prst="rect">
            <a:avLst/>
          </a:prstGeom>
          <a:noFill/>
          <a:ln/>
        </p:spPr>
        <p:txBody>
          <a:bodyPr wrap="square" lIns="0" tIns="0" rIns="0" bIns="0" rtlCol="0" anchor="ctr"/>
          <a:lstStyle/>
          <a:p>
            <a:pPr marL="0" indent="0">
              <a:buNone/>
            </a:pPr>
            <a:r>
              <a:rPr lang="en-US" sz="1200" dirty="0">
                <a:solidFill>
                  <a:srgbClr val="047954"/>
                </a:solidFill>
              </a:rPr>
              <a:t>✓</a:t>
            </a:r>
            <a:endParaRPr lang="en-US" sz="1200" dirty="0"/>
          </a:p>
        </p:txBody>
      </p:sp>
      <p:sp>
        <p:nvSpPr>
          <p:cNvPr id="31" name="Text 29"/>
          <p:cNvSpPr/>
          <p:nvPr/>
        </p:nvSpPr>
        <p:spPr>
          <a:xfrm>
            <a:off x="658368" y="4187181"/>
            <a:ext cx="1097280" cy="182880"/>
          </a:xfrm>
          <a:prstGeom prst="rect">
            <a:avLst/>
          </a:prstGeom>
          <a:noFill/>
          <a:ln/>
        </p:spPr>
        <p:txBody>
          <a:bodyPr wrap="square" lIns="0" tIns="0" rIns="0" bIns="0" rtlCol="0" anchor="ctr"/>
          <a:lstStyle/>
          <a:p>
            <a:pPr marL="0" indent="0">
              <a:buNone/>
            </a:pPr>
            <a:r>
              <a:rPr lang="en-US" sz="850" b="1" dirty="0">
                <a:solidFill>
                  <a:srgbClr val="336EA8"/>
                </a:solidFill>
              </a:rPr>
              <a:t>ML Model Testing: </a:t>
            </a:r>
            <a:endParaRPr lang="en-US" sz="850" dirty="0"/>
          </a:p>
        </p:txBody>
      </p:sp>
      <p:sp>
        <p:nvSpPr>
          <p:cNvPr id="32" name="Text 30"/>
          <p:cNvSpPr/>
          <p:nvPr/>
        </p:nvSpPr>
        <p:spPr>
          <a:xfrm>
            <a:off x="658368" y="4376433"/>
            <a:ext cx="3657600" cy="287146"/>
          </a:xfrm>
          <a:prstGeom prst="rect">
            <a:avLst/>
          </a:prstGeom>
          <a:noFill/>
          <a:ln/>
        </p:spPr>
        <p:txBody>
          <a:bodyPr wrap="square" lIns="0" tIns="0" rIns="0" bIns="0" rtlCol="0" anchor="ctr"/>
          <a:lstStyle/>
          <a:p>
            <a:r>
              <a:rPr lang="en-US" sz="800" dirty="0"/>
              <a:t>Habitability Classifier (Random Forest) - Test Accuracy 99.06%, Class 1 (Habitable) Recall 0.60; Earth Similarity Regressor (</a:t>
            </a:r>
            <a:r>
              <a:rPr lang="en-US" sz="800" dirty="0" err="1"/>
              <a:t>XGBoost</a:t>
            </a:r>
            <a:r>
              <a:rPr lang="en-US" sz="800" dirty="0"/>
              <a:t>) - R2= 0.87, RMSE = 4.58, trained on the </a:t>
            </a:r>
            <a:r>
              <a:rPr lang="en-US" sz="800" dirty="0" err="1"/>
              <a:t>ExoHabX</a:t>
            </a:r>
            <a:r>
              <a:rPr lang="en-US" sz="800" dirty="0"/>
              <a:t> (NASA/HWC) dataset</a:t>
            </a:r>
          </a:p>
        </p:txBody>
      </p:sp>
      <p:sp>
        <p:nvSpPr>
          <p:cNvPr id="33" name="Shape 31"/>
          <p:cNvSpPr/>
          <p:nvPr/>
        </p:nvSpPr>
        <p:spPr>
          <a:xfrm>
            <a:off x="4663440" y="1417320"/>
            <a:ext cx="4160520" cy="292608"/>
          </a:xfrm>
          <a:prstGeom prst="rect">
            <a:avLst/>
          </a:prstGeom>
          <a:solidFill>
            <a:srgbClr val="7030A0"/>
          </a:solidFill>
          <a:ln w="12700">
            <a:solidFill>
              <a:srgbClr val="336EA8"/>
            </a:solidFill>
            <a:prstDash val="solid"/>
          </a:ln>
        </p:spPr>
        <p:txBody>
          <a:bodyPr/>
          <a:lstStyle/>
          <a:p>
            <a:endParaRPr lang="en-US"/>
          </a:p>
        </p:txBody>
      </p:sp>
      <p:sp>
        <p:nvSpPr>
          <p:cNvPr id="34" name="Text 32"/>
          <p:cNvSpPr/>
          <p:nvPr/>
        </p:nvSpPr>
        <p:spPr>
          <a:xfrm>
            <a:off x="4663440" y="1417320"/>
            <a:ext cx="4160520" cy="292608"/>
          </a:xfrm>
          <a:prstGeom prst="rect">
            <a:avLst/>
          </a:prstGeom>
          <a:noFill/>
          <a:ln/>
        </p:spPr>
        <p:txBody>
          <a:bodyPr wrap="square" lIns="0" tIns="0" rIns="0" bIns="0" rtlCol="0" anchor="ctr"/>
          <a:lstStyle/>
          <a:p>
            <a:pPr marL="0" indent="0" algn="ctr">
              <a:buNone/>
            </a:pPr>
            <a:r>
              <a:rPr lang="en-US" sz="1000" b="1" dirty="0">
                <a:solidFill>
                  <a:srgbClr val="FFFFFF"/>
                </a:solidFill>
              </a:rPr>
              <a:t>Dashboard Pages Overview</a:t>
            </a:r>
            <a:endParaRPr lang="en-US" sz="1000" dirty="0"/>
          </a:p>
        </p:txBody>
      </p:sp>
      <p:sp>
        <p:nvSpPr>
          <p:cNvPr id="35" name="Shape 33"/>
          <p:cNvSpPr/>
          <p:nvPr/>
        </p:nvSpPr>
        <p:spPr>
          <a:xfrm>
            <a:off x="4663440" y="1764792"/>
            <a:ext cx="4160520" cy="502920"/>
          </a:xfrm>
          <a:prstGeom prst="rect">
            <a:avLst/>
          </a:prstGeom>
          <a:solidFill>
            <a:srgbClr val="F5F5F5"/>
          </a:solidFill>
          <a:ln w="12700">
            <a:solidFill>
              <a:srgbClr val="DDDDDD"/>
            </a:solidFill>
            <a:prstDash val="solid"/>
          </a:ln>
        </p:spPr>
        <p:txBody>
          <a:bodyPr/>
          <a:lstStyle/>
          <a:p>
            <a:endParaRPr lang="en-US"/>
          </a:p>
        </p:txBody>
      </p:sp>
      <p:sp>
        <p:nvSpPr>
          <p:cNvPr id="36" name="Shape 34"/>
          <p:cNvSpPr/>
          <p:nvPr/>
        </p:nvSpPr>
        <p:spPr>
          <a:xfrm>
            <a:off x="4663440" y="1764792"/>
            <a:ext cx="384048" cy="502920"/>
          </a:xfrm>
          <a:prstGeom prst="rect">
            <a:avLst/>
          </a:prstGeom>
          <a:solidFill>
            <a:srgbClr val="7030A0"/>
          </a:solidFill>
          <a:ln w="12700">
            <a:solidFill>
              <a:srgbClr val="0FAB7D"/>
            </a:solidFill>
            <a:prstDash val="solid"/>
          </a:ln>
        </p:spPr>
        <p:txBody>
          <a:bodyPr/>
          <a:lstStyle/>
          <a:p>
            <a:endParaRPr lang="en-US"/>
          </a:p>
        </p:txBody>
      </p:sp>
      <p:sp>
        <p:nvSpPr>
          <p:cNvPr id="37" name="Text 35"/>
          <p:cNvSpPr/>
          <p:nvPr/>
        </p:nvSpPr>
        <p:spPr>
          <a:xfrm>
            <a:off x="4663440" y="1764792"/>
            <a:ext cx="384048" cy="502920"/>
          </a:xfrm>
          <a:prstGeom prst="rect">
            <a:avLst/>
          </a:prstGeom>
          <a:noFill/>
          <a:ln/>
        </p:spPr>
        <p:txBody>
          <a:bodyPr wrap="square" lIns="0" tIns="0" rIns="0" bIns="0" rtlCol="0" anchor="ctr"/>
          <a:lstStyle/>
          <a:p>
            <a:pPr marL="0" indent="0" algn="ctr">
              <a:buNone/>
            </a:pPr>
            <a:r>
              <a:rPr lang="en-US" sz="900" b="1" dirty="0">
                <a:solidFill>
                  <a:srgbClr val="FFFFFF"/>
                </a:solidFill>
              </a:rPr>
              <a:t>P1</a:t>
            </a:r>
            <a:endParaRPr lang="en-US" sz="900" dirty="0"/>
          </a:p>
        </p:txBody>
      </p:sp>
      <p:sp>
        <p:nvSpPr>
          <p:cNvPr id="38" name="Text 36"/>
          <p:cNvSpPr/>
          <p:nvPr/>
        </p:nvSpPr>
        <p:spPr>
          <a:xfrm>
            <a:off x="5120639" y="1783976"/>
            <a:ext cx="2844556" cy="232276"/>
          </a:xfrm>
          <a:prstGeom prst="rect">
            <a:avLst/>
          </a:prstGeom>
          <a:noFill/>
          <a:ln/>
        </p:spPr>
        <p:txBody>
          <a:bodyPr wrap="square" lIns="0" tIns="0" rIns="0" bIns="0" rtlCol="0" anchor="ctr"/>
          <a:lstStyle/>
          <a:p>
            <a:r>
              <a:rPr lang="en-US" sz="900" b="1" dirty="0"/>
              <a:t>Exoplanet — Cover Page</a:t>
            </a:r>
          </a:p>
        </p:txBody>
      </p:sp>
      <p:sp>
        <p:nvSpPr>
          <p:cNvPr id="39" name="Text 37"/>
          <p:cNvSpPr/>
          <p:nvPr/>
        </p:nvSpPr>
        <p:spPr>
          <a:xfrm>
            <a:off x="5120640" y="2029968"/>
            <a:ext cx="3611880" cy="182880"/>
          </a:xfrm>
          <a:prstGeom prst="rect">
            <a:avLst/>
          </a:prstGeom>
          <a:noFill/>
          <a:ln/>
        </p:spPr>
        <p:txBody>
          <a:bodyPr wrap="square" lIns="0" tIns="0" rIns="0" bIns="0" rtlCol="0" anchor="ctr"/>
          <a:lstStyle/>
          <a:p>
            <a:r>
              <a:rPr lang="en-US" sz="800" dirty="0"/>
              <a:t>Branding, mission tagline</a:t>
            </a:r>
            <a:endParaRPr lang="en-US" sz="750" dirty="0"/>
          </a:p>
        </p:txBody>
      </p:sp>
      <p:sp>
        <p:nvSpPr>
          <p:cNvPr id="40" name="Shape 38"/>
          <p:cNvSpPr/>
          <p:nvPr/>
        </p:nvSpPr>
        <p:spPr>
          <a:xfrm>
            <a:off x="4663440" y="2313433"/>
            <a:ext cx="4160520" cy="317222"/>
          </a:xfrm>
          <a:prstGeom prst="rect">
            <a:avLst/>
          </a:prstGeom>
          <a:solidFill>
            <a:srgbClr val="FFFFFF"/>
          </a:solidFill>
          <a:ln w="12700">
            <a:solidFill>
              <a:srgbClr val="DDDDDD"/>
            </a:solidFill>
            <a:prstDash val="solid"/>
          </a:ln>
        </p:spPr>
        <p:txBody>
          <a:bodyPr/>
          <a:lstStyle/>
          <a:p>
            <a:endParaRPr lang="en-US"/>
          </a:p>
        </p:txBody>
      </p:sp>
      <p:sp>
        <p:nvSpPr>
          <p:cNvPr id="41" name="Shape 39"/>
          <p:cNvSpPr/>
          <p:nvPr/>
        </p:nvSpPr>
        <p:spPr>
          <a:xfrm>
            <a:off x="4663440" y="2302581"/>
            <a:ext cx="384048" cy="345748"/>
          </a:xfrm>
          <a:prstGeom prst="rect">
            <a:avLst/>
          </a:prstGeom>
          <a:solidFill>
            <a:srgbClr val="7030A0"/>
          </a:solidFill>
          <a:ln w="12700">
            <a:solidFill>
              <a:srgbClr val="0FAB7D"/>
            </a:solidFill>
            <a:prstDash val="solid"/>
          </a:ln>
        </p:spPr>
        <p:txBody>
          <a:bodyPr/>
          <a:lstStyle/>
          <a:p>
            <a:endParaRPr lang="en-US" dirty="0"/>
          </a:p>
        </p:txBody>
      </p:sp>
      <p:sp>
        <p:nvSpPr>
          <p:cNvPr id="42" name="Text 40"/>
          <p:cNvSpPr/>
          <p:nvPr/>
        </p:nvSpPr>
        <p:spPr>
          <a:xfrm>
            <a:off x="4663440" y="2313432"/>
            <a:ext cx="384048" cy="502920"/>
          </a:xfrm>
          <a:prstGeom prst="rect">
            <a:avLst/>
          </a:prstGeom>
          <a:noFill/>
          <a:ln/>
        </p:spPr>
        <p:txBody>
          <a:bodyPr wrap="square" lIns="0" tIns="0" rIns="0" bIns="0" rtlCol="0" anchor="ctr"/>
          <a:lstStyle/>
          <a:p>
            <a:pPr marL="0" indent="0" algn="ctr">
              <a:buNone/>
            </a:pPr>
            <a:endParaRPr lang="en-US" sz="900" dirty="0"/>
          </a:p>
        </p:txBody>
      </p:sp>
      <p:sp>
        <p:nvSpPr>
          <p:cNvPr id="43" name="Text 41"/>
          <p:cNvSpPr/>
          <p:nvPr/>
        </p:nvSpPr>
        <p:spPr>
          <a:xfrm>
            <a:off x="5120640" y="2316032"/>
            <a:ext cx="2103120" cy="219456"/>
          </a:xfrm>
          <a:prstGeom prst="rect">
            <a:avLst/>
          </a:prstGeom>
          <a:noFill/>
          <a:ln/>
        </p:spPr>
        <p:txBody>
          <a:bodyPr wrap="square" lIns="0" tIns="0" rIns="0" bIns="0" rtlCol="0" anchor="ctr"/>
          <a:lstStyle/>
          <a:p>
            <a:r>
              <a:rPr lang="en-US" sz="900" b="1" dirty="0"/>
              <a:t>Description</a:t>
            </a:r>
          </a:p>
        </p:txBody>
      </p:sp>
      <p:sp>
        <p:nvSpPr>
          <p:cNvPr id="44" name="Text 42"/>
          <p:cNvSpPr/>
          <p:nvPr/>
        </p:nvSpPr>
        <p:spPr>
          <a:xfrm>
            <a:off x="5120640" y="2446020"/>
            <a:ext cx="3611880" cy="182880"/>
          </a:xfrm>
          <a:prstGeom prst="rect">
            <a:avLst/>
          </a:prstGeom>
          <a:noFill/>
          <a:ln/>
        </p:spPr>
        <p:txBody>
          <a:bodyPr wrap="square" lIns="0" tIns="0" rIns="0" bIns="0" rtlCol="0" anchor="ctr"/>
          <a:lstStyle/>
          <a:p>
            <a:r>
              <a:rPr lang="en-US" sz="800" dirty="0"/>
              <a:t>Mission statement text box</a:t>
            </a:r>
            <a:endParaRPr lang="en-US" sz="750" dirty="0"/>
          </a:p>
        </p:txBody>
      </p:sp>
      <p:sp>
        <p:nvSpPr>
          <p:cNvPr id="45" name="Shape 43"/>
          <p:cNvSpPr/>
          <p:nvPr/>
        </p:nvSpPr>
        <p:spPr>
          <a:xfrm>
            <a:off x="4666855" y="2679192"/>
            <a:ext cx="4160520" cy="399450"/>
          </a:xfrm>
          <a:prstGeom prst="rect">
            <a:avLst/>
          </a:prstGeom>
          <a:solidFill>
            <a:srgbClr val="F5F5F5"/>
          </a:solidFill>
          <a:ln w="12700">
            <a:solidFill>
              <a:srgbClr val="DDDDDD"/>
            </a:solidFill>
            <a:prstDash val="solid"/>
          </a:ln>
        </p:spPr>
        <p:txBody>
          <a:bodyPr/>
          <a:lstStyle/>
          <a:p>
            <a:endParaRPr lang="en-US" dirty="0"/>
          </a:p>
        </p:txBody>
      </p:sp>
      <p:sp>
        <p:nvSpPr>
          <p:cNvPr id="46" name="Shape 44"/>
          <p:cNvSpPr/>
          <p:nvPr/>
        </p:nvSpPr>
        <p:spPr>
          <a:xfrm>
            <a:off x="4663439" y="2680118"/>
            <a:ext cx="384048" cy="407697"/>
          </a:xfrm>
          <a:prstGeom prst="rect">
            <a:avLst/>
          </a:prstGeom>
          <a:solidFill>
            <a:srgbClr val="7030A0"/>
          </a:solidFill>
          <a:ln w="12700">
            <a:solidFill>
              <a:srgbClr val="0FAB7D"/>
            </a:solidFill>
            <a:prstDash val="solid"/>
          </a:ln>
        </p:spPr>
        <p:txBody>
          <a:bodyPr/>
          <a:lstStyle/>
          <a:p>
            <a:endParaRPr lang="en-US" dirty="0"/>
          </a:p>
        </p:txBody>
      </p:sp>
      <p:sp>
        <p:nvSpPr>
          <p:cNvPr id="47" name="Text 45"/>
          <p:cNvSpPr/>
          <p:nvPr/>
        </p:nvSpPr>
        <p:spPr>
          <a:xfrm>
            <a:off x="4676547" y="2612592"/>
            <a:ext cx="384048" cy="502920"/>
          </a:xfrm>
          <a:prstGeom prst="rect">
            <a:avLst/>
          </a:prstGeom>
          <a:noFill/>
          <a:ln/>
        </p:spPr>
        <p:txBody>
          <a:bodyPr wrap="square" lIns="0" tIns="0" rIns="0" bIns="0" rtlCol="0" anchor="ctr"/>
          <a:lstStyle/>
          <a:p>
            <a:pPr marL="0" indent="0" algn="ctr">
              <a:buNone/>
            </a:pPr>
            <a:r>
              <a:rPr lang="en-US" sz="900" b="1" dirty="0">
                <a:solidFill>
                  <a:srgbClr val="FFFFFF"/>
                </a:solidFill>
              </a:rPr>
              <a:t>P3</a:t>
            </a:r>
            <a:endParaRPr lang="en-US" sz="900" dirty="0"/>
          </a:p>
        </p:txBody>
      </p:sp>
      <p:sp>
        <p:nvSpPr>
          <p:cNvPr id="48" name="Text 46"/>
          <p:cNvSpPr/>
          <p:nvPr/>
        </p:nvSpPr>
        <p:spPr>
          <a:xfrm>
            <a:off x="5120640" y="2679192"/>
            <a:ext cx="2103120" cy="219456"/>
          </a:xfrm>
          <a:prstGeom prst="rect">
            <a:avLst/>
          </a:prstGeom>
          <a:noFill/>
          <a:ln/>
        </p:spPr>
        <p:txBody>
          <a:bodyPr wrap="square" lIns="0" tIns="0" rIns="0" bIns="0" rtlCol="0" anchor="ctr"/>
          <a:lstStyle/>
          <a:p>
            <a:r>
              <a:rPr lang="en-US" sz="900" b="1" dirty="0"/>
              <a:t>Overview</a:t>
            </a:r>
          </a:p>
        </p:txBody>
      </p:sp>
      <p:sp>
        <p:nvSpPr>
          <p:cNvPr id="49" name="Text 47"/>
          <p:cNvSpPr/>
          <p:nvPr/>
        </p:nvSpPr>
        <p:spPr>
          <a:xfrm>
            <a:off x="5120639" y="2855528"/>
            <a:ext cx="3611880" cy="182880"/>
          </a:xfrm>
          <a:prstGeom prst="rect">
            <a:avLst/>
          </a:prstGeom>
          <a:noFill/>
          <a:ln/>
        </p:spPr>
        <p:txBody>
          <a:bodyPr wrap="square" lIns="0" tIns="0" rIns="0" bIns="0" rtlCol="0" anchor="ctr"/>
          <a:lstStyle/>
          <a:p>
            <a:r>
              <a:rPr lang="en-US" sz="800" dirty="0"/>
              <a:t>KPI cards, cumulative-discoveries chart, donut, histogram</a:t>
            </a:r>
            <a:endParaRPr lang="en-US" sz="750" dirty="0"/>
          </a:p>
        </p:txBody>
      </p:sp>
      <p:sp>
        <p:nvSpPr>
          <p:cNvPr id="50" name="Shape 48"/>
          <p:cNvSpPr/>
          <p:nvPr/>
        </p:nvSpPr>
        <p:spPr>
          <a:xfrm>
            <a:off x="4660025" y="3124743"/>
            <a:ext cx="4160520" cy="387311"/>
          </a:xfrm>
          <a:prstGeom prst="rect">
            <a:avLst/>
          </a:prstGeom>
          <a:solidFill>
            <a:srgbClr val="FFFFFF"/>
          </a:solidFill>
          <a:ln w="12700">
            <a:solidFill>
              <a:srgbClr val="DDDDDD"/>
            </a:solidFill>
            <a:prstDash val="solid"/>
          </a:ln>
        </p:spPr>
        <p:txBody>
          <a:bodyPr/>
          <a:lstStyle/>
          <a:p>
            <a:endParaRPr lang="en-US" dirty="0"/>
          </a:p>
        </p:txBody>
      </p:sp>
      <p:sp>
        <p:nvSpPr>
          <p:cNvPr id="51" name="Shape 49"/>
          <p:cNvSpPr/>
          <p:nvPr/>
        </p:nvSpPr>
        <p:spPr>
          <a:xfrm>
            <a:off x="4660025" y="3121530"/>
            <a:ext cx="396912" cy="394546"/>
          </a:xfrm>
          <a:prstGeom prst="rect">
            <a:avLst/>
          </a:prstGeom>
          <a:solidFill>
            <a:srgbClr val="7030A0"/>
          </a:solidFill>
          <a:ln w="12700">
            <a:solidFill>
              <a:schemeClr val="bg1"/>
            </a:solidFill>
            <a:prstDash val="solid"/>
          </a:ln>
        </p:spPr>
        <p:txBody>
          <a:bodyPr/>
          <a:lstStyle/>
          <a:p>
            <a:endParaRPr lang="en-US" dirty="0"/>
          </a:p>
        </p:txBody>
      </p:sp>
      <p:sp>
        <p:nvSpPr>
          <p:cNvPr id="52" name="Text 50"/>
          <p:cNvSpPr/>
          <p:nvPr/>
        </p:nvSpPr>
        <p:spPr>
          <a:xfrm>
            <a:off x="4663440" y="3114415"/>
            <a:ext cx="384048" cy="399518"/>
          </a:xfrm>
          <a:prstGeom prst="rect">
            <a:avLst/>
          </a:prstGeom>
          <a:noFill/>
          <a:ln/>
        </p:spPr>
        <p:txBody>
          <a:bodyPr wrap="square" lIns="0" tIns="0" rIns="0" bIns="0" rtlCol="0" anchor="ctr"/>
          <a:lstStyle/>
          <a:p>
            <a:pPr marL="0" indent="0" algn="ctr">
              <a:buNone/>
            </a:pPr>
            <a:r>
              <a:rPr lang="en-US" sz="900" b="1" dirty="0">
                <a:solidFill>
                  <a:srgbClr val="FFFFFF"/>
                </a:solidFill>
              </a:rPr>
              <a:t>P4</a:t>
            </a:r>
            <a:endParaRPr lang="en-US" sz="900" dirty="0"/>
          </a:p>
        </p:txBody>
      </p:sp>
      <p:sp>
        <p:nvSpPr>
          <p:cNvPr id="53" name="Text 51"/>
          <p:cNvSpPr/>
          <p:nvPr/>
        </p:nvSpPr>
        <p:spPr>
          <a:xfrm>
            <a:off x="5138267" y="3143553"/>
            <a:ext cx="2103120" cy="219456"/>
          </a:xfrm>
          <a:prstGeom prst="rect">
            <a:avLst/>
          </a:prstGeom>
          <a:noFill/>
          <a:ln/>
        </p:spPr>
        <p:txBody>
          <a:bodyPr wrap="square" lIns="0" tIns="0" rIns="0" bIns="0" rtlCol="0" anchor="ctr"/>
          <a:lstStyle/>
          <a:p>
            <a:r>
              <a:rPr lang="en-US" sz="900" b="1" dirty="0"/>
              <a:t>Habitability</a:t>
            </a:r>
          </a:p>
        </p:txBody>
      </p:sp>
      <p:sp>
        <p:nvSpPr>
          <p:cNvPr id="54" name="Text 52"/>
          <p:cNvSpPr/>
          <p:nvPr/>
        </p:nvSpPr>
        <p:spPr>
          <a:xfrm>
            <a:off x="5120639" y="3306125"/>
            <a:ext cx="3611880" cy="182880"/>
          </a:xfrm>
          <a:prstGeom prst="rect">
            <a:avLst/>
          </a:prstGeom>
          <a:noFill/>
          <a:ln/>
        </p:spPr>
        <p:txBody>
          <a:bodyPr wrap="square" lIns="0" tIns="0" rIns="0" bIns="0" rtlCol="0" anchor="ctr"/>
          <a:lstStyle/>
          <a:p>
            <a:r>
              <a:rPr lang="en-US" sz="800" dirty="0"/>
              <a:t>KPI cards, Kepler's Law scatter, Mass vs Radius, eccentricity histogram, bar chart</a:t>
            </a:r>
            <a:endParaRPr lang="en-US" sz="750" dirty="0"/>
          </a:p>
        </p:txBody>
      </p:sp>
      <p:sp>
        <p:nvSpPr>
          <p:cNvPr id="55" name="Shape 53"/>
          <p:cNvSpPr/>
          <p:nvPr/>
        </p:nvSpPr>
        <p:spPr>
          <a:xfrm>
            <a:off x="4725924" y="3568653"/>
            <a:ext cx="4094621" cy="399450"/>
          </a:xfrm>
          <a:prstGeom prst="rect">
            <a:avLst/>
          </a:prstGeom>
          <a:solidFill>
            <a:srgbClr val="F5F5F5"/>
          </a:solidFill>
          <a:ln w="12700">
            <a:solidFill>
              <a:srgbClr val="DDDDDD"/>
            </a:solidFill>
            <a:prstDash val="solid"/>
          </a:ln>
        </p:spPr>
        <p:txBody>
          <a:bodyPr/>
          <a:lstStyle/>
          <a:p>
            <a:endParaRPr lang="en-US" dirty="0"/>
          </a:p>
        </p:txBody>
      </p:sp>
      <p:sp>
        <p:nvSpPr>
          <p:cNvPr id="56" name="Shape 54"/>
          <p:cNvSpPr/>
          <p:nvPr/>
        </p:nvSpPr>
        <p:spPr>
          <a:xfrm>
            <a:off x="4666854" y="3531302"/>
            <a:ext cx="380633" cy="432652"/>
          </a:xfrm>
          <a:prstGeom prst="rect">
            <a:avLst/>
          </a:prstGeom>
          <a:solidFill>
            <a:srgbClr val="7030A0"/>
          </a:solidFill>
          <a:ln w="12700">
            <a:solidFill>
              <a:schemeClr val="bg1"/>
            </a:solidFill>
            <a:prstDash val="solid"/>
          </a:ln>
        </p:spPr>
        <p:txBody>
          <a:bodyPr/>
          <a:lstStyle/>
          <a:p>
            <a:endParaRPr lang="en-AE" dirty="0"/>
          </a:p>
        </p:txBody>
      </p:sp>
      <p:sp>
        <p:nvSpPr>
          <p:cNvPr id="57" name="Text 55"/>
          <p:cNvSpPr/>
          <p:nvPr/>
        </p:nvSpPr>
        <p:spPr>
          <a:xfrm>
            <a:off x="4663440" y="3475563"/>
            <a:ext cx="384048" cy="502920"/>
          </a:xfrm>
          <a:prstGeom prst="rect">
            <a:avLst/>
          </a:prstGeom>
          <a:noFill/>
          <a:ln/>
        </p:spPr>
        <p:txBody>
          <a:bodyPr wrap="square" lIns="0" tIns="0" rIns="0" bIns="0" rtlCol="0" anchor="ctr"/>
          <a:lstStyle/>
          <a:p>
            <a:pPr marL="0" indent="0" algn="ctr">
              <a:buNone/>
            </a:pPr>
            <a:r>
              <a:rPr lang="en-US" sz="900" b="1" dirty="0">
                <a:solidFill>
                  <a:srgbClr val="FFFFFF"/>
                </a:solidFill>
              </a:rPr>
              <a:t>P5</a:t>
            </a:r>
            <a:endParaRPr lang="en-US" sz="900" dirty="0"/>
          </a:p>
        </p:txBody>
      </p:sp>
      <p:sp>
        <p:nvSpPr>
          <p:cNvPr id="58" name="Text 56"/>
          <p:cNvSpPr/>
          <p:nvPr/>
        </p:nvSpPr>
        <p:spPr>
          <a:xfrm>
            <a:off x="5138267" y="3557912"/>
            <a:ext cx="2103120" cy="219456"/>
          </a:xfrm>
          <a:prstGeom prst="rect">
            <a:avLst/>
          </a:prstGeom>
          <a:noFill/>
          <a:ln/>
        </p:spPr>
        <p:txBody>
          <a:bodyPr wrap="square" lIns="0" tIns="0" rIns="0" bIns="0" rtlCol="0" anchor="ctr"/>
          <a:lstStyle/>
          <a:p>
            <a:r>
              <a:rPr lang="en-US" sz="900" b="1" dirty="0"/>
              <a:t>Star Systems</a:t>
            </a:r>
          </a:p>
        </p:txBody>
      </p:sp>
      <p:sp>
        <p:nvSpPr>
          <p:cNvPr id="59" name="Text 57"/>
          <p:cNvSpPr/>
          <p:nvPr/>
        </p:nvSpPr>
        <p:spPr>
          <a:xfrm>
            <a:off x="5120639" y="3761340"/>
            <a:ext cx="3611880" cy="182880"/>
          </a:xfrm>
          <a:prstGeom prst="rect">
            <a:avLst/>
          </a:prstGeom>
          <a:noFill/>
          <a:ln/>
        </p:spPr>
        <p:txBody>
          <a:bodyPr wrap="square" lIns="0" tIns="0" rIns="0" bIns="0" rtlCol="0" anchor="ctr"/>
          <a:lstStyle/>
          <a:p>
            <a:r>
              <a:rPr lang="en-US" sz="800" dirty="0"/>
              <a:t>KPI cards, H-R diagram, scatter plot, bar chart, correlation heatmap</a:t>
            </a:r>
            <a:endParaRPr lang="en-US" sz="750" dirty="0"/>
          </a:p>
        </p:txBody>
      </p:sp>
      <p:sp>
        <p:nvSpPr>
          <p:cNvPr id="302" name="Text P6Title"/>
          <p:cNvSpPr/>
          <p:nvPr/>
        </p:nvSpPr>
        <p:spPr>
          <a:xfrm>
            <a:off x="5147792" y="3994201"/>
            <a:ext cx="2103120" cy="219456"/>
          </a:xfrm>
          <a:prstGeom prst="rect">
            <a:avLst/>
          </a:prstGeom>
          <a:noFill/>
          <a:ln/>
        </p:spPr>
        <p:txBody>
          <a:bodyPr wrap="square" lIns="0" tIns="0" rIns="0" bIns="0" rtlCol="0" anchor="ctr"/>
          <a:lstStyle/>
          <a:p>
            <a:r>
              <a:rPr lang="en-US" sz="900" b="1" dirty="0"/>
              <a:t>Planet Explorer</a:t>
            </a:r>
            <a:endParaRPr lang="en-US" sz="900" b="1" dirty="0">
              <a:solidFill>
                <a:srgbClr val="1A1A1A"/>
              </a:solidFill>
            </a:endParaRPr>
          </a:p>
        </p:txBody>
      </p:sp>
      <p:sp>
        <p:nvSpPr>
          <p:cNvPr id="303" name="Text P6Visuals"/>
          <p:cNvSpPr/>
          <p:nvPr/>
        </p:nvSpPr>
        <p:spPr>
          <a:xfrm>
            <a:off x="5147792" y="4153129"/>
            <a:ext cx="3611880" cy="182880"/>
          </a:xfrm>
          <a:prstGeom prst="rect">
            <a:avLst/>
          </a:prstGeom>
          <a:noFill/>
          <a:ln/>
        </p:spPr>
        <p:txBody>
          <a:bodyPr wrap="square" lIns="0" tIns="0" rIns="0" bIns="0" rtlCol="0" anchor="ctr"/>
          <a:lstStyle/>
          <a:p>
            <a:r>
              <a:rPr lang="en-US" sz="800" dirty="0"/>
              <a:t>KPI cards, Goldilocks-zone scatter, ESI histogram, Top-10 bar chart</a:t>
            </a:r>
            <a:endParaRPr lang="en-US" sz="750" dirty="0">
              <a:solidFill>
                <a:srgbClr val="555555"/>
              </a:solidFill>
            </a:endParaRPr>
          </a:p>
        </p:txBody>
      </p:sp>
      <p:pic>
        <p:nvPicPr>
          <p:cNvPr id="60" name="Picture 2" descr="مبادرة رواد مصر الرقمية - YouTube">
            <a:extLst>
              <a:ext uri="{FF2B5EF4-FFF2-40B4-BE49-F238E27FC236}">
                <a16:creationId xmlns:a16="http://schemas.microsoft.com/office/drawing/2014/main" id="{009EAEA0-D2BD-4994-888D-43BA47F259F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EE07BB37-A9E1-4AB9-9674-18235A3BC3A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a:extLst>
              <a:ext uri="{FF2B5EF4-FFF2-40B4-BE49-F238E27FC236}">
                <a16:creationId xmlns:a16="http://schemas.microsoft.com/office/drawing/2014/main" id="{6B6FA724-AE2E-4ED7-BD5B-8CF15BA72D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9470"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69B696C-66BB-2260-210E-F0EA6649E37A}"/>
              </a:ext>
            </a:extLst>
          </p:cNvPr>
          <p:cNvSpPr txBox="1"/>
          <p:nvPr/>
        </p:nvSpPr>
        <p:spPr>
          <a:xfrm>
            <a:off x="4690905" y="2363431"/>
            <a:ext cx="607981" cy="253916"/>
          </a:xfrm>
          <a:prstGeom prst="rect">
            <a:avLst/>
          </a:prstGeom>
          <a:noFill/>
        </p:spPr>
        <p:txBody>
          <a:bodyPr wrap="square" rtlCol="0">
            <a:spAutoFit/>
          </a:bodyPr>
          <a:lstStyle/>
          <a:p>
            <a:r>
              <a:rPr lang="en-US" sz="1050" b="1" dirty="0">
                <a:solidFill>
                  <a:schemeClr val="bg1"/>
                </a:solidFill>
              </a:rPr>
              <a:t>P2</a:t>
            </a:r>
          </a:p>
        </p:txBody>
      </p:sp>
      <p:sp>
        <p:nvSpPr>
          <p:cNvPr id="3" name="Rectangle 2">
            <a:extLst>
              <a:ext uri="{FF2B5EF4-FFF2-40B4-BE49-F238E27FC236}">
                <a16:creationId xmlns:a16="http://schemas.microsoft.com/office/drawing/2014/main" id="{F1B793FF-9F63-690E-7762-0FEF64D291A6}"/>
              </a:ext>
            </a:extLst>
          </p:cNvPr>
          <p:cNvSpPr/>
          <p:nvPr/>
        </p:nvSpPr>
        <p:spPr>
          <a:xfrm>
            <a:off x="4666855" y="3989277"/>
            <a:ext cx="393850" cy="35997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P6</a:t>
            </a:r>
          </a:p>
        </p:txBody>
      </p:sp>
      <p:sp>
        <p:nvSpPr>
          <p:cNvPr id="6" name="Shape 53">
            <a:extLst>
              <a:ext uri="{FF2B5EF4-FFF2-40B4-BE49-F238E27FC236}">
                <a16:creationId xmlns:a16="http://schemas.microsoft.com/office/drawing/2014/main" id="{B8AB6E26-1A77-E54A-3557-07494F61AF3D}"/>
              </a:ext>
            </a:extLst>
          </p:cNvPr>
          <p:cNvSpPr/>
          <p:nvPr/>
        </p:nvSpPr>
        <p:spPr>
          <a:xfrm>
            <a:off x="4690906" y="4397505"/>
            <a:ext cx="4160520" cy="399450"/>
          </a:xfrm>
          <a:prstGeom prst="rect">
            <a:avLst/>
          </a:prstGeom>
          <a:solidFill>
            <a:srgbClr val="F5F5F5"/>
          </a:solidFill>
          <a:ln w="12700">
            <a:solidFill>
              <a:srgbClr val="DDDDDD"/>
            </a:solidFill>
            <a:prstDash val="solid"/>
          </a:ln>
        </p:spPr>
        <p:txBody>
          <a:bodyPr/>
          <a:lstStyle/>
          <a:p>
            <a:endParaRPr lang="en-US" dirty="0"/>
          </a:p>
        </p:txBody>
      </p:sp>
      <p:sp>
        <p:nvSpPr>
          <p:cNvPr id="8" name="Text P6Title">
            <a:extLst>
              <a:ext uri="{FF2B5EF4-FFF2-40B4-BE49-F238E27FC236}">
                <a16:creationId xmlns:a16="http://schemas.microsoft.com/office/drawing/2014/main" id="{58B8C881-4D9A-F183-AD5C-E225A184789E}"/>
              </a:ext>
            </a:extLst>
          </p:cNvPr>
          <p:cNvSpPr/>
          <p:nvPr/>
        </p:nvSpPr>
        <p:spPr>
          <a:xfrm>
            <a:off x="5168067" y="4415564"/>
            <a:ext cx="2103120" cy="219456"/>
          </a:xfrm>
          <a:prstGeom prst="rect">
            <a:avLst/>
          </a:prstGeom>
          <a:noFill/>
          <a:ln/>
        </p:spPr>
        <p:txBody>
          <a:bodyPr wrap="square" lIns="0" tIns="0" rIns="0" bIns="0" rtlCol="0" anchor="ctr"/>
          <a:lstStyle/>
          <a:p>
            <a:r>
              <a:rPr lang="en-US" sz="900" b="1" dirty="0"/>
              <a:t>Al Model</a:t>
            </a:r>
            <a:endParaRPr lang="en-US" sz="900" b="1" dirty="0">
              <a:solidFill>
                <a:srgbClr val="1A1A1A"/>
              </a:solidFill>
            </a:endParaRPr>
          </a:p>
        </p:txBody>
      </p:sp>
      <p:sp>
        <p:nvSpPr>
          <p:cNvPr id="9" name="Rectangle 8">
            <a:extLst>
              <a:ext uri="{FF2B5EF4-FFF2-40B4-BE49-F238E27FC236}">
                <a16:creationId xmlns:a16="http://schemas.microsoft.com/office/drawing/2014/main" id="{60927FCB-2FCC-1842-7D41-00E3C56552DF}"/>
              </a:ext>
            </a:extLst>
          </p:cNvPr>
          <p:cNvSpPr/>
          <p:nvPr/>
        </p:nvSpPr>
        <p:spPr>
          <a:xfrm>
            <a:off x="4676547" y="4397505"/>
            <a:ext cx="384158" cy="421598"/>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P7</a:t>
            </a:r>
          </a:p>
        </p:txBody>
      </p:sp>
      <p:sp>
        <p:nvSpPr>
          <p:cNvPr id="64" name="Text P6Visuals">
            <a:extLst>
              <a:ext uri="{FF2B5EF4-FFF2-40B4-BE49-F238E27FC236}">
                <a16:creationId xmlns:a16="http://schemas.microsoft.com/office/drawing/2014/main" id="{73F88536-06DE-E7D2-E82C-79EDE786318E}"/>
              </a:ext>
            </a:extLst>
          </p:cNvPr>
          <p:cNvSpPr/>
          <p:nvPr/>
        </p:nvSpPr>
        <p:spPr>
          <a:xfrm>
            <a:off x="5168067" y="4581863"/>
            <a:ext cx="3611880" cy="182880"/>
          </a:xfrm>
          <a:prstGeom prst="rect">
            <a:avLst/>
          </a:prstGeom>
          <a:noFill/>
          <a:ln/>
        </p:spPr>
        <p:txBody>
          <a:bodyPr wrap="square" lIns="0" tIns="0" rIns="0" bIns="0" rtlCol="0" anchor="ctr"/>
          <a:lstStyle/>
          <a:p>
            <a:r>
              <a:rPr lang="en-US" sz="800" dirty="0"/>
              <a:t>6 live slicers + Python visual (classifier &amp; ESI regressor output)</a:t>
            </a:r>
            <a:endParaRPr lang="en-US" sz="750" dirty="0">
              <a:solidFill>
                <a:srgbClr val="55555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0" name="Text 8"/>
          <p:cNvSpPr/>
          <p:nvPr/>
        </p:nvSpPr>
        <p:spPr>
          <a:xfrm>
            <a:off x="137160" y="4850892"/>
            <a:ext cx="1097280" cy="292608"/>
          </a:xfrm>
          <a:prstGeom prst="rect">
            <a:avLst/>
          </a:prstGeom>
          <a:noFill/>
          <a:ln/>
        </p:spPr>
        <p:txBody>
          <a:bodyPr wrap="square" lIns="0" tIns="0" rIns="0" bIns="0" rtlCol="0" anchor="ctr"/>
          <a:lstStyle/>
          <a:p>
            <a:pPr marL="0" indent="0">
              <a:buNone/>
            </a:pPr>
            <a:r>
              <a:rPr lang="en-US" sz="900" dirty="0">
                <a:solidFill>
                  <a:srgbClr val="FFFFFF"/>
                </a:solidFill>
              </a:rPr>
              <a:t>12/05</a:t>
            </a:r>
            <a:r>
              <a:rPr lang="ar-EG" sz="900" dirty="0">
                <a:solidFill>
                  <a:srgbClr val="FFFFFF"/>
                </a:solidFill>
              </a:rPr>
              <a:t>/</a:t>
            </a:r>
            <a:r>
              <a:rPr lang="en-US" sz="900" dirty="0">
                <a:solidFill>
                  <a:srgbClr val="FFFFFF"/>
                </a:solidFill>
              </a:rPr>
              <a:t>2026</a:t>
            </a:r>
            <a:endParaRPr lang="en-US" sz="900" dirty="0"/>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10</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Deliverables</a:t>
            </a:r>
            <a:endParaRPr lang="en-US" sz="2200" dirty="0">
              <a:solidFill>
                <a:srgbClr val="7030A0"/>
              </a:solidFill>
              <a:latin typeface="Times New Roman" panose="02020603050405020304" pitchFamily="18" charset="0"/>
              <a:cs typeface="Times New Roman" panose="02020603050405020304" pitchFamily="18" charset="0"/>
            </a:endParaRP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sp>
        <p:nvSpPr>
          <p:cNvPr id="17" name="Shape 15"/>
          <p:cNvSpPr/>
          <p:nvPr/>
        </p:nvSpPr>
        <p:spPr>
          <a:xfrm>
            <a:off x="320040" y="1417319"/>
            <a:ext cx="4343366" cy="1869112"/>
          </a:xfrm>
          <a:prstGeom prst="rect">
            <a:avLst/>
          </a:prstGeom>
          <a:solidFill>
            <a:srgbClr val="F5F5F5"/>
          </a:solidFill>
          <a:ln w="12700">
            <a:solidFill>
              <a:srgbClr val="DDDDDD"/>
            </a:solidFill>
            <a:prstDash val="solid"/>
          </a:ln>
        </p:spPr>
        <p:txBody>
          <a:bodyPr/>
          <a:lstStyle/>
          <a:p>
            <a:endParaRPr lang="en-AE" dirty="0"/>
          </a:p>
        </p:txBody>
      </p:sp>
      <p:sp>
        <p:nvSpPr>
          <p:cNvPr id="18" name="Shape 16"/>
          <p:cNvSpPr/>
          <p:nvPr/>
        </p:nvSpPr>
        <p:spPr>
          <a:xfrm>
            <a:off x="320039" y="1417320"/>
            <a:ext cx="4279391" cy="347472"/>
          </a:xfrm>
          <a:prstGeom prst="rect">
            <a:avLst/>
          </a:prstGeom>
          <a:solidFill>
            <a:srgbClr val="7030A0"/>
          </a:solidFill>
          <a:ln w="12700">
            <a:solidFill>
              <a:srgbClr val="047954"/>
            </a:solidFill>
            <a:prstDash val="solid"/>
          </a:ln>
        </p:spPr>
        <p:txBody>
          <a:bodyPr/>
          <a:lstStyle/>
          <a:p>
            <a:endParaRPr lang="en-AE" dirty="0"/>
          </a:p>
        </p:txBody>
      </p:sp>
      <p:sp>
        <p:nvSpPr>
          <p:cNvPr id="19" name="Shape 17"/>
          <p:cNvSpPr/>
          <p:nvPr/>
        </p:nvSpPr>
        <p:spPr>
          <a:xfrm>
            <a:off x="411480" y="1463040"/>
            <a:ext cx="256032" cy="256032"/>
          </a:xfrm>
          <a:prstGeom prst="ellipse">
            <a:avLst/>
          </a:prstGeom>
          <a:solidFill>
            <a:srgbClr val="FFFFFF"/>
          </a:solidFill>
          <a:ln w="12700">
            <a:solidFill>
              <a:srgbClr val="FFFFFF"/>
            </a:solidFill>
            <a:prstDash val="solid"/>
          </a:ln>
        </p:spPr>
        <p:txBody>
          <a:bodyPr/>
          <a:lstStyle/>
          <a:p>
            <a:endParaRPr lang="en-US"/>
          </a:p>
        </p:txBody>
      </p:sp>
      <p:sp>
        <p:nvSpPr>
          <p:cNvPr id="20" name="Text 18"/>
          <p:cNvSpPr/>
          <p:nvPr/>
        </p:nvSpPr>
        <p:spPr>
          <a:xfrm>
            <a:off x="411480" y="1463040"/>
            <a:ext cx="256032" cy="256032"/>
          </a:xfrm>
          <a:prstGeom prst="rect">
            <a:avLst/>
          </a:prstGeom>
          <a:noFill/>
          <a:ln/>
        </p:spPr>
        <p:txBody>
          <a:bodyPr wrap="square" lIns="0" tIns="0" rIns="0" bIns="0" rtlCol="0" anchor="ctr"/>
          <a:lstStyle/>
          <a:p>
            <a:pPr marL="0" indent="0" algn="ctr">
              <a:buNone/>
            </a:pPr>
            <a:r>
              <a:rPr lang="en-US" sz="1000" b="1" dirty="0">
                <a:solidFill>
                  <a:srgbClr val="047954"/>
                </a:solidFill>
              </a:rPr>
              <a:t>01</a:t>
            </a:r>
            <a:endParaRPr lang="en-US" sz="1000" dirty="0"/>
          </a:p>
        </p:txBody>
      </p:sp>
      <p:sp>
        <p:nvSpPr>
          <p:cNvPr id="21" name="Text 19"/>
          <p:cNvSpPr/>
          <p:nvPr/>
        </p:nvSpPr>
        <p:spPr>
          <a:xfrm>
            <a:off x="777240" y="1417320"/>
            <a:ext cx="3611880" cy="347472"/>
          </a:xfrm>
          <a:prstGeom prst="rect">
            <a:avLst/>
          </a:prstGeom>
          <a:noFill/>
          <a:ln/>
        </p:spPr>
        <p:txBody>
          <a:bodyPr wrap="square" lIns="0" tIns="0" rIns="0" bIns="0" rtlCol="0" anchor="ctr"/>
          <a:lstStyle/>
          <a:p>
            <a:pPr marL="0" indent="0">
              <a:buNone/>
            </a:pPr>
            <a:r>
              <a:rPr lang="en-US" sz="1400" b="1" dirty="0">
                <a:solidFill>
                  <a:srgbClr val="FFFFFF"/>
                </a:solidFill>
              </a:rPr>
              <a:t>Data Pipeline</a:t>
            </a:r>
            <a:endParaRPr lang="en-US" sz="1400" dirty="0"/>
          </a:p>
        </p:txBody>
      </p:sp>
      <p:sp>
        <p:nvSpPr>
          <p:cNvPr id="22" name="Text 20"/>
          <p:cNvSpPr/>
          <p:nvPr/>
        </p:nvSpPr>
        <p:spPr>
          <a:xfrm>
            <a:off x="392583" y="1774122"/>
            <a:ext cx="4206847" cy="1024129"/>
          </a:xfrm>
          <a:prstGeom prst="rect">
            <a:avLst/>
          </a:prstGeom>
          <a:noFill/>
          <a:ln/>
        </p:spPr>
        <p:txBody>
          <a:bodyPr wrap="square" lIns="0" tIns="0" rIns="0" bIns="0" rtlCol="0" anchor="ctr"/>
          <a:lstStyle/>
          <a:p>
            <a:r>
              <a:rPr lang="en-US" sz="1100" dirty="0">
                <a:solidFill>
                  <a:srgbClr val="1A1A1A"/>
                </a:solidFill>
              </a:rPr>
              <a:t> •</a:t>
            </a:r>
            <a:r>
              <a:rPr lang="en-US" sz="1100" dirty="0"/>
              <a:t> Bronze layer — raw CSV ( 6,128 rows, 19 cols), no transforms</a:t>
            </a:r>
            <a:br>
              <a:rPr lang="en-US" sz="1100" dirty="0"/>
            </a:br>
            <a:r>
              <a:rPr lang="en-US" sz="1100" dirty="0"/>
              <a:t>﻿﻿</a:t>
            </a:r>
            <a:r>
              <a:rPr lang="en-US" sz="1100" dirty="0">
                <a:solidFill>
                  <a:srgbClr val="1A1A1A"/>
                </a:solidFill>
              </a:rPr>
              <a:t> • </a:t>
            </a:r>
            <a:r>
              <a:rPr lang="en-US" sz="1100" dirty="0"/>
              <a:t>Silver layer — cleaned SV, physics-based imputation (5,394 rows,                    nulls resolved)</a:t>
            </a:r>
            <a:br>
              <a:rPr lang="en-US" sz="1100" dirty="0"/>
            </a:br>
            <a:r>
              <a:rPr lang="en-US" sz="1100" dirty="0"/>
              <a:t>﻿﻿</a:t>
            </a:r>
            <a:r>
              <a:rPr lang="en-US" sz="1100" dirty="0">
                <a:solidFill>
                  <a:srgbClr val="1A1A1A"/>
                </a:solidFill>
              </a:rPr>
              <a:t> • </a:t>
            </a:r>
            <a:r>
              <a:rPr lang="en-US" sz="1100" dirty="0"/>
              <a:t>Gold layer - Star Schema, CSV/Excel (1 Fact + 4 Dimension tables)</a:t>
            </a:r>
          </a:p>
        </p:txBody>
      </p:sp>
      <p:sp>
        <p:nvSpPr>
          <p:cNvPr id="23" name="Text 21"/>
          <p:cNvSpPr/>
          <p:nvPr/>
        </p:nvSpPr>
        <p:spPr>
          <a:xfrm>
            <a:off x="339807" y="2265121"/>
            <a:ext cx="4323599" cy="692148"/>
          </a:xfrm>
          <a:prstGeom prst="rect">
            <a:avLst/>
          </a:prstGeom>
          <a:noFill/>
          <a:ln/>
        </p:spPr>
        <p:txBody>
          <a:bodyPr wrap="square" lIns="0" tIns="0" rIns="0" bIns="0" rtlCol="0" anchor="ctr"/>
          <a:lstStyle/>
          <a:p>
            <a:pPr marL="0" indent="0">
              <a:buNone/>
            </a:pPr>
            <a:endParaRPr lang="en-US" sz="1100" dirty="0">
              <a:solidFill>
                <a:srgbClr val="1A1A1A"/>
              </a:solidFill>
            </a:endParaRPr>
          </a:p>
        </p:txBody>
      </p:sp>
      <p:sp>
        <p:nvSpPr>
          <p:cNvPr id="24" name="Text 22"/>
          <p:cNvSpPr/>
          <p:nvPr/>
        </p:nvSpPr>
        <p:spPr>
          <a:xfrm>
            <a:off x="343176" y="2764632"/>
            <a:ext cx="4341305" cy="773963"/>
          </a:xfrm>
          <a:prstGeom prst="rect">
            <a:avLst/>
          </a:prstGeom>
          <a:noFill/>
          <a:ln/>
        </p:spPr>
        <p:txBody>
          <a:bodyPr wrap="square" lIns="0" tIns="0" rIns="0" bIns="0" rtlCol="0" anchor="ctr"/>
          <a:lstStyle/>
          <a:p>
            <a:pPr marL="0" indent="0">
              <a:buNone/>
            </a:pPr>
            <a:endParaRPr lang="en-US" sz="1100" dirty="0"/>
          </a:p>
        </p:txBody>
      </p:sp>
      <p:sp>
        <p:nvSpPr>
          <p:cNvPr id="25" name="Shape 23"/>
          <p:cNvSpPr/>
          <p:nvPr/>
        </p:nvSpPr>
        <p:spPr>
          <a:xfrm>
            <a:off x="324543" y="3636591"/>
            <a:ext cx="4338863" cy="1186524"/>
          </a:xfrm>
          <a:prstGeom prst="rect">
            <a:avLst/>
          </a:prstGeom>
          <a:solidFill>
            <a:srgbClr val="F5F5F5"/>
          </a:solidFill>
          <a:ln w="12700">
            <a:solidFill>
              <a:srgbClr val="DDDDDD"/>
            </a:solidFill>
            <a:prstDash val="solid"/>
          </a:ln>
        </p:spPr>
        <p:txBody>
          <a:bodyPr/>
          <a:lstStyle/>
          <a:p>
            <a:endParaRPr lang="en-AE" dirty="0"/>
          </a:p>
        </p:txBody>
      </p:sp>
      <p:sp>
        <p:nvSpPr>
          <p:cNvPr id="26" name="Shape 24"/>
          <p:cNvSpPr/>
          <p:nvPr/>
        </p:nvSpPr>
        <p:spPr>
          <a:xfrm>
            <a:off x="324544" y="3332150"/>
            <a:ext cx="4338862" cy="308629"/>
          </a:xfrm>
          <a:prstGeom prst="rect">
            <a:avLst/>
          </a:prstGeom>
          <a:solidFill>
            <a:srgbClr val="336EA8"/>
          </a:solidFill>
          <a:ln w="12700">
            <a:solidFill>
              <a:srgbClr val="336EA8"/>
            </a:solidFill>
            <a:prstDash val="solid"/>
          </a:ln>
        </p:spPr>
        <p:txBody>
          <a:bodyPr/>
          <a:lstStyle/>
          <a:p>
            <a:endParaRPr lang="en-US"/>
          </a:p>
        </p:txBody>
      </p:sp>
      <p:sp>
        <p:nvSpPr>
          <p:cNvPr id="27" name="Shape 25"/>
          <p:cNvSpPr/>
          <p:nvPr/>
        </p:nvSpPr>
        <p:spPr>
          <a:xfrm>
            <a:off x="417118" y="3365814"/>
            <a:ext cx="256032" cy="256032"/>
          </a:xfrm>
          <a:prstGeom prst="ellipse">
            <a:avLst/>
          </a:prstGeom>
          <a:solidFill>
            <a:srgbClr val="FFFFFF"/>
          </a:solidFill>
          <a:ln w="12700">
            <a:solidFill>
              <a:srgbClr val="FFFFFF"/>
            </a:solidFill>
            <a:prstDash val="solid"/>
          </a:ln>
        </p:spPr>
        <p:txBody>
          <a:bodyPr/>
          <a:lstStyle/>
          <a:p>
            <a:endParaRPr lang="en-US"/>
          </a:p>
        </p:txBody>
      </p:sp>
      <p:sp>
        <p:nvSpPr>
          <p:cNvPr id="28" name="Text 26"/>
          <p:cNvSpPr/>
          <p:nvPr/>
        </p:nvSpPr>
        <p:spPr>
          <a:xfrm>
            <a:off x="427328" y="3365643"/>
            <a:ext cx="256032" cy="256032"/>
          </a:xfrm>
          <a:prstGeom prst="rect">
            <a:avLst/>
          </a:prstGeom>
          <a:noFill/>
          <a:ln/>
        </p:spPr>
        <p:txBody>
          <a:bodyPr wrap="square" lIns="0" tIns="0" rIns="0" bIns="0" rtlCol="0" anchor="ctr"/>
          <a:lstStyle/>
          <a:p>
            <a:pPr marL="0" indent="0" algn="ctr">
              <a:buNone/>
            </a:pPr>
            <a:r>
              <a:rPr lang="en-US" sz="1000" b="1" dirty="0">
                <a:solidFill>
                  <a:srgbClr val="336EA8"/>
                </a:solidFill>
              </a:rPr>
              <a:t>02</a:t>
            </a:r>
            <a:endParaRPr lang="en-US" sz="1000" dirty="0"/>
          </a:p>
        </p:txBody>
      </p:sp>
      <p:sp>
        <p:nvSpPr>
          <p:cNvPr id="29" name="Text 27"/>
          <p:cNvSpPr/>
          <p:nvPr/>
        </p:nvSpPr>
        <p:spPr>
          <a:xfrm>
            <a:off x="777240" y="3315275"/>
            <a:ext cx="3611880" cy="347472"/>
          </a:xfrm>
          <a:prstGeom prst="rect">
            <a:avLst/>
          </a:prstGeom>
          <a:noFill/>
          <a:ln/>
        </p:spPr>
        <p:txBody>
          <a:bodyPr wrap="square" lIns="0" tIns="0" rIns="0" bIns="0" rtlCol="0" anchor="ctr"/>
          <a:lstStyle/>
          <a:p>
            <a:pPr marL="0" indent="0">
              <a:buNone/>
            </a:pPr>
            <a:r>
              <a:rPr lang="en-US" sz="1400" b="1" dirty="0">
                <a:solidFill>
                  <a:srgbClr val="FFFFFF"/>
                </a:solidFill>
              </a:rPr>
              <a:t>EDA &amp; Power BI Dashboard</a:t>
            </a:r>
            <a:endParaRPr lang="en-US" sz="1400" dirty="0"/>
          </a:p>
        </p:txBody>
      </p:sp>
      <p:sp>
        <p:nvSpPr>
          <p:cNvPr id="30" name="Text 28"/>
          <p:cNvSpPr/>
          <p:nvPr/>
        </p:nvSpPr>
        <p:spPr>
          <a:xfrm>
            <a:off x="413545" y="3688267"/>
            <a:ext cx="3886200" cy="292608"/>
          </a:xfrm>
          <a:prstGeom prst="rect">
            <a:avLst/>
          </a:prstGeom>
          <a:noFill/>
          <a:ln/>
        </p:spPr>
        <p:txBody>
          <a:bodyPr wrap="square" lIns="0" tIns="0" rIns="0" bIns="0" rtlCol="0" anchor="ctr"/>
          <a:lstStyle/>
          <a:p>
            <a:pPr marL="0" indent="0">
              <a:buNone/>
            </a:pPr>
            <a:endParaRPr lang="en-US" sz="1100" dirty="0"/>
          </a:p>
        </p:txBody>
      </p:sp>
      <p:sp>
        <p:nvSpPr>
          <p:cNvPr id="31" name="Text 29"/>
          <p:cNvSpPr/>
          <p:nvPr/>
        </p:nvSpPr>
        <p:spPr>
          <a:xfrm>
            <a:off x="436422" y="3818497"/>
            <a:ext cx="3886200" cy="740333"/>
          </a:xfrm>
          <a:prstGeom prst="rect">
            <a:avLst/>
          </a:prstGeom>
          <a:noFill/>
          <a:ln/>
        </p:spPr>
        <p:txBody>
          <a:bodyPr wrap="square" lIns="0" tIns="0" rIns="0" bIns="0" rtlCol="0" anchor="ctr"/>
          <a:lstStyle/>
          <a:p>
            <a:r>
              <a:rPr lang="en-US" sz="1100" dirty="0">
                <a:solidFill>
                  <a:srgbClr val="1A1A1A"/>
                </a:solidFill>
              </a:rPr>
              <a:t>• </a:t>
            </a:r>
            <a:r>
              <a:rPr lang="en-US" sz="1100" dirty="0"/>
              <a:t>7-page interactive dashboard</a:t>
            </a:r>
            <a:br>
              <a:rPr lang="en-US" sz="1100" dirty="0"/>
            </a:br>
            <a:r>
              <a:rPr lang="en-US" sz="1100" dirty="0"/>
              <a:t>﻿﻿</a:t>
            </a:r>
            <a:r>
              <a:rPr lang="en-US" sz="1100" dirty="0">
                <a:solidFill>
                  <a:srgbClr val="1A1A1A"/>
                </a:solidFill>
              </a:rPr>
              <a:t>• </a:t>
            </a:r>
            <a:r>
              <a:rPr lang="en-US" sz="1100" dirty="0"/>
              <a:t>KPI cards, scatter plots, histograms, donut/bar charts, correlation heatmap</a:t>
            </a:r>
            <a:br>
              <a:rPr lang="en-US" sz="1100" dirty="0"/>
            </a:br>
            <a:r>
              <a:rPr lang="en-US" sz="1100" dirty="0"/>
              <a:t>﻿﻿</a:t>
            </a:r>
            <a:r>
              <a:rPr lang="en-US" sz="1100" dirty="0">
                <a:solidFill>
                  <a:srgbClr val="1A1A1A"/>
                </a:solidFill>
              </a:rPr>
              <a:t>• </a:t>
            </a:r>
            <a:r>
              <a:rPr lang="en-US" sz="1100" dirty="0"/>
              <a:t>Direct CSV import</a:t>
            </a:r>
          </a:p>
        </p:txBody>
      </p:sp>
      <p:sp>
        <p:nvSpPr>
          <p:cNvPr id="32" name="Text 30"/>
          <p:cNvSpPr/>
          <p:nvPr/>
        </p:nvSpPr>
        <p:spPr>
          <a:xfrm>
            <a:off x="413545" y="4208921"/>
            <a:ext cx="3886200" cy="894135"/>
          </a:xfrm>
          <a:prstGeom prst="rect">
            <a:avLst/>
          </a:prstGeom>
          <a:noFill/>
          <a:ln/>
        </p:spPr>
        <p:txBody>
          <a:bodyPr wrap="square" lIns="0" tIns="0" rIns="0" bIns="0" rtlCol="0" anchor="ctr"/>
          <a:lstStyle/>
          <a:p>
            <a:pPr marL="0" indent="0">
              <a:buNone/>
            </a:pPr>
            <a:endParaRPr lang="en-US" sz="1100" dirty="0"/>
          </a:p>
        </p:txBody>
      </p:sp>
      <p:sp>
        <p:nvSpPr>
          <p:cNvPr id="33" name="Shape 31"/>
          <p:cNvSpPr/>
          <p:nvPr/>
        </p:nvSpPr>
        <p:spPr>
          <a:xfrm>
            <a:off x="4709160" y="1362455"/>
            <a:ext cx="4160520" cy="1917009"/>
          </a:xfrm>
          <a:prstGeom prst="rect">
            <a:avLst/>
          </a:prstGeom>
          <a:solidFill>
            <a:srgbClr val="F5F5F5"/>
          </a:solidFill>
          <a:ln w="12700">
            <a:solidFill>
              <a:srgbClr val="DDDDDD"/>
            </a:solidFill>
            <a:prstDash val="solid"/>
          </a:ln>
        </p:spPr>
        <p:txBody>
          <a:bodyPr/>
          <a:lstStyle/>
          <a:p>
            <a:endParaRPr lang="en-US"/>
          </a:p>
        </p:txBody>
      </p:sp>
      <p:sp>
        <p:nvSpPr>
          <p:cNvPr id="34" name="Shape 32"/>
          <p:cNvSpPr/>
          <p:nvPr/>
        </p:nvSpPr>
        <p:spPr>
          <a:xfrm>
            <a:off x="4709160" y="1417320"/>
            <a:ext cx="4160520" cy="347472"/>
          </a:xfrm>
          <a:prstGeom prst="rect">
            <a:avLst/>
          </a:prstGeom>
          <a:solidFill>
            <a:srgbClr val="7030A0"/>
          </a:solidFill>
          <a:ln w="12700">
            <a:solidFill>
              <a:srgbClr val="0FAB7D"/>
            </a:solidFill>
            <a:prstDash val="solid"/>
          </a:ln>
        </p:spPr>
        <p:txBody>
          <a:bodyPr/>
          <a:lstStyle/>
          <a:p>
            <a:endParaRPr lang="en-US"/>
          </a:p>
        </p:txBody>
      </p:sp>
      <p:sp>
        <p:nvSpPr>
          <p:cNvPr id="35" name="Shape 33"/>
          <p:cNvSpPr/>
          <p:nvPr/>
        </p:nvSpPr>
        <p:spPr>
          <a:xfrm>
            <a:off x="4800600" y="1463040"/>
            <a:ext cx="256032" cy="256032"/>
          </a:xfrm>
          <a:prstGeom prst="ellipse">
            <a:avLst/>
          </a:prstGeom>
          <a:solidFill>
            <a:srgbClr val="FFFFFF"/>
          </a:solidFill>
          <a:ln w="12700">
            <a:solidFill>
              <a:srgbClr val="FFFFFF"/>
            </a:solidFill>
            <a:prstDash val="solid"/>
          </a:ln>
        </p:spPr>
        <p:txBody>
          <a:bodyPr/>
          <a:lstStyle/>
          <a:p>
            <a:endParaRPr lang="en-US"/>
          </a:p>
        </p:txBody>
      </p:sp>
      <p:sp>
        <p:nvSpPr>
          <p:cNvPr id="36" name="Text 34"/>
          <p:cNvSpPr/>
          <p:nvPr/>
        </p:nvSpPr>
        <p:spPr>
          <a:xfrm>
            <a:off x="4800600" y="1463040"/>
            <a:ext cx="256032" cy="256032"/>
          </a:xfrm>
          <a:prstGeom prst="rect">
            <a:avLst/>
          </a:prstGeom>
          <a:noFill/>
          <a:ln/>
        </p:spPr>
        <p:txBody>
          <a:bodyPr wrap="square" lIns="0" tIns="0" rIns="0" bIns="0" rtlCol="0" anchor="ctr"/>
          <a:lstStyle/>
          <a:p>
            <a:pPr marL="0" indent="0" algn="ctr">
              <a:buNone/>
            </a:pPr>
            <a:r>
              <a:rPr lang="en-US" sz="1000" b="1" dirty="0">
                <a:solidFill>
                  <a:srgbClr val="0FAB7D"/>
                </a:solidFill>
              </a:rPr>
              <a:t>03</a:t>
            </a:r>
            <a:endParaRPr lang="en-US" sz="750" dirty="0"/>
          </a:p>
        </p:txBody>
      </p:sp>
      <p:sp>
        <p:nvSpPr>
          <p:cNvPr id="37" name="Text 35"/>
          <p:cNvSpPr/>
          <p:nvPr/>
        </p:nvSpPr>
        <p:spPr>
          <a:xfrm>
            <a:off x="5166360" y="1417320"/>
            <a:ext cx="3611880" cy="347472"/>
          </a:xfrm>
          <a:prstGeom prst="rect">
            <a:avLst/>
          </a:prstGeom>
          <a:noFill/>
          <a:ln/>
        </p:spPr>
        <p:txBody>
          <a:bodyPr wrap="square" lIns="0" tIns="0" rIns="0" bIns="0" rtlCol="0" anchor="ctr"/>
          <a:lstStyle/>
          <a:p>
            <a:pPr marL="0" indent="0">
              <a:buNone/>
            </a:pPr>
            <a:r>
              <a:rPr lang="en-US" sz="1400" b="1" dirty="0">
                <a:solidFill>
                  <a:srgbClr val="FFFFFF"/>
                </a:solidFill>
              </a:rPr>
              <a:t>ML Model</a:t>
            </a:r>
            <a:endParaRPr lang="en-US" sz="1400" dirty="0"/>
          </a:p>
        </p:txBody>
      </p:sp>
      <p:sp>
        <p:nvSpPr>
          <p:cNvPr id="38" name="Text 36"/>
          <p:cNvSpPr/>
          <p:nvPr/>
        </p:nvSpPr>
        <p:spPr>
          <a:xfrm>
            <a:off x="4892040" y="1819656"/>
            <a:ext cx="3886200" cy="292608"/>
          </a:xfrm>
          <a:prstGeom prst="rect">
            <a:avLst/>
          </a:prstGeom>
          <a:noFill/>
          <a:ln/>
        </p:spPr>
        <p:txBody>
          <a:bodyPr wrap="square" lIns="0" tIns="0" rIns="0" bIns="0" rtlCol="0" anchor="ctr"/>
          <a:lstStyle/>
          <a:p>
            <a:pPr marL="0" indent="0">
              <a:buNone/>
            </a:pPr>
            <a:endParaRPr lang="en-US" sz="1100" dirty="0"/>
          </a:p>
        </p:txBody>
      </p:sp>
      <p:sp>
        <p:nvSpPr>
          <p:cNvPr id="39" name="Text 37"/>
          <p:cNvSpPr/>
          <p:nvPr/>
        </p:nvSpPr>
        <p:spPr>
          <a:xfrm>
            <a:off x="4885777" y="1818958"/>
            <a:ext cx="3886200" cy="1407147"/>
          </a:xfrm>
          <a:prstGeom prst="rect">
            <a:avLst/>
          </a:prstGeom>
          <a:noFill/>
          <a:ln/>
        </p:spPr>
        <p:txBody>
          <a:bodyPr wrap="square" lIns="0" tIns="0" rIns="0" bIns="0" rtlCol="0" anchor="ctr"/>
          <a:lstStyle/>
          <a:p>
            <a:r>
              <a:rPr lang="en-US" sz="1100" dirty="0">
                <a:solidFill>
                  <a:srgbClr val="1A1A1A"/>
                </a:solidFill>
              </a:rPr>
              <a:t> •</a:t>
            </a:r>
            <a:r>
              <a:rPr lang="en-US" sz="1100" dirty="0"/>
              <a:t> 2 models: Habitability Classifier (Random Forest) + Earth Similarity Regressor (</a:t>
            </a:r>
            <a:r>
              <a:rPr lang="en-US" sz="1100" dirty="0" err="1"/>
              <a:t>XGBoost</a:t>
            </a:r>
            <a:r>
              <a:rPr lang="en-US" sz="1100" dirty="0"/>
              <a:t>)</a:t>
            </a:r>
            <a:br>
              <a:rPr lang="en-US" sz="1100" dirty="0"/>
            </a:br>
            <a:r>
              <a:rPr lang="en-US" sz="1100" dirty="0"/>
              <a:t>﻿﻿</a:t>
            </a:r>
            <a:r>
              <a:rPr lang="en-US" sz="1100" dirty="0">
                <a:solidFill>
                  <a:srgbClr val="1A1A1A"/>
                </a:solidFill>
              </a:rPr>
              <a:t> •</a:t>
            </a:r>
            <a:r>
              <a:rPr lang="en-US" sz="1100" dirty="0"/>
              <a:t> Trained on </a:t>
            </a:r>
            <a:r>
              <a:rPr lang="en-US" sz="1100" dirty="0" err="1"/>
              <a:t>ExoHabX</a:t>
            </a:r>
            <a:r>
              <a:rPr lang="en-US" sz="1100" dirty="0"/>
              <a:t> (NASA/HWC) - 5,326 planets, 25 habitable (ESI ≥ 80)</a:t>
            </a:r>
            <a:br>
              <a:rPr lang="en-US" sz="1100" dirty="0"/>
            </a:br>
            <a:r>
              <a:rPr lang="en-US" sz="1100" dirty="0"/>
              <a:t>﻿﻿</a:t>
            </a:r>
            <a:r>
              <a:rPr lang="en-US" sz="1100" dirty="0">
                <a:solidFill>
                  <a:srgbClr val="1A1A1A"/>
                </a:solidFill>
              </a:rPr>
              <a:t> •</a:t>
            </a:r>
            <a:r>
              <a:rPr lang="en-US" sz="1100" dirty="0"/>
              <a:t> Test results: Classifier accuracy 99.06% (Class 1 recall 0.60); Regressor R2 = 0.87</a:t>
            </a:r>
            <a:br>
              <a:rPr lang="en-US" sz="1100" dirty="0"/>
            </a:br>
            <a:r>
              <a:rPr lang="en-US" sz="1100" dirty="0"/>
              <a:t>﻿﻿</a:t>
            </a:r>
            <a:r>
              <a:rPr lang="en-US" sz="1100" dirty="0">
                <a:solidFill>
                  <a:srgbClr val="1A1A1A"/>
                </a:solidFill>
              </a:rPr>
              <a:t> •</a:t>
            </a:r>
            <a:r>
              <a:rPr lang="en-US" sz="1100" dirty="0"/>
              <a:t> Deployed via a </a:t>
            </a:r>
            <a:r>
              <a:rPr lang="en-US" sz="1100" dirty="0" err="1"/>
              <a:t>Streamlit</a:t>
            </a:r>
            <a:r>
              <a:rPr lang="en-US" sz="1100" dirty="0"/>
              <a:t> app and a live Python visual on the dashboard's Al Model page</a:t>
            </a:r>
          </a:p>
        </p:txBody>
      </p:sp>
      <p:sp>
        <p:nvSpPr>
          <p:cNvPr id="40" name="Text 38"/>
          <p:cNvSpPr/>
          <p:nvPr/>
        </p:nvSpPr>
        <p:spPr>
          <a:xfrm>
            <a:off x="4892040" y="2851327"/>
            <a:ext cx="3886200" cy="292608"/>
          </a:xfrm>
          <a:prstGeom prst="rect">
            <a:avLst/>
          </a:prstGeom>
          <a:noFill/>
          <a:ln/>
        </p:spPr>
        <p:txBody>
          <a:bodyPr wrap="square" lIns="0" tIns="0" rIns="0" bIns="0" rtlCol="0" anchor="ctr"/>
          <a:lstStyle/>
          <a:p>
            <a:pPr marL="0" indent="0">
              <a:buNone/>
            </a:pPr>
            <a:endParaRPr lang="en-US" sz="1100" dirty="0"/>
          </a:p>
        </p:txBody>
      </p:sp>
      <p:sp>
        <p:nvSpPr>
          <p:cNvPr id="41" name="Shape 39"/>
          <p:cNvSpPr/>
          <p:nvPr/>
        </p:nvSpPr>
        <p:spPr>
          <a:xfrm>
            <a:off x="4709160" y="3485102"/>
            <a:ext cx="4160520" cy="1329213"/>
          </a:xfrm>
          <a:prstGeom prst="rect">
            <a:avLst/>
          </a:prstGeom>
          <a:solidFill>
            <a:srgbClr val="F5F5F5"/>
          </a:solidFill>
          <a:ln w="12700">
            <a:solidFill>
              <a:srgbClr val="DDDDDD"/>
            </a:solidFill>
            <a:prstDash val="solid"/>
          </a:ln>
        </p:spPr>
        <p:txBody>
          <a:bodyPr/>
          <a:lstStyle/>
          <a:p>
            <a:endParaRPr lang="en-US"/>
          </a:p>
        </p:txBody>
      </p:sp>
      <p:sp>
        <p:nvSpPr>
          <p:cNvPr id="42" name="Shape 40"/>
          <p:cNvSpPr/>
          <p:nvPr/>
        </p:nvSpPr>
        <p:spPr>
          <a:xfrm>
            <a:off x="4709160" y="3326970"/>
            <a:ext cx="4160520" cy="347472"/>
          </a:xfrm>
          <a:prstGeom prst="rect">
            <a:avLst/>
          </a:prstGeom>
          <a:solidFill>
            <a:srgbClr val="336EA8"/>
          </a:solidFill>
          <a:ln w="12700">
            <a:solidFill>
              <a:srgbClr val="336EA8"/>
            </a:solidFill>
            <a:prstDash val="solid"/>
          </a:ln>
        </p:spPr>
        <p:txBody>
          <a:bodyPr/>
          <a:lstStyle/>
          <a:p>
            <a:endParaRPr lang="en-US"/>
          </a:p>
        </p:txBody>
      </p:sp>
      <p:sp>
        <p:nvSpPr>
          <p:cNvPr id="43" name="Shape 41"/>
          <p:cNvSpPr/>
          <p:nvPr/>
        </p:nvSpPr>
        <p:spPr>
          <a:xfrm>
            <a:off x="4809744" y="3386515"/>
            <a:ext cx="256032" cy="256032"/>
          </a:xfrm>
          <a:prstGeom prst="ellipse">
            <a:avLst/>
          </a:prstGeom>
          <a:solidFill>
            <a:srgbClr val="FFFFFF"/>
          </a:solidFill>
          <a:ln w="12700">
            <a:solidFill>
              <a:srgbClr val="FFFFFF"/>
            </a:solidFill>
            <a:prstDash val="solid"/>
          </a:ln>
        </p:spPr>
        <p:txBody>
          <a:bodyPr/>
          <a:lstStyle/>
          <a:p>
            <a:endParaRPr lang="en-US"/>
          </a:p>
        </p:txBody>
      </p:sp>
      <p:sp>
        <p:nvSpPr>
          <p:cNvPr id="44" name="Text 42"/>
          <p:cNvSpPr/>
          <p:nvPr/>
        </p:nvSpPr>
        <p:spPr>
          <a:xfrm>
            <a:off x="4815725" y="3387053"/>
            <a:ext cx="256032" cy="256032"/>
          </a:xfrm>
          <a:prstGeom prst="rect">
            <a:avLst/>
          </a:prstGeom>
          <a:noFill/>
          <a:ln/>
        </p:spPr>
        <p:txBody>
          <a:bodyPr wrap="square" lIns="0" tIns="0" rIns="0" bIns="0" rtlCol="0" anchor="ctr"/>
          <a:lstStyle/>
          <a:p>
            <a:pPr marL="0" indent="0" algn="ctr">
              <a:buNone/>
            </a:pPr>
            <a:r>
              <a:rPr lang="en-US" sz="1000" b="1" dirty="0">
                <a:solidFill>
                  <a:srgbClr val="7030A0"/>
                </a:solidFill>
              </a:rPr>
              <a:t>04</a:t>
            </a:r>
            <a:endParaRPr lang="en-US" sz="1000" dirty="0">
              <a:solidFill>
                <a:srgbClr val="7030A0"/>
              </a:solidFill>
            </a:endParaRPr>
          </a:p>
        </p:txBody>
      </p:sp>
      <p:sp>
        <p:nvSpPr>
          <p:cNvPr id="45" name="Text 43"/>
          <p:cNvSpPr/>
          <p:nvPr/>
        </p:nvSpPr>
        <p:spPr>
          <a:xfrm>
            <a:off x="5166360" y="3340795"/>
            <a:ext cx="3611880" cy="347472"/>
          </a:xfrm>
          <a:prstGeom prst="rect">
            <a:avLst/>
          </a:prstGeom>
          <a:noFill/>
          <a:ln/>
        </p:spPr>
        <p:txBody>
          <a:bodyPr wrap="square" lIns="0" tIns="0" rIns="0" bIns="0" rtlCol="0" anchor="ctr"/>
          <a:lstStyle/>
          <a:p>
            <a:pPr marL="0" indent="0">
              <a:buNone/>
            </a:pPr>
            <a:r>
              <a:rPr lang="en-US" sz="1400" b="1" dirty="0">
                <a:solidFill>
                  <a:srgbClr val="FFFFFF"/>
                </a:solidFill>
              </a:rPr>
              <a:t>Documentation</a:t>
            </a:r>
            <a:endParaRPr lang="en-US" sz="1400" dirty="0"/>
          </a:p>
        </p:txBody>
      </p:sp>
      <p:sp>
        <p:nvSpPr>
          <p:cNvPr id="46" name="Text 44"/>
          <p:cNvSpPr/>
          <p:nvPr/>
        </p:nvSpPr>
        <p:spPr>
          <a:xfrm>
            <a:off x="4892040" y="3715559"/>
            <a:ext cx="3886200" cy="292608"/>
          </a:xfrm>
          <a:prstGeom prst="rect">
            <a:avLst/>
          </a:prstGeom>
          <a:noFill/>
          <a:ln/>
        </p:spPr>
        <p:txBody>
          <a:bodyPr wrap="square" lIns="0" tIns="0" rIns="0" bIns="0" rtlCol="0" anchor="ctr"/>
          <a:lstStyle/>
          <a:p>
            <a:pPr marL="0" indent="0">
              <a:buNone/>
            </a:pPr>
            <a:endParaRPr lang="en-US" sz="1100" dirty="0"/>
          </a:p>
        </p:txBody>
      </p:sp>
      <p:sp>
        <p:nvSpPr>
          <p:cNvPr id="47" name="Text 45"/>
          <p:cNvSpPr/>
          <p:nvPr/>
        </p:nvSpPr>
        <p:spPr>
          <a:xfrm>
            <a:off x="4916719" y="3741362"/>
            <a:ext cx="3886200" cy="1068353"/>
          </a:xfrm>
          <a:prstGeom prst="rect">
            <a:avLst/>
          </a:prstGeom>
          <a:noFill/>
          <a:ln/>
        </p:spPr>
        <p:txBody>
          <a:bodyPr wrap="square" lIns="0" tIns="0" rIns="0" bIns="0" rtlCol="0" anchor="ctr"/>
          <a:lstStyle/>
          <a:p>
            <a:r>
              <a:rPr lang="en-US" sz="1100" dirty="0">
                <a:solidFill>
                  <a:srgbClr val="1A1A1A"/>
                </a:solidFill>
              </a:rPr>
              <a:t> •</a:t>
            </a:r>
            <a:r>
              <a:rPr lang="en-US" sz="1100" dirty="0"/>
              <a:t> Chapter 1: Project Overview &amp; Data Source</a:t>
            </a:r>
            <a:br>
              <a:rPr lang="en-US" sz="1100" dirty="0"/>
            </a:br>
            <a:r>
              <a:rPr lang="en-US" sz="1100" dirty="0"/>
              <a:t>﻿﻿</a:t>
            </a:r>
            <a:r>
              <a:rPr lang="en-US" sz="1100" dirty="0">
                <a:solidFill>
                  <a:srgbClr val="1A1A1A"/>
                </a:solidFill>
              </a:rPr>
              <a:t> • </a:t>
            </a:r>
            <a:r>
              <a:rPr lang="en-US" sz="1100" dirty="0"/>
              <a:t>Chapter 2: Technical Architecture (Medallion + Star Schema)</a:t>
            </a:r>
            <a:br>
              <a:rPr lang="en-US" sz="1100" dirty="0"/>
            </a:br>
            <a:r>
              <a:rPr lang="en-US" sz="1100" dirty="0"/>
              <a:t>﻿﻿</a:t>
            </a:r>
            <a:r>
              <a:rPr lang="en-US" sz="1100" dirty="0">
                <a:solidFill>
                  <a:srgbClr val="1A1A1A"/>
                </a:solidFill>
              </a:rPr>
              <a:t> • </a:t>
            </a:r>
            <a:r>
              <a:rPr lang="en-US" sz="1100" dirty="0"/>
              <a:t>Chapter 3: Data Engineering &amp; Analysis (Cleaning + Engineering)</a:t>
            </a:r>
            <a:br>
              <a:rPr lang="en-US" sz="1100" dirty="0"/>
            </a:br>
            <a:r>
              <a:rPr lang="en-US" sz="1100" dirty="0"/>
              <a:t>﻿﻿</a:t>
            </a:r>
            <a:r>
              <a:rPr lang="en-US" sz="1100" dirty="0">
                <a:solidFill>
                  <a:srgbClr val="1A1A1A"/>
                </a:solidFill>
              </a:rPr>
              <a:t> • </a:t>
            </a:r>
            <a:r>
              <a:rPr lang="en-US" sz="1100" dirty="0"/>
              <a:t>Chapter 4: Machine Learning</a:t>
            </a:r>
            <a:br>
              <a:rPr lang="en-US" sz="1100" dirty="0"/>
            </a:br>
            <a:r>
              <a:rPr lang="en-US" sz="1100" dirty="0"/>
              <a:t>﻿﻿</a:t>
            </a:r>
            <a:r>
              <a:rPr lang="en-US" sz="1100" dirty="0">
                <a:solidFill>
                  <a:srgbClr val="1A1A1A"/>
                </a:solidFill>
              </a:rPr>
              <a:t> • </a:t>
            </a:r>
            <a:r>
              <a:rPr lang="en-US" sz="1100" dirty="0"/>
              <a:t>Chapter 5: Dashboard &amp; Visualization</a:t>
            </a:r>
          </a:p>
        </p:txBody>
      </p:sp>
      <p:sp>
        <p:nvSpPr>
          <p:cNvPr id="48" name="Text 46"/>
          <p:cNvSpPr/>
          <p:nvPr/>
        </p:nvSpPr>
        <p:spPr>
          <a:xfrm>
            <a:off x="4885165" y="4367050"/>
            <a:ext cx="3886200" cy="292608"/>
          </a:xfrm>
          <a:prstGeom prst="rect">
            <a:avLst/>
          </a:prstGeom>
          <a:noFill/>
          <a:ln/>
        </p:spPr>
        <p:txBody>
          <a:bodyPr wrap="square" lIns="0" tIns="0" rIns="0" bIns="0" rtlCol="0" anchor="ctr"/>
          <a:lstStyle/>
          <a:p>
            <a:pPr marL="0" indent="0">
              <a:buNone/>
            </a:pPr>
            <a:endParaRPr lang="en-US" sz="1100" dirty="0"/>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11</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Power BI Dashboard - </a:t>
            </a:r>
            <a:r>
              <a:rPr lang="en-US" sz="2000" b="1" dirty="0">
                <a:solidFill>
                  <a:srgbClr val="7030A0"/>
                </a:solidFill>
                <a:latin typeface="Times New Roman" panose="02020603050405020304" pitchFamily="18" charset="0"/>
                <a:cs typeface="Times New Roman" panose="02020603050405020304" pitchFamily="18" charset="0"/>
              </a:rPr>
              <a:t>landing page</a:t>
            </a: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A1B4277-9E0E-4B11-A1BC-CE42988D7EA1}"/>
              </a:ext>
            </a:extLst>
          </p:cNvPr>
          <p:cNvPicPr>
            <a:picLocks noChangeAspect="1"/>
          </p:cNvPicPr>
          <p:nvPr/>
        </p:nvPicPr>
        <p:blipFill>
          <a:blip r:embed="rId6"/>
          <a:srcRect/>
          <a:stretch/>
        </p:blipFill>
        <p:spPr>
          <a:xfrm>
            <a:off x="1156771" y="1442025"/>
            <a:ext cx="6681392" cy="33059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2971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964F431-F7B5-C677-B85D-1FFFE442546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D7EDFAD-0AA4-9D9E-8660-C87B0F946414}"/>
              </a:ext>
            </a:extLst>
          </p:cNvPr>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a:extLst>
              <a:ext uri="{FF2B5EF4-FFF2-40B4-BE49-F238E27FC236}">
                <a16:creationId xmlns:a16="http://schemas.microsoft.com/office/drawing/2014/main" id="{8C3458E1-B748-01AA-D1A9-4A387116652B}"/>
              </a:ext>
            </a:extLst>
          </p:cNvPr>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a:extLst>
              <a:ext uri="{FF2B5EF4-FFF2-40B4-BE49-F238E27FC236}">
                <a16:creationId xmlns:a16="http://schemas.microsoft.com/office/drawing/2014/main" id="{72118A92-DE12-6546-474B-8CD57B8605B8}"/>
              </a:ext>
            </a:extLst>
          </p:cNvPr>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12</a:t>
            </a:r>
            <a:endParaRPr lang="en-US" sz="1000" dirty="0"/>
          </a:p>
        </p:txBody>
      </p:sp>
      <p:sp>
        <p:nvSpPr>
          <p:cNvPr id="14" name="Shape 12">
            <a:extLst>
              <a:ext uri="{FF2B5EF4-FFF2-40B4-BE49-F238E27FC236}">
                <a16:creationId xmlns:a16="http://schemas.microsoft.com/office/drawing/2014/main" id="{8E92DA81-B599-B724-4347-CCB05C6121CC}"/>
              </a:ext>
            </a:extLst>
          </p:cNvPr>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a:extLst>
              <a:ext uri="{FF2B5EF4-FFF2-40B4-BE49-F238E27FC236}">
                <a16:creationId xmlns:a16="http://schemas.microsoft.com/office/drawing/2014/main" id="{3C480BF3-79EA-B27B-1817-97EA096D70E4}"/>
              </a:ext>
            </a:extLst>
          </p:cNvPr>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Power BI Dashboard – </a:t>
            </a:r>
            <a:r>
              <a:rPr lang="en-US" sz="2000" b="1" dirty="0">
                <a:solidFill>
                  <a:srgbClr val="7030A0"/>
                </a:solidFill>
                <a:latin typeface="Times New Roman" panose="02020603050405020304" pitchFamily="18" charset="0"/>
                <a:cs typeface="Times New Roman" panose="02020603050405020304" pitchFamily="18" charset="0"/>
              </a:rPr>
              <a:t>Description page </a:t>
            </a:r>
            <a:r>
              <a:rPr lang="en-US" sz="2200" b="1" dirty="0">
                <a:solidFill>
                  <a:srgbClr val="7030A0"/>
                </a:solidFill>
                <a:latin typeface="Times New Roman" panose="02020603050405020304" pitchFamily="18" charset="0"/>
                <a:cs typeface="Times New Roman" panose="02020603050405020304" pitchFamily="18" charset="0"/>
              </a:rPr>
              <a:t> </a:t>
            </a:r>
          </a:p>
        </p:txBody>
      </p:sp>
      <p:sp>
        <p:nvSpPr>
          <p:cNvPr id="16" name="Shape 14">
            <a:extLst>
              <a:ext uri="{FF2B5EF4-FFF2-40B4-BE49-F238E27FC236}">
                <a16:creationId xmlns:a16="http://schemas.microsoft.com/office/drawing/2014/main" id="{8A8F5FBD-FBF0-3B51-DCC4-DE1242C29D64}"/>
              </a:ext>
            </a:extLst>
          </p:cNvPr>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A5683CF6-B2AA-A9BA-B868-29DA0AE1FDAD}"/>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C5E7C808-AAAF-2994-5588-AF2D998FC94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92017BA2-67F1-690E-06EA-936CD3C003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DC2B79A-EED6-1557-568E-8E482D8DC9C6}"/>
              </a:ext>
            </a:extLst>
          </p:cNvPr>
          <p:cNvPicPr>
            <a:picLocks noChangeAspect="1"/>
          </p:cNvPicPr>
          <p:nvPr/>
        </p:nvPicPr>
        <p:blipFill>
          <a:blip r:embed="rId6"/>
          <a:srcRect/>
          <a:stretch/>
        </p:blipFill>
        <p:spPr>
          <a:xfrm>
            <a:off x="1178805" y="1443390"/>
            <a:ext cx="6488935" cy="324124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78550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0E97ADF-DB8E-BD56-530F-7120B202589E}"/>
              </a:ext>
            </a:extLst>
          </p:cNvPr>
          <p:cNvSpPr/>
          <p:nvPr/>
        </p:nvSpPr>
        <p:spPr>
          <a:xfrm>
            <a:off x="6559662" y="2229130"/>
            <a:ext cx="2264297" cy="1979314"/>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13</a:t>
            </a:r>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Power BI Dashboard</a:t>
            </a: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B74E8DA-1C1D-4108-9552-D8B5C61821D9}"/>
              </a:ext>
            </a:extLst>
          </p:cNvPr>
          <p:cNvPicPr>
            <a:picLocks noChangeAspect="1"/>
          </p:cNvPicPr>
          <p:nvPr/>
        </p:nvPicPr>
        <p:blipFill>
          <a:blip r:embed="rId6"/>
          <a:srcRect/>
          <a:stretch/>
        </p:blipFill>
        <p:spPr>
          <a:xfrm>
            <a:off x="320040" y="1362458"/>
            <a:ext cx="5775961" cy="3376994"/>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5314CF91-96F2-7405-F743-9322C40F640F}"/>
              </a:ext>
            </a:extLst>
          </p:cNvPr>
          <p:cNvSpPr txBox="1"/>
          <p:nvPr/>
        </p:nvSpPr>
        <p:spPr>
          <a:xfrm>
            <a:off x="6559663" y="2229130"/>
            <a:ext cx="2346593" cy="2492990"/>
          </a:xfrm>
          <a:prstGeom prst="rect">
            <a:avLst/>
          </a:prstGeom>
          <a:noFill/>
        </p:spPr>
        <p:txBody>
          <a:bodyPr wrap="square" rtlCol="0">
            <a:spAutoFit/>
          </a:bodyPr>
          <a:lstStyle/>
          <a:p>
            <a:r>
              <a:rPr lang="en-US" b="1" dirty="0">
                <a:solidFill>
                  <a:schemeClr val="bg1"/>
                </a:solidFill>
              </a:rPr>
              <a:t>P.1 </a:t>
            </a:r>
          </a:p>
          <a:p>
            <a:r>
              <a:rPr lang="en-US" sz="1400" b="1" dirty="0">
                <a:solidFill>
                  <a:schemeClr val="bg1"/>
                </a:solidFill>
              </a:rPr>
              <a:t>Every discovery brings us closer.</a:t>
            </a:r>
            <a:br>
              <a:rPr lang="en-US" sz="1400" b="1" dirty="0">
                <a:solidFill>
                  <a:schemeClr val="bg1"/>
                </a:solidFill>
              </a:rPr>
            </a:br>
            <a:r>
              <a:rPr lang="en-US" sz="1400" b="1" i="1" dirty="0">
                <a:solidFill>
                  <a:schemeClr val="bg1"/>
                </a:solidFill>
              </a:rPr>
              <a:t>From distant star systems to nearby worlds, each detected exoplanet helps us better understand the diversity of our galaxy</a:t>
            </a:r>
            <a:r>
              <a:rPr lang="en-US" b="1" i="1" dirty="0">
                <a:solidFill>
                  <a:schemeClr val="bg1"/>
                </a:solidFill>
              </a:rPr>
              <a:t>.</a:t>
            </a:r>
            <a:endParaRPr lang="en-US" b="1" dirty="0">
              <a:solidFill>
                <a:schemeClr val="bg1"/>
              </a:solidFill>
            </a:endParaRPr>
          </a:p>
          <a:p>
            <a:endParaRPr lang="en-US" b="1" dirty="0">
              <a:solidFill>
                <a:schemeClr val="bg1"/>
              </a:solidFill>
            </a:endParaRPr>
          </a:p>
          <a:p>
            <a:endParaRPr lang="en-US" b="1" dirty="0">
              <a:solidFill>
                <a:schemeClr val="bg1"/>
              </a:solidFill>
            </a:endParaRPr>
          </a:p>
        </p:txBody>
      </p:sp>
    </p:spTree>
    <p:extLst>
      <p:ext uri="{BB962C8B-B14F-4D97-AF65-F5344CB8AC3E}">
        <p14:creationId xmlns:p14="http://schemas.microsoft.com/office/powerpoint/2010/main" val="2316114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F43D22-8929-BE90-DB9B-D19218455E24}"/>
              </a:ext>
            </a:extLst>
          </p:cNvPr>
          <p:cNvSpPr/>
          <p:nvPr/>
        </p:nvSpPr>
        <p:spPr>
          <a:xfrm>
            <a:off x="6621137" y="2033828"/>
            <a:ext cx="2049138" cy="2494104"/>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0" name="Text 8"/>
          <p:cNvSpPr/>
          <p:nvPr/>
        </p:nvSpPr>
        <p:spPr>
          <a:xfrm>
            <a:off x="137160" y="4850892"/>
            <a:ext cx="1097280" cy="292608"/>
          </a:xfrm>
          <a:prstGeom prst="rect">
            <a:avLst/>
          </a:prstGeom>
          <a:noFill/>
          <a:ln/>
        </p:spPr>
        <p:txBody>
          <a:bodyPr wrap="square" lIns="0" tIns="0" rIns="0" bIns="0" rtlCol="0" anchor="ctr"/>
          <a:lstStyle/>
          <a:p>
            <a:pPr marL="0" indent="0">
              <a:buNone/>
            </a:pPr>
            <a:r>
              <a:rPr lang="en-US" sz="900" dirty="0">
                <a:solidFill>
                  <a:srgbClr val="FFFFFF"/>
                </a:solidFill>
              </a:rPr>
              <a:t>12/05</a:t>
            </a:r>
            <a:r>
              <a:rPr lang="ar-EG" sz="900" dirty="0">
                <a:solidFill>
                  <a:srgbClr val="FFFFFF"/>
                </a:solidFill>
              </a:rPr>
              <a:t>/</a:t>
            </a:r>
            <a:r>
              <a:rPr lang="en-US" sz="900" dirty="0">
                <a:solidFill>
                  <a:srgbClr val="FFFFFF"/>
                </a:solidFill>
              </a:rPr>
              <a:t>2026</a:t>
            </a:r>
            <a:endParaRPr lang="en-US" sz="9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14</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Power BI Dashboard</a:t>
            </a: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06A2B66-9AEC-4850-88B5-877F06995652}"/>
              </a:ext>
            </a:extLst>
          </p:cNvPr>
          <p:cNvPicPr>
            <a:picLocks noChangeAspect="1"/>
          </p:cNvPicPr>
          <p:nvPr/>
        </p:nvPicPr>
        <p:blipFill>
          <a:blip r:embed="rId6"/>
          <a:srcRect/>
          <a:stretch/>
        </p:blipFill>
        <p:spPr>
          <a:xfrm>
            <a:off x="320040" y="1362457"/>
            <a:ext cx="5823585" cy="3439896"/>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E5C37830-75E0-231D-A56C-EADF9D5AD217}"/>
              </a:ext>
            </a:extLst>
          </p:cNvPr>
          <p:cNvSpPr txBox="1"/>
          <p:nvPr/>
        </p:nvSpPr>
        <p:spPr>
          <a:xfrm>
            <a:off x="6626341" y="2040652"/>
            <a:ext cx="1894902" cy="2800767"/>
          </a:xfrm>
          <a:prstGeom prst="rect">
            <a:avLst/>
          </a:prstGeom>
          <a:noFill/>
        </p:spPr>
        <p:txBody>
          <a:bodyPr wrap="square" rtlCol="0">
            <a:spAutoFit/>
          </a:bodyPr>
          <a:lstStyle/>
          <a:p>
            <a:r>
              <a:rPr lang="en-US" b="1" dirty="0">
                <a:solidFill>
                  <a:schemeClr val="bg1"/>
                </a:solidFill>
              </a:rPr>
              <a:t>P.2</a:t>
            </a:r>
          </a:p>
          <a:p>
            <a:r>
              <a:rPr lang="en-US" sz="1400" b="1" dirty="0">
                <a:solidFill>
                  <a:schemeClr val="bg1"/>
                </a:solidFill>
              </a:rPr>
              <a:t>Every planet has its own story.</a:t>
            </a:r>
            <a:br>
              <a:rPr lang="en-US" sz="1400" b="1" dirty="0">
                <a:solidFill>
                  <a:schemeClr val="bg1"/>
                </a:solidFill>
              </a:rPr>
            </a:br>
            <a:r>
              <a:rPr lang="en-US" sz="1400" b="1" i="1" dirty="0">
                <a:solidFill>
                  <a:schemeClr val="bg1"/>
                </a:solidFill>
              </a:rPr>
              <a:t>Our analysis reveals how planetary characteristics shape composition, habitability, and the diversity of worlds beyond our solar system.</a:t>
            </a:r>
            <a:endParaRPr lang="en-US" sz="1400" b="1" dirty="0">
              <a:solidFill>
                <a:schemeClr val="bg1"/>
              </a:solidFill>
            </a:endParaRPr>
          </a:p>
          <a:p>
            <a:endParaRPr lang="en-US" dirty="0"/>
          </a:p>
        </p:txBody>
      </p:sp>
    </p:spTree>
    <p:extLst>
      <p:ext uri="{BB962C8B-B14F-4D97-AF65-F5344CB8AC3E}">
        <p14:creationId xmlns:p14="http://schemas.microsoft.com/office/powerpoint/2010/main" val="3432631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0" name="Text 8"/>
          <p:cNvSpPr/>
          <p:nvPr/>
        </p:nvSpPr>
        <p:spPr>
          <a:xfrm>
            <a:off x="137160" y="4850892"/>
            <a:ext cx="1097280" cy="292608"/>
          </a:xfrm>
          <a:prstGeom prst="rect">
            <a:avLst/>
          </a:prstGeom>
          <a:noFill/>
          <a:ln/>
        </p:spPr>
        <p:txBody>
          <a:bodyPr wrap="square" lIns="0" tIns="0" rIns="0" bIns="0" rtlCol="0" anchor="ctr"/>
          <a:lstStyle/>
          <a:p>
            <a:pPr marL="0" indent="0">
              <a:buNone/>
            </a:pPr>
            <a:r>
              <a:rPr lang="en-US" sz="900" dirty="0">
                <a:solidFill>
                  <a:srgbClr val="FFFFFF"/>
                </a:solidFill>
              </a:rPr>
              <a:t>12/05</a:t>
            </a:r>
            <a:r>
              <a:rPr lang="ar-EG" sz="900" dirty="0">
                <a:solidFill>
                  <a:srgbClr val="FFFFFF"/>
                </a:solidFill>
              </a:rPr>
              <a:t>/</a:t>
            </a:r>
            <a:r>
              <a:rPr lang="en-US" sz="900" dirty="0">
                <a:solidFill>
                  <a:srgbClr val="FFFFFF"/>
                </a:solidFill>
              </a:rPr>
              <a:t>2026</a:t>
            </a:r>
            <a:endParaRPr lang="en-US" sz="9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15</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Power BI Dashboard</a:t>
            </a: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2DC1F70-A740-451B-9C8C-C0BA23F00C8E}"/>
              </a:ext>
            </a:extLst>
          </p:cNvPr>
          <p:cNvPicPr>
            <a:picLocks noChangeAspect="1"/>
          </p:cNvPicPr>
          <p:nvPr/>
        </p:nvPicPr>
        <p:blipFill>
          <a:blip r:embed="rId6"/>
          <a:srcRect/>
          <a:stretch/>
        </p:blipFill>
        <p:spPr>
          <a:xfrm>
            <a:off x="320040" y="1362457"/>
            <a:ext cx="5909309" cy="3368534"/>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7E7AD306-4349-5B17-E658-7C1D0A8F5386}"/>
              </a:ext>
            </a:extLst>
          </p:cNvPr>
          <p:cNvSpPr txBox="1"/>
          <p:nvPr/>
        </p:nvSpPr>
        <p:spPr>
          <a:xfrm>
            <a:off x="6699026" y="1917162"/>
            <a:ext cx="1861851" cy="2369880"/>
          </a:xfrm>
          <a:prstGeom prst="rect">
            <a:avLst/>
          </a:prstGeom>
          <a:solidFill>
            <a:srgbClr val="7030A0"/>
          </a:solidFill>
        </p:spPr>
        <p:txBody>
          <a:bodyPr wrap="square" rtlCol="0">
            <a:spAutoFit/>
          </a:bodyPr>
          <a:lstStyle/>
          <a:p>
            <a:r>
              <a:rPr lang="en-US" b="1" dirty="0">
                <a:solidFill>
                  <a:schemeClr val="bg1"/>
                </a:solidFill>
              </a:rPr>
              <a:t>P.3</a:t>
            </a:r>
          </a:p>
          <a:p>
            <a:r>
              <a:rPr lang="en-US" sz="1400" b="1" dirty="0">
                <a:solidFill>
                  <a:schemeClr val="bg1"/>
                </a:solidFill>
              </a:rPr>
              <a:t>The stars hold the key to new worlds.</a:t>
            </a:r>
            <a:br>
              <a:rPr lang="en-US" sz="1400" b="1" dirty="0">
                <a:solidFill>
                  <a:schemeClr val="bg1"/>
                </a:solidFill>
              </a:rPr>
            </a:br>
            <a:r>
              <a:rPr lang="en-US" sz="1400" b="1" i="1" dirty="0">
                <a:solidFill>
                  <a:schemeClr val="bg1"/>
                </a:solidFill>
              </a:rPr>
              <a:t>Understanding stellar characteristics helps explain the evolution, structure, and habitability of planetary systems.</a:t>
            </a:r>
            <a:endParaRPr lang="en-US" sz="1400" b="1" dirty="0">
              <a:solidFill>
                <a:schemeClr val="bg1"/>
              </a:solidFill>
            </a:endParaRPr>
          </a:p>
          <a:p>
            <a:endParaRPr lang="en-US" dirty="0"/>
          </a:p>
        </p:txBody>
      </p:sp>
    </p:spTree>
    <p:extLst>
      <p:ext uri="{BB962C8B-B14F-4D97-AF65-F5344CB8AC3E}">
        <p14:creationId xmlns:p14="http://schemas.microsoft.com/office/powerpoint/2010/main" val="2163146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AE6000B-CCAE-558E-2DFC-2B464AAAAAD4}"/>
              </a:ext>
            </a:extLst>
          </p:cNvPr>
          <p:cNvSpPr/>
          <p:nvPr/>
        </p:nvSpPr>
        <p:spPr>
          <a:xfrm>
            <a:off x="6819441" y="1783976"/>
            <a:ext cx="1828801" cy="2560074"/>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16</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Power BI Dashboard</a:t>
            </a: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1541C0D-27C7-4923-8A20-2E0099D1C4DF}"/>
              </a:ext>
            </a:extLst>
          </p:cNvPr>
          <p:cNvPicPr>
            <a:picLocks noChangeAspect="1"/>
          </p:cNvPicPr>
          <p:nvPr/>
        </p:nvPicPr>
        <p:blipFill>
          <a:blip r:embed="rId6"/>
          <a:srcRect/>
          <a:stretch/>
        </p:blipFill>
        <p:spPr>
          <a:xfrm>
            <a:off x="320040" y="1385840"/>
            <a:ext cx="6091777" cy="333507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CBEDFC1D-5675-EA90-4C69-15109EB12228}"/>
              </a:ext>
            </a:extLst>
          </p:cNvPr>
          <p:cNvSpPr txBox="1"/>
          <p:nvPr/>
        </p:nvSpPr>
        <p:spPr>
          <a:xfrm>
            <a:off x="6819441" y="1783976"/>
            <a:ext cx="1751682" cy="2800767"/>
          </a:xfrm>
          <a:prstGeom prst="rect">
            <a:avLst/>
          </a:prstGeom>
          <a:noFill/>
        </p:spPr>
        <p:txBody>
          <a:bodyPr wrap="square" rtlCol="0">
            <a:spAutoFit/>
          </a:bodyPr>
          <a:lstStyle/>
          <a:p>
            <a:r>
              <a:rPr lang="en-US" b="1" dirty="0">
                <a:solidFill>
                  <a:schemeClr val="bg1"/>
                </a:solidFill>
              </a:rPr>
              <a:t>P.4</a:t>
            </a:r>
          </a:p>
          <a:p>
            <a:r>
              <a:rPr lang="en-US" sz="1400" b="1" dirty="0">
                <a:solidFill>
                  <a:schemeClr val="bg1"/>
                </a:solidFill>
              </a:rPr>
              <a:t>Not every planet can be called home.</a:t>
            </a:r>
            <a:br>
              <a:rPr lang="en-US" sz="1400" b="1" dirty="0">
                <a:solidFill>
                  <a:schemeClr val="bg1"/>
                </a:solidFill>
              </a:rPr>
            </a:br>
            <a:r>
              <a:rPr lang="en-US" sz="1400" b="1" i="1" dirty="0">
                <a:solidFill>
                  <a:schemeClr val="bg1"/>
                </a:solidFill>
              </a:rPr>
              <a:t>Our analysis identifies the planetary characteristics that increase the potential for Earth-like conditions and habitability.</a:t>
            </a:r>
            <a:endParaRPr lang="en-US" sz="1400" b="1" dirty="0">
              <a:solidFill>
                <a:schemeClr val="bg1"/>
              </a:solidFill>
            </a:endParaRPr>
          </a:p>
          <a:p>
            <a:endParaRPr lang="en-US" dirty="0"/>
          </a:p>
        </p:txBody>
      </p:sp>
    </p:spTree>
    <p:extLst>
      <p:ext uri="{BB962C8B-B14F-4D97-AF65-F5344CB8AC3E}">
        <p14:creationId xmlns:p14="http://schemas.microsoft.com/office/powerpoint/2010/main" val="3566866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12D634-C7B7-C59A-7790-5276527FAAAD}"/>
              </a:ext>
            </a:extLst>
          </p:cNvPr>
          <p:cNvSpPr/>
          <p:nvPr/>
        </p:nvSpPr>
        <p:spPr>
          <a:xfrm>
            <a:off x="6654188" y="1903446"/>
            <a:ext cx="1979180" cy="225040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AE" dirty="0"/>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17</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Power BI Dashboard</a:t>
            </a: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81B94DB6-EBC3-47AA-8FDA-6E3B2D4C03A3}"/>
              </a:ext>
            </a:extLst>
          </p:cNvPr>
          <p:cNvSpPr txBox="1"/>
          <p:nvPr/>
        </p:nvSpPr>
        <p:spPr>
          <a:xfrm>
            <a:off x="2246086" y="2398877"/>
            <a:ext cx="4637314" cy="369332"/>
          </a:xfrm>
          <a:prstGeom prst="rect">
            <a:avLst/>
          </a:prstGeom>
          <a:noFill/>
        </p:spPr>
        <p:txBody>
          <a:bodyPr wrap="square">
            <a:spAutoFit/>
          </a:bodyPr>
          <a:lstStyle/>
          <a:p>
            <a:pPr marL="0" indent="0">
              <a:buNone/>
            </a:pPr>
            <a:r>
              <a:rPr lang="en-US" sz="1800" b="1" dirty="0">
                <a:solidFill>
                  <a:srgbClr val="FFFFFF"/>
                </a:solidFill>
              </a:rPr>
              <a:t>Power BI Dashboard</a:t>
            </a:r>
            <a:endParaRPr lang="en-US" sz="1800" dirty="0"/>
          </a:p>
        </p:txBody>
      </p:sp>
      <p:pic>
        <p:nvPicPr>
          <p:cNvPr id="6" name="Picture 5">
            <a:extLst>
              <a:ext uri="{FF2B5EF4-FFF2-40B4-BE49-F238E27FC236}">
                <a16:creationId xmlns:a16="http://schemas.microsoft.com/office/drawing/2014/main" id="{3B8FD680-2B6B-41B0-B530-0B5274642F0F}"/>
              </a:ext>
            </a:extLst>
          </p:cNvPr>
          <p:cNvPicPr>
            <a:picLocks noChangeAspect="1"/>
          </p:cNvPicPr>
          <p:nvPr/>
        </p:nvPicPr>
        <p:blipFill>
          <a:blip r:embed="rId6"/>
          <a:srcRect/>
          <a:stretch/>
        </p:blipFill>
        <p:spPr>
          <a:xfrm>
            <a:off x="320040" y="1380743"/>
            <a:ext cx="5842635" cy="3333877"/>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751FDF39-2A4D-EA81-34F7-8E8C104C96BB}"/>
              </a:ext>
            </a:extLst>
          </p:cNvPr>
          <p:cNvSpPr txBox="1"/>
          <p:nvPr/>
        </p:nvSpPr>
        <p:spPr>
          <a:xfrm>
            <a:off x="6654188" y="1923228"/>
            <a:ext cx="1979180" cy="2369880"/>
          </a:xfrm>
          <a:prstGeom prst="rect">
            <a:avLst/>
          </a:prstGeom>
          <a:noFill/>
        </p:spPr>
        <p:txBody>
          <a:bodyPr wrap="square" rtlCol="0">
            <a:spAutoFit/>
          </a:bodyPr>
          <a:lstStyle/>
          <a:p>
            <a:r>
              <a:rPr lang="en-US" b="1" dirty="0">
                <a:solidFill>
                  <a:schemeClr val="bg1"/>
                </a:solidFill>
              </a:rPr>
              <a:t>P.5</a:t>
            </a:r>
          </a:p>
          <a:p>
            <a:r>
              <a:rPr lang="en-US" sz="1400" b="1" dirty="0">
                <a:solidFill>
                  <a:schemeClr val="bg1"/>
                </a:solidFill>
              </a:rPr>
              <a:t>Predicting tomorrow's discoveries today.</a:t>
            </a:r>
            <a:br>
              <a:rPr lang="en-US" sz="1400" b="1" dirty="0">
                <a:solidFill>
                  <a:schemeClr val="bg1"/>
                </a:solidFill>
              </a:rPr>
            </a:br>
            <a:r>
              <a:rPr lang="en-US" sz="1400" b="1" i="1" dirty="0">
                <a:solidFill>
                  <a:schemeClr val="bg1"/>
                </a:solidFill>
              </a:rPr>
              <a:t>Our AI model evaluates planetary characteristics to estimate habitability and Earth Similarity Index (ESI).</a:t>
            </a:r>
            <a:endParaRPr lang="en-US" sz="1400" b="1" dirty="0">
              <a:solidFill>
                <a:schemeClr val="bg1"/>
              </a:solidFill>
            </a:endParaRPr>
          </a:p>
          <a:p>
            <a:endParaRPr lang="en-US" dirty="0"/>
          </a:p>
        </p:txBody>
      </p:sp>
    </p:spTree>
    <p:extLst>
      <p:ext uri="{BB962C8B-B14F-4D97-AF65-F5344CB8AC3E}">
        <p14:creationId xmlns:p14="http://schemas.microsoft.com/office/powerpoint/2010/main" val="999699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18</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Figma Design</a:t>
            </a: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pic>
        <p:nvPicPr>
          <p:cNvPr id="49" name="Picture 2" descr="مبادرة رواد مصر الرقمية - YouTube">
            <a:extLst>
              <a:ext uri="{FF2B5EF4-FFF2-40B4-BE49-F238E27FC236}">
                <a16:creationId xmlns:a16="http://schemas.microsoft.com/office/drawing/2014/main" id="{F6278A97-A164-4ABA-8825-E0831FB23C9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F1B376FC-7125-410D-9D90-9FDB5A41C7E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7932A0F2-3D60-4212-8C11-47048A212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81B94DB6-EBC3-47AA-8FDA-6E3B2D4C03A3}"/>
              </a:ext>
            </a:extLst>
          </p:cNvPr>
          <p:cNvSpPr txBox="1"/>
          <p:nvPr/>
        </p:nvSpPr>
        <p:spPr>
          <a:xfrm>
            <a:off x="2246086" y="2398877"/>
            <a:ext cx="4637314" cy="369332"/>
          </a:xfrm>
          <a:prstGeom prst="rect">
            <a:avLst/>
          </a:prstGeom>
          <a:noFill/>
        </p:spPr>
        <p:txBody>
          <a:bodyPr wrap="square">
            <a:spAutoFit/>
          </a:bodyPr>
          <a:lstStyle/>
          <a:p>
            <a:pPr marL="0" indent="0">
              <a:buNone/>
            </a:pPr>
            <a:r>
              <a:rPr lang="en-US" sz="1800" b="1" dirty="0">
                <a:solidFill>
                  <a:srgbClr val="FFFFFF"/>
                </a:solidFill>
              </a:rPr>
              <a:t>Power BI Dashboard</a:t>
            </a:r>
            <a:endParaRPr lang="en-US" sz="1800" dirty="0"/>
          </a:p>
        </p:txBody>
      </p:sp>
      <p:pic>
        <p:nvPicPr>
          <p:cNvPr id="5" name="Picture 4">
            <a:extLst>
              <a:ext uri="{FF2B5EF4-FFF2-40B4-BE49-F238E27FC236}">
                <a16:creationId xmlns:a16="http://schemas.microsoft.com/office/drawing/2014/main" id="{AE3EE1A0-8CFB-44C5-B9EF-8FE4477B8177}"/>
              </a:ext>
            </a:extLst>
          </p:cNvPr>
          <p:cNvPicPr>
            <a:picLocks noChangeAspect="1"/>
          </p:cNvPicPr>
          <p:nvPr/>
        </p:nvPicPr>
        <p:blipFill>
          <a:blip r:embed="rId6"/>
          <a:srcRect/>
          <a:stretch/>
        </p:blipFill>
        <p:spPr>
          <a:xfrm>
            <a:off x="320039" y="1362457"/>
            <a:ext cx="5585001" cy="3257166"/>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4DD4EB90-1829-4FB9-941A-A4838B2F9248}"/>
              </a:ext>
            </a:extLst>
          </p:cNvPr>
          <p:cNvSpPr txBox="1"/>
          <p:nvPr/>
        </p:nvSpPr>
        <p:spPr>
          <a:xfrm>
            <a:off x="6029606" y="2303481"/>
            <a:ext cx="2959607" cy="1384995"/>
          </a:xfrm>
          <a:prstGeom prst="rect">
            <a:avLst/>
          </a:prstGeom>
          <a:solidFill>
            <a:srgbClr val="7030A0"/>
          </a:solidFill>
          <a:ln>
            <a:noFill/>
          </a:ln>
        </p:spPr>
        <p:txBody>
          <a:bodyPr wrap="square" rtlCol="0">
            <a:spAutoFit/>
          </a:bodyPr>
          <a:lstStyle/>
          <a:p>
            <a:pPr algn="just"/>
            <a:r>
              <a:rPr lang="en-US" sz="1200" b="1" dirty="0">
                <a:solidFill>
                  <a:schemeClr val="bg1"/>
                </a:solidFill>
                <a:latin typeface="Times New Roman" panose="02020603050405020304" pitchFamily="18" charset="0"/>
                <a:cs typeface="Times New Roman" panose="02020603050405020304" pitchFamily="18" charset="0"/>
              </a:rPr>
              <a:t>Power</a:t>
            </a:r>
            <a:r>
              <a:rPr lang="ar-EG" sz="1200" b="1" dirty="0">
                <a:solidFill>
                  <a:schemeClr val="bg1"/>
                </a:solidFill>
                <a:latin typeface="Times New Roman" panose="02020603050405020304" pitchFamily="18" charset="0"/>
                <a:cs typeface="Times New Roman" panose="02020603050405020304" pitchFamily="18" charset="0"/>
              </a:rPr>
              <a:t> </a:t>
            </a:r>
            <a:r>
              <a:rPr lang="en-US" sz="1200" b="1" dirty="0">
                <a:solidFill>
                  <a:schemeClr val="bg1"/>
                </a:solidFill>
                <a:latin typeface="Times New Roman" panose="02020603050405020304" pitchFamily="18" charset="0"/>
                <a:cs typeface="Times New Roman" panose="02020603050405020304" pitchFamily="18" charset="0"/>
              </a:rPr>
              <a:t>Bi design</a:t>
            </a:r>
            <a:r>
              <a:rPr lang="ar-EG" sz="1200" b="1" dirty="0">
                <a:solidFill>
                  <a:schemeClr val="bg1"/>
                </a:solidFill>
                <a:latin typeface="Times New Roman" panose="02020603050405020304" pitchFamily="18" charset="0"/>
                <a:cs typeface="Times New Roman" panose="02020603050405020304" pitchFamily="18" charset="0"/>
              </a:rPr>
              <a:t>:</a:t>
            </a:r>
            <a:r>
              <a:rPr lang="en-US" sz="1200" b="1" dirty="0">
                <a:solidFill>
                  <a:schemeClr val="bg1"/>
                </a:solidFill>
                <a:latin typeface="Times New Roman" panose="02020603050405020304" pitchFamily="18" charset="0"/>
                <a:cs typeface="Times New Roman" panose="02020603050405020304" pitchFamily="18" charset="0"/>
              </a:rPr>
              <a:t>  </a:t>
            </a:r>
          </a:p>
          <a:p>
            <a:r>
              <a:rPr lang="en-US" sz="1200" b="1" dirty="0">
                <a:solidFill>
                  <a:schemeClr val="bg1"/>
                </a:solidFill>
              </a:rPr>
              <a:t>• In the main pages, we used a galaxy-inspired design combined with space-themed icons and illustrations.</a:t>
            </a:r>
            <a:br>
              <a:rPr lang="en-US" sz="1200" b="1" dirty="0">
                <a:solidFill>
                  <a:schemeClr val="bg1"/>
                </a:solidFill>
              </a:rPr>
            </a:br>
            <a:r>
              <a:rPr lang="en-US" sz="1200" b="1" dirty="0">
                <a:solidFill>
                  <a:schemeClr val="bg1"/>
                </a:solidFill>
              </a:rPr>
              <a:t>• In the AI analysis page, we used modern AI elements with a futuristic interface to visualize planet habitability prediction.</a:t>
            </a:r>
            <a:endParaRPr lang="en-AE" sz="1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47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0" name="Text 8"/>
          <p:cNvSpPr/>
          <p:nvPr/>
        </p:nvSpPr>
        <p:spPr>
          <a:xfrm>
            <a:off x="137160" y="4850892"/>
            <a:ext cx="1097280" cy="292608"/>
          </a:xfrm>
          <a:prstGeom prst="rect">
            <a:avLst/>
          </a:prstGeom>
          <a:noFill/>
          <a:ln/>
        </p:spPr>
        <p:txBody>
          <a:bodyPr wrap="square" lIns="0" tIns="0" rIns="0" bIns="0" rtlCol="0" anchor="ctr"/>
          <a:lstStyle/>
          <a:p>
            <a:pPr marL="0" indent="0">
              <a:buNone/>
            </a:pPr>
            <a:r>
              <a:rPr lang="en-US" sz="900" dirty="0">
                <a:solidFill>
                  <a:srgbClr val="FFFFFF"/>
                </a:solidFill>
              </a:rPr>
              <a:t>12/05</a:t>
            </a:r>
            <a:r>
              <a:rPr lang="ar-EG" sz="900" dirty="0">
                <a:solidFill>
                  <a:srgbClr val="FFFFFF"/>
                </a:solidFill>
              </a:rPr>
              <a:t>/</a:t>
            </a:r>
            <a:r>
              <a:rPr lang="en-US" sz="900" dirty="0">
                <a:solidFill>
                  <a:srgbClr val="FFFFFF"/>
                </a:solidFill>
              </a:rPr>
              <a:t>2026</a:t>
            </a:r>
            <a:endParaRPr lang="en-US" sz="900" dirty="0"/>
          </a:p>
        </p:txBody>
      </p:sp>
      <p:sp>
        <p:nvSpPr>
          <p:cNvPr id="11" name="Text 9"/>
          <p:cNvSpPr/>
          <p:nvPr/>
        </p:nvSpPr>
        <p:spPr>
          <a:xfrm>
            <a:off x="3657600" y="4850892"/>
            <a:ext cx="1828800" cy="292608"/>
          </a:xfrm>
          <a:prstGeom prst="rect">
            <a:avLst/>
          </a:prstGeom>
          <a:noFill/>
          <a:ln/>
        </p:spPr>
        <p:txBody>
          <a:bodyPr wrap="square" lIns="0" tIns="0" rIns="0" bIns="0" rtlCol="0" anchor="ctr"/>
          <a:lstStyle/>
          <a:p>
            <a:pPr marL="0" indent="0" algn="ctr">
              <a:buNone/>
            </a:pPr>
            <a:r>
              <a:rPr lang="en-US" sz="1000" b="1" dirty="0">
                <a:solidFill>
                  <a:srgbClr val="FFFFFF"/>
                </a:solidFill>
              </a:rPr>
              <a:t>EYOUth.</a:t>
            </a:r>
            <a:endParaRPr lang="en-US" sz="10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r>
              <a:rPr lang="en-US" sz="1000" b="1" dirty="0">
                <a:solidFill>
                  <a:srgbClr val="336EA8"/>
                </a:solidFill>
              </a:rPr>
              <a:t>19</a:t>
            </a:r>
            <a:endParaRPr lang="en-US" sz="1000" dirty="0"/>
          </a:p>
        </p:txBody>
      </p:sp>
      <p:sp>
        <p:nvSpPr>
          <p:cNvPr id="14" name="Shape 12"/>
          <p:cNvSpPr/>
          <p:nvPr/>
        </p:nvSpPr>
        <p:spPr>
          <a:xfrm>
            <a:off x="320040" y="850392"/>
            <a:ext cx="64008" cy="438912"/>
          </a:xfrm>
          <a:prstGeom prst="rect">
            <a:avLst/>
          </a:prstGeom>
          <a:solidFill>
            <a:srgbClr val="7030A0"/>
          </a:solidFill>
          <a:ln w="12700">
            <a:solidFill>
              <a:srgbClr val="047954"/>
            </a:solidFill>
            <a:prstDash val="solid"/>
          </a:ln>
        </p:spPr>
        <p:txBody>
          <a:bodyPr/>
          <a:lstStyle/>
          <a:p>
            <a:endParaRPr lang="en-US"/>
          </a:p>
        </p:txBody>
      </p:sp>
      <p:sp>
        <p:nvSpPr>
          <p:cNvPr id="15" name="Text 13"/>
          <p:cNvSpPr/>
          <p:nvPr/>
        </p:nvSpPr>
        <p:spPr>
          <a:xfrm>
            <a:off x="475488" y="850392"/>
            <a:ext cx="7772400" cy="438912"/>
          </a:xfrm>
          <a:prstGeom prst="rect">
            <a:avLst/>
          </a:prstGeom>
          <a:noFill/>
          <a:ln>
            <a:noFill/>
          </a:ln>
        </p:spPr>
        <p:txBody>
          <a:bodyPr wrap="square" lIns="0" tIns="0" rIns="0" bIns="0" rtlCol="0" anchor="ct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Project Team + Roles</a:t>
            </a:r>
            <a:endParaRPr lang="en-US" sz="2200" dirty="0">
              <a:solidFill>
                <a:srgbClr val="7030A0"/>
              </a:solidFill>
              <a:latin typeface="Times New Roman" panose="02020603050405020304" pitchFamily="18" charset="0"/>
              <a:cs typeface="Times New Roman" panose="02020603050405020304" pitchFamily="18" charset="0"/>
            </a:endParaRPr>
          </a:p>
        </p:txBody>
      </p:sp>
      <p:sp>
        <p:nvSpPr>
          <p:cNvPr id="16" name="Shape 14"/>
          <p:cNvSpPr/>
          <p:nvPr/>
        </p:nvSpPr>
        <p:spPr>
          <a:xfrm>
            <a:off x="320040" y="1325880"/>
            <a:ext cx="8503920" cy="0"/>
          </a:xfrm>
          <a:prstGeom prst="line">
            <a:avLst/>
          </a:prstGeom>
          <a:noFill/>
          <a:ln w="12700">
            <a:solidFill>
              <a:srgbClr val="DDDDDD"/>
            </a:solidFill>
            <a:prstDash val="solid"/>
          </a:ln>
        </p:spPr>
        <p:txBody>
          <a:bodyPr/>
          <a:lstStyle/>
          <a:p>
            <a:endParaRPr lang="en-US"/>
          </a:p>
        </p:txBody>
      </p:sp>
      <p:sp>
        <p:nvSpPr>
          <p:cNvPr id="17" name="Text 15"/>
          <p:cNvSpPr/>
          <p:nvPr/>
        </p:nvSpPr>
        <p:spPr>
          <a:xfrm>
            <a:off x="320040" y="1417320"/>
            <a:ext cx="8503920" cy="256032"/>
          </a:xfrm>
          <a:prstGeom prst="rect">
            <a:avLst/>
          </a:prstGeom>
          <a:noFill/>
          <a:ln/>
        </p:spPr>
        <p:txBody>
          <a:bodyPr wrap="square" lIns="0" tIns="0" rIns="0" bIns="0" rtlCol="0" anchor="ctr"/>
          <a:lstStyle/>
          <a:p>
            <a:pPr marL="0" indent="0">
              <a:buNone/>
            </a:pPr>
            <a:r>
              <a:rPr lang="en-US" sz="1000" i="1" dirty="0">
                <a:solidFill>
                  <a:srgbClr val="7030A0"/>
                </a:solidFill>
              </a:rPr>
              <a:t>Team of 6 — Digital Egypt Pioneers Initiative | Data Analysis Track</a:t>
            </a:r>
            <a:endParaRPr lang="en-US" sz="1000" dirty="0">
              <a:solidFill>
                <a:srgbClr val="7030A0"/>
              </a:solidFill>
            </a:endParaRPr>
          </a:p>
        </p:txBody>
      </p:sp>
      <p:sp>
        <p:nvSpPr>
          <p:cNvPr id="18" name="Shape 16"/>
          <p:cNvSpPr/>
          <p:nvPr/>
        </p:nvSpPr>
        <p:spPr>
          <a:xfrm>
            <a:off x="320040" y="1816279"/>
            <a:ext cx="2788920" cy="903515"/>
          </a:xfrm>
          <a:prstGeom prst="rect">
            <a:avLst/>
          </a:prstGeom>
          <a:solidFill>
            <a:srgbClr val="F5F5F5"/>
          </a:solidFill>
          <a:ln w="12700">
            <a:solidFill>
              <a:srgbClr val="DDDDDD"/>
            </a:solidFill>
            <a:prstDash val="solid"/>
          </a:ln>
        </p:spPr>
        <p:txBody>
          <a:bodyPr/>
          <a:lstStyle/>
          <a:p>
            <a:endParaRPr lang="en-US"/>
          </a:p>
        </p:txBody>
      </p:sp>
      <p:sp>
        <p:nvSpPr>
          <p:cNvPr id="19" name="Shape 17"/>
          <p:cNvSpPr/>
          <p:nvPr/>
        </p:nvSpPr>
        <p:spPr>
          <a:xfrm>
            <a:off x="320040" y="1836916"/>
            <a:ext cx="2788920" cy="286777"/>
          </a:xfrm>
          <a:prstGeom prst="rect">
            <a:avLst/>
          </a:prstGeom>
          <a:solidFill>
            <a:schemeClr val="accent1">
              <a:lumMod val="75000"/>
            </a:schemeClr>
          </a:solidFill>
          <a:ln w="12700">
            <a:solidFill>
              <a:srgbClr val="047954"/>
            </a:solidFill>
            <a:prstDash val="solid"/>
          </a:ln>
        </p:spPr>
        <p:txBody>
          <a:bodyPr/>
          <a:lstStyle/>
          <a:p>
            <a:endParaRPr lang="en-US" dirty="0"/>
          </a:p>
        </p:txBody>
      </p:sp>
      <p:sp>
        <p:nvSpPr>
          <p:cNvPr id="22" name="Text 20"/>
          <p:cNvSpPr/>
          <p:nvPr/>
        </p:nvSpPr>
        <p:spPr>
          <a:xfrm>
            <a:off x="429768" y="2183804"/>
            <a:ext cx="2606040" cy="246888"/>
          </a:xfrm>
          <a:prstGeom prst="rect">
            <a:avLst/>
          </a:prstGeom>
          <a:noFill/>
          <a:ln/>
        </p:spPr>
        <p:txBody>
          <a:bodyPr wrap="square" lIns="0" tIns="0" rIns="0" bIns="0" rtlCol="0" anchor="ctr"/>
          <a:lstStyle/>
          <a:p>
            <a:pPr marL="0" indent="0">
              <a:buNone/>
            </a:pPr>
            <a:r>
              <a:rPr lang="en-US" sz="800" dirty="0">
                <a:solidFill>
                  <a:srgbClr val="1A1A1A"/>
                </a:solidFill>
              </a:rPr>
              <a:t>• EDA Structure &amp; Figma</a:t>
            </a:r>
            <a:endParaRPr lang="en-US" sz="800" dirty="0"/>
          </a:p>
        </p:txBody>
      </p:sp>
      <p:sp>
        <p:nvSpPr>
          <p:cNvPr id="23" name="Text 21"/>
          <p:cNvSpPr/>
          <p:nvPr/>
        </p:nvSpPr>
        <p:spPr>
          <a:xfrm>
            <a:off x="429768" y="2424982"/>
            <a:ext cx="2626733" cy="246888"/>
          </a:xfrm>
          <a:prstGeom prst="rect">
            <a:avLst/>
          </a:prstGeom>
          <a:noFill/>
          <a:ln/>
        </p:spPr>
        <p:txBody>
          <a:bodyPr wrap="square" lIns="0" tIns="0" rIns="0" bIns="0" rtlCol="0" anchor="ctr"/>
          <a:lstStyle/>
          <a:p>
            <a:pPr marL="0" indent="0">
              <a:buNone/>
            </a:pPr>
            <a:r>
              <a:rPr lang="en-US" sz="800" dirty="0">
                <a:solidFill>
                  <a:srgbClr val="1A1A1A"/>
                </a:solidFill>
              </a:rPr>
              <a:t>• Documentation</a:t>
            </a:r>
            <a:endParaRPr lang="en-US" sz="800" dirty="0"/>
          </a:p>
        </p:txBody>
      </p:sp>
      <p:sp>
        <p:nvSpPr>
          <p:cNvPr id="25" name="Shape 23"/>
          <p:cNvSpPr/>
          <p:nvPr/>
        </p:nvSpPr>
        <p:spPr>
          <a:xfrm>
            <a:off x="3208059" y="2560320"/>
            <a:ext cx="2788920" cy="1069848"/>
          </a:xfrm>
          <a:prstGeom prst="rect">
            <a:avLst/>
          </a:prstGeom>
          <a:solidFill>
            <a:srgbClr val="F5F5F5"/>
          </a:solidFill>
          <a:ln w="12700">
            <a:solidFill>
              <a:srgbClr val="DDDDDD"/>
            </a:solidFill>
            <a:prstDash val="solid"/>
          </a:ln>
        </p:spPr>
        <p:txBody>
          <a:bodyPr/>
          <a:lstStyle/>
          <a:p>
            <a:endParaRPr lang="en-US" dirty="0"/>
          </a:p>
        </p:txBody>
      </p:sp>
      <p:sp>
        <p:nvSpPr>
          <p:cNvPr id="26" name="Shape 24"/>
          <p:cNvSpPr/>
          <p:nvPr/>
        </p:nvSpPr>
        <p:spPr>
          <a:xfrm>
            <a:off x="3218688" y="2546005"/>
            <a:ext cx="2788920" cy="384048"/>
          </a:xfrm>
          <a:prstGeom prst="rect">
            <a:avLst/>
          </a:prstGeom>
          <a:solidFill>
            <a:schemeClr val="accent1">
              <a:lumMod val="75000"/>
            </a:schemeClr>
          </a:solidFill>
          <a:ln w="12700">
            <a:solidFill>
              <a:srgbClr val="336EA8"/>
            </a:solidFill>
            <a:prstDash val="solid"/>
          </a:ln>
        </p:spPr>
        <p:txBody>
          <a:bodyPr/>
          <a:lstStyle/>
          <a:p>
            <a:endParaRPr lang="en-US" dirty="0"/>
          </a:p>
        </p:txBody>
      </p:sp>
      <p:sp>
        <p:nvSpPr>
          <p:cNvPr id="32" name="Shape 30"/>
          <p:cNvSpPr/>
          <p:nvPr/>
        </p:nvSpPr>
        <p:spPr>
          <a:xfrm>
            <a:off x="6135624" y="1783976"/>
            <a:ext cx="2788920" cy="1019644"/>
          </a:xfrm>
          <a:prstGeom prst="rect">
            <a:avLst/>
          </a:prstGeom>
          <a:solidFill>
            <a:srgbClr val="F5F5F5"/>
          </a:solidFill>
          <a:ln w="12700">
            <a:solidFill>
              <a:srgbClr val="DDDDDD"/>
            </a:solidFill>
            <a:prstDash val="solid"/>
          </a:ln>
        </p:spPr>
        <p:txBody>
          <a:bodyPr/>
          <a:lstStyle/>
          <a:p>
            <a:endParaRPr lang="en-US"/>
          </a:p>
        </p:txBody>
      </p:sp>
      <p:sp>
        <p:nvSpPr>
          <p:cNvPr id="33" name="Shape 31"/>
          <p:cNvSpPr/>
          <p:nvPr/>
        </p:nvSpPr>
        <p:spPr>
          <a:xfrm>
            <a:off x="6135624" y="1771188"/>
            <a:ext cx="2788920" cy="350220"/>
          </a:xfrm>
          <a:prstGeom prst="rect">
            <a:avLst/>
          </a:prstGeom>
          <a:solidFill>
            <a:schemeClr val="accent1">
              <a:lumMod val="75000"/>
            </a:schemeClr>
          </a:solidFill>
          <a:ln w="12700">
            <a:solidFill>
              <a:srgbClr val="336EA8"/>
            </a:solidFill>
            <a:prstDash val="solid"/>
          </a:ln>
        </p:spPr>
        <p:txBody>
          <a:bodyPr/>
          <a:lstStyle/>
          <a:p>
            <a:endParaRPr lang="en-AE" dirty="0"/>
          </a:p>
        </p:txBody>
      </p:sp>
      <p:sp>
        <p:nvSpPr>
          <p:cNvPr id="36" name="Text 34"/>
          <p:cNvSpPr/>
          <p:nvPr/>
        </p:nvSpPr>
        <p:spPr>
          <a:xfrm>
            <a:off x="6197227" y="2194560"/>
            <a:ext cx="2606040" cy="246888"/>
          </a:xfrm>
          <a:prstGeom prst="rect">
            <a:avLst/>
          </a:prstGeom>
          <a:noFill/>
          <a:ln/>
        </p:spPr>
        <p:txBody>
          <a:bodyPr wrap="square" lIns="0" tIns="0" rIns="0" bIns="0" rtlCol="0" anchor="ctr"/>
          <a:lstStyle/>
          <a:p>
            <a:pPr marL="0" indent="0">
              <a:buNone/>
            </a:pPr>
            <a:r>
              <a:rPr lang="en-US" sz="800" dirty="0">
                <a:solidFill>
                  <a:srgbClr val="1A1A1A"/>
                </a:solidFill>
              </a:rPr>
              <a:t>• Data cleaning  </a:t>
            </a:r>
            <a:endParaRPr lang="en-US" sz="800" dirty="0"/>
          </a:p>
        </p:txBody>
      </p:sp>
      <p:sp>
        <p:nvSpPr>
          <p:cNvPr id="39" name="Shape 37"/>
          <p:cNvSpPr/>
          <p:nvPr/>
        </p:nvSpPr>
        <p:spPr>
          <a:xfrm>
            <a:off x="320040" y="3342132"/>
            <a:ext cx="2788920" cy="1034301"/>
          </a:xfrm>
          <a:prstGeom prst="rect">
            <a:avLst/>
          </a:prstGeom>
          <a:solidFill>
            <a:srgbClr val="F5F5F5"/>
          </a:solidFill>
          <a:ln w="12700">
            <a:solidFill>
              <a:srgbClr val="DDDDDD"/>
            </a:solidFill>
            <a:prstDash val="solid"/>
          </a:ln>
        </p:spPr>
        <p:txBody>
          <a:bodyPr/>
          <a:lstStyle/>
          <a:p>
            <a:endParaRPr lang="en-US" dirty="0"/>
          </a:p>
        </p:txBody>
      </p:sp>
      <p:sp>
        <p:nvSpPr>
          <p:cNvPr id="40" name="Shape 38"/>
          <p:cNvSpPr/>
          <p:nvPr/>
        </p:nvSpPr>
        <p:spPr>
          <a:xfrm>
            <a:off x="320040" y="3342132"/>
            <a:ext cx="2788920" cy="288036"/>
          </a:xfrm>
          <a:prstGeom prst="rect">
            <a:avLst/>
          </a:prstGeom>
          <a:solidFill>
            <a:schemeClr val="accent1">
              <a:lumMod val="75000"/>
            </a:schemeClr>
          </a:solidFill>
          <a:ln w="12700">
            <a:noFill/>
            <a:prstDash val="solid"/>
          </a:ln>
        </p:spPr>
        <p:txBody>
          <a:bodyPr/>
          <a:lstStyle/>
          <a:p>
            <a:endParaRPr lang="en-US" dirty="0"/>
          </a:p>
        </p:txBody>
      </p:sp>
      <p:sp>
        <p:nvSpPr>
          <p:cNvPr id="42" name="Text 40"/>
          <p:cNvSpPr/>
          <p:nvPr/>
        </p:nvSpPr>
        <p:spPr>
          <a:xfrm>
            <a:off x="393192" y="3456432"/>
            <a:ext cx="2651760" cy="164592"/>
          </a:xfrm>
          <a:prstGeom prst="rect">
            <a:avLst/>
          </a:prstGeom>
          <a:noFill/>
          <a:ln/>
        </p:spPr>
        <p:txBody>
          <a:bodyPr wrap="square" lIns="0" tIns="0" rIns="0" bIns="0" rtlCol="0" anchor="ctr"/>
          <a:lstStyle/>
          <a:p>
            <a:pPr marL="0" indent="0">
              <a:buNone/>
            </a:pPr>
            <a:endParaRPr lang="en-US" sz="800" dirty="0"/>
          </a:p>
        </p:txBody>
      </p:sp>
      <p:sp>
        <p:nvSpPr>
          <p:cNvPr id="46" name="Shape 44"/>
          <p:cNvSpPr/>
          <p:nvPr/>
        </p:nvSpPr>
        <p:spPr>
          <a:xfrm>
            <a:off x="6135624" y="3284303"/>
            <a:ext cx="2788920" cy="1099237"/>
          </a:xfrm>
          <a:prstGeom prst="rect">
            <a:avLst/>
          </a:prstGeom>
          <a:solidFill>
            <a:srgbClr val="F5F5F5"/>
          </a:solidFill>
          <a:ln w="12700">
            <a:solidFill>
              <a:srgbClr val="DDDDDD"/>
            </a:solidFill>
            <a:prstDash val="solid"/>
          </a:ln>
        </p:spPr>
        <p:txBody>
          <a:bodyPr/>
          <a:lstStyle/>
          <a:p>
            <a:endParaRPr lang="en-US" dirty="0"/>
          </a:p>
        </p:txBody>
      </p:sp>
      <p:sp>
        <p:nvSpPr>
          <p:cNvPr id="47" name="Shape 45"/>
          <p:cNvSpPr/>
          <p:nvPr/>
        </p:nvSpPr>
        <p:spPr>
          <a:xfrm>
            <a:off x="6135624" y="3264407"/>
            <a:ext cx="2788920" cy="344023"/>
          </a:xfrm>
          <a:prstGeom prst="rect">
            <a:avLst/>
          </a:prstGeom>
          <a:solidFill>
            <a:schemeClr val="accent1">
              <a:lumMod val="75000"/>
            </a:schemeClr>
          </a:solidFill>
          <a:ln w="12700">
            <a:noFill/>
            <a:prstDash val="solid"/>
          </a:ln>
        </p:spPr>
        <p:txBody>
          <a:bodyPr/>
          <a:lstStyle/>
          <a:p>
            <a:endParaRPr lang="en-US" dirty="0"/>
          </a:p>
        </p:txBody>
      </p:sp>
      <p:pic>
        <p:nvPicPr>
          <p:cNvPr id="60" name="Picture 2" descr="مبادرة رواد مصر الرقمية - YouTube">
            <a:extLst>
              <a:ext uri="{FF2B5EF4-FFF2-40B4-BE49-F238E27FC236}">
                <a16:creationId xmlns:a16="http://schemas.microsoft.com/office/drawing/2014/main" id="{00362BA3-4869-4FA9-8E9F-2B2BDC2A15EC}"/>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BCB30FB7-B907-434D-AC0E-49A998AE777A}"/>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sp>
        <p:nvSpPr>
          <p:cNvPr id="62" name="Text 28">
            <a:extLst>
              <a:ext uri="{FF2B5EF4-FFF2-40B4-BE49-F238E27FC236}">
                <a16:creationId xmlns:a16="http://schemas.microsoft.com/office/drawing/2014/main" id="{69907E72-A0ED-48F0-95FE-68AC7D592439}"/>
              </a:ext>
            </a:extLst>
          </p:cNvPr>
          <p:cNvSpPr/>
          <p:nvPr/>
        </p:nvSpPr>
        <p:spPr>
          <a:xfrm>
            <a:off x="6194650" y="2481668"/>
            <a:ext cx="2606040" cy="262770"/>
          </a:xfrm>
          <a:prstGeom prst="rect">
            <a:avLst/>
          </a:prstGeom>
          <a:noFill/>
          <a:ln/>
        </p:spPr>
        <p:txBody>
          <a:bodyPr wrap="square" lIns="0" tIns="0" rIns="0" bIns="0" rtlCol="0" anchor="ctr"/>
          <a:lstStyle/>
          <a:p>
            <a:pPr marL="0" indent="0">
              <a:buNone/>
            </a:pPr>
            <a:r>
              <a:rPr lang="en-US" sz="800" dirty="0">
                <a:solidFill>
                  <a:srgbClr val="1A1A1A"/>
                </a:solidFill>
              </a:rPr>
              <a:t>•AI Model</a:t>
            </a:r>
            <a:endParaRPr lang="en-US" sz="800" dirty="0"/>
          </a:p>
        </p:txBody>
      </p:sp>
      <p:sp>
        <p:nvSpPr>
          <p:cNvPr id="66" name="Text 27">
            <a:extLst>
              <a:ext uri="{FF2B5EF4-FFF2-40B4-BE49-F238E27FC236}">
                <a16:creationId xmlns:a16="http://schemas.microsoft.com/office/drawing/2014/main" id="{B2AD031C-89F0-4B03-8DD5-34A21C6C8FAF}"/>
              </a:ext>
            </a:extLst>
          </p:cNvPr>
          <p:cNvSpPr/>
          <p:nvPr/>
        </p:nvSpPr>
        <p:spPr>
          <a:xfrm>
            <a:off x="401511" y="3753163"/>
            <a:ext cx="2606040" cy="246888"/>
          </a:xfrm>
          <a:prstGeom prst="rect">
            <a:avLst/>
          </a:prstGeom>
          <a:noFill/>
          <a:ln/>
        </p:spPr>
        <p:txBody>
          <a:bodyPr wrap="square" lIns="0" tIns="0" rIns="0" bIns="0" rtlCol="0" anchor="ctr"/>
          <a:lstStyle/>
          <a:p>
            <a:pPr marL="0" indent="0">
              <a:buNone/>
            </a:pPr>
            <a:r>
              <a:rPr lang="en-US" sz="800" dirty="0">
                <a:solidFill>
                  <a:srgbClr val="1A1A1A"/>
                </a:solidFill>
              </a:rPr>
              <a:t>• Power BI </a:t>
            </a:r>
            <a:endParaRPr lang="en-US" sz="800" dirty="0"/>
          </a:p>
        </p:txBody>
      </p:sp>
      <p:sp>
        <p:nvSpPr>
          <p:cNvPr id="67" name="Text 27">
            <a:extLst>
              <a:ext uri="{FF2B5EF4-FFF2-40B4-BE49-F238E27FC236}">
                <a16:creationId xmlns:a16="http://schemas.microsoft.com/office/drawing/2014/main" id="{1F7C01D8-7BDF-4D0D-886C-681E95AB0369}"/>
              </a:ext>
            </a:extLst>
          </p:cNvPr>
          <p:cNvSpPr/>
          <p:nvPr/>
        </p:nvSpPr>
        <p:spPr>
          <a:xfrm>
            <a:off x="384048" y="4013767"/>
            <a:ext cx="2606040" cy="246888"/>
          </a:xfrm>
          <a:prstGeom prst="rect">
            <a:avLst/>
          </a:prstGeom>
          <a:noFill/>
          <a:ln/>
        </p:spPr>
        <p:txBody>
          <a:bodyPr wrap="square" lIns="0" tIns="0" rIns="0" bIns="0" rtlCol="0" anchor="ctr"/>
          <a:lstStyle/>
          <a:p>
            <a:pPr marL="0" indent="0">
              <a:buNone/>
            </a:pPr>
            <a:r>
              <a:rPr lang="en-US" sz="800" dirty="0">
                <a:solidFill>
                  <a:srgbClr val="1A1A1A"/>
                </a:solidFill>
              </a:rPr>
              <a:t>• </a:t>
            </a:r>
            <a:r>
              <a:rPr lang="en-US" sz="800" dirty="0"/>
              <a:t>Leader responsibilities</a:t>
            </a:r>
          </a:p>
        </p:txBody>
      </p:sp>
      <p:pic>
        <p:nvPicPr>
          <p:cNvPr id="5" name="Picture 2">
            <a:extLst>
              <a:ext uri="{FF2B5EF4-FFF2-40B4-BE49-F238E27FC236}">
                <a16:creationId xmlns:a16="http://schemas.microsoft.com/office/drawing/2014/main" id="{54E717BF-0170-0907-CCBD-37E78F5E3C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5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AF121DF-96AE-13DD-FF6D-16350865D65E}"/>
              </a:ext>
            </a:extLst>
          </p:cNvPr>
          <p:cNvSpPr txBox="1"/>
          <p:nvPr/>
        </p:nvSpPr>
        <p:spPr>
          <a:xfrm>
            <a:off x="352044" y="3342132"/>
            <a:ext cx="2055915" cy="246221"/>
          </a:xfrm>
          <a:prstGeom prst="rect">
            <a:avLst/>
          </a:prstGeom>
          <a:noFill/>
        </p:spPr>
        <p:txBody>
          <a:bodyPr wrap="square" rtlCol="0">
            <a:spAutoFit/>
          </a:bodyPr>
          <a:lstStyle/>
          <a:p>
            <a:r>
              <a:rPr lang="en-US" sz="1000" b="1" dirty="0">
                <a:solidFill>
                  <a:schemeClr val="bg1"/>
                </a:solidFill>
              </a:rPr>
              <a:t>Youssef Abdullah</a:t>
            </a:r>
          </a:p>
        </p:txBody>
      </p:sp>
      <p:sp>
        <p:nvSpPr>
          <p:cNvPr id="3" name="TextBox 2">
            <a:extLst>
              <a:ext uri="{FF2B5EF4-FFF2-40B4-BE49-F238E27FC236}">
                <a16:creationId xmlns:a16="http://schemas.microsoft.com/office/drawing/2014/main" id="{2534BAA6-CDC0-C53A-D1AD-3B9F36FCD266}"/>
              </a:ext>
            </a:extLst>
          </p:cNvPr>
          <p:cNvSpPr txBox="1"/>
          <p:nvPr/>
        </p:nvSpPr>
        <p:spPr>
          <a:xfrm>
            <a:off x="6197227" y="1801157"/>
            <a:ext cx="2201611" cy="246221"/>
          </a:xfrm>
          <a:prstGeom prst="rect">
            <a:avLst/>
          </a:prstGeom>
          <a:noFill/>
        </p:spPr>
        <p:txBody>
          <a:bodyPr wrap="square" rtlCol="0">
            <a:spAutoFit/>
          </a:bodyPr>
          <a:lstStyle>
            <a:lvl1pPr>
              <a:defRPr sz="1000" b="1">
                <a:solidFill>
                  <a:schemeClr val="bg1"/>
                </a:solidFill>
              </a:defRPr>
            </a:lvl1pPr>
          </a:lstStyle>
          <a:p>
            <a:r>
              <a:rPr lang="en-US" dirty="0"/>
              <a:t>Mohamed Essam</a:t>
            </a:r>
          </a:p>
        </p:txBody>
      </p:sp>
      <p:sp>
        <p:nvSpPr>
          <p:cNvPr id="7" name="Text 28">
            <a:extLst>
              <a:ext uri="{FF2B5EF4-FFF2-40B4-BE49-F238E27FC236}">
                <a16:creationId xmlns:a16="http://schemas.microsoft.com/office/drawing/2014/main" id="{71E93671-7548-E9D7-1E1A-895E7A1C92D0}"/>
              </a:ext>
            </a:extLst>
          </p:cNvPr>
          <p:cNvSpPr/>
          <p:nvPr/>
        </p:nvSpPr>
        <p:spPr>
          <a:xfrm>
            <a:off x="3337560" y="3238264"/>
            <a:ext cx="2606040" cy="246888"/>
          </a:xfrm>
          <a:prstGeom prst="rect">
            <a:avLst/>
          </a:prstGeom>
          <a:noFill/>
          <a:ln/>
        </p:spPr>
        <p:txBody>
          <a:bodyPr wrap="square" lIns="0" tIns="0" rIns="0" bIns="0" rtlCol="0" anchor="ctr"/>
          <a:lstStyle/>
          <a:p>
            <a:r>
              <a:rPr lang="en-US" sz="800" dirty="0">
                <a:solidFill>
                  <a:srgbClr val="1A1A1A"/>
                </a:solidFill>
              </a:rPr>
              <a:t>• Presentation design &amp; structure</a:t>
            </a:r>
            <a:endParaRPr lang="en-US" sz="800" dirty="0"/>
          </a:p>
        </p:txBody>
      </p:sp>
      <p:sp>
        <p:nvSpPr>
          <p:cNvPr id="9" name="Text 28">
            <a:extLst>
              <a:ext uri="{FF2B5EF4-FFF2-40B4-BE49-F238E27FC236}">
                <a16:creationId xmlns:a16="http://schemas.microsoft.com/office/drawing/2014/main" id="{7D376987-FE0A-D5CF-8C6C-224487286E3E}"/>
              </a:ext>
            </a:extLst>
          </p:cNvPr>
          <p:cNvSpPr/>
          <p:nvPr/>
        </p:nvSpPr>
        <p:spPr>
          <a:xfrm>
            <a:off x="3319272" y="2939332"/>
            <a:ext cx="2606040" cy="246888"/>
          </a:xfrm>
          <a:prstGeom prst="rect">
            <a:avLst/>
          </a:prstGeom>
          <a:noFill/>
          <a:ln/>
        </p:spPr>
        <p:txBody>
          <a:bodyPr wrap="square" lIns="0" tIns="0" rIns="0" bIns="0" rtlCol="0" anchor="ctr"/>
          <a:lstStyle/>
          <a:p>
            <a:pPr marL="0" indent="0">
              <a:buNone/>
            </a:pPr>
            <a:r>
              <a:rPr lang="en-US" sz="800" dirty="0">
                <a:solidFill>
                  <a:srgbClr val="1A1A1A"/>
                </a:solidFill>
              </a:rPr>
              <a:t>• Power bi &amp; Figma</a:t>
            </a:r>
            <a:endParaRPr lang="en-US" sz="800" dirty="0"/>
          </a:p>
        </p:txBody>
      </p:sp>
      <p:sp>
        <p:nvSpPr>
          <p:cNvPr id="38" name="Text 28">
            <a:extLst>
              <a:ext uri="{FF2B5EF4-FFF2-40B4-BE49-F238E27FC236}">
                <a16:creationId xmlns:a16="http://schemas.microsoft.com/office/drawing/2014/main" id="{032B7E3A-A4B9-7CA3-3C57-D1FEF98A1EE5}"/>
              </a:ext>
            </a:extLst>
          </p:cNvPr>
          <p:cNvSpPr/>
          <p:nvPr/>
        </p:nvSpPr>
        <p:spPr>
          <a:xfrm>
            <a:off x="6312331" y="3721469"/>
            <a:ext cx="2606040" cy="246888"/>
          </a:xfrm>
          <a:prstGeom prst="rect">
            <a:avLst/>
          </a:prstGeom>
          <a:noFill/>
          <a:ln/>
        </p:spPr>
        <p:txBody>
          <a:bodyPr wrap="square" lIns="0" tIns="0" rIns="0" bIns="0" rtlCol="0" anchor="ctr"/>
          <a:lstStyle/>
          <a:p>
            <a:pPr marL="0" indent="0">
              <a:buNone/>
            </a:pPr>
            <a:endParaRPr lang="en-US" sz="800" dirty="0"/>
          </a:p>
        </p:txBody>
      </p:sp>
      <p:sp>
        <p:nvSpPr>
          <p:cNvPr id="43" name="Text 28">
            <a:extLst>
              <a:ext uri="{FF2B5EF4-FFF2-40B4-BE49-F238E27FC236}">
                <a16:creationId xmlns:a16="http://schemas.microsoft.com/office/drawing/2014/main" id="{CDFA8E6B-9F52-55E0-D3DC-757A46A0ED1B}"/>
              </a:ext>
            </a:extLst>
          </p:cNvPr>
          <p:cNvSpPr/>
          <p:nvPr/>
        </p:nvSpPr>
        <p:spPr>
          <a:xfrm>
            <a:off x="6227064" y="3981145"/>
            <a:ext cx="2606040" cy="246888"/>
          </a:xfrm>
          <a:prstGeom prst="rect">
            <a:avLst/>
          </a:prstGeom>
          <a:noFill/>
          <a:ln/>
        </p:spPr>
        <p:txBody>
          <a:bodyPr wrap="square" lIns="0" tIns="0" rIns="0" bIns="0" rtlCol="0" anchor="ctr"/>
          <a:lstStyle/>
          <a:p>
            <a:pPr marL="0" indent="0">
              <a:buNone/>
            </a:pPr>
            <a:r>
              <a:rPr lang="en-US" sz="800" dirty="0">
                <a:solidFill>
                  <a:srgbClr val="1A1A1A"/>
                </a:solidFill>
              </a:rPr>
              <a:t>• Fabric</a:t>
            </a:r>
            <a:endParaRPr lang="en-US" sz="800" dirty="0"/>
          </a:p>
        </p:txBody>
      </p:sp>
      <p:sp>
        <p:nvSpPr>
          <p:cNvPr id="45" name="Text 28">
            <a:extLst>
              <a:ext uri="{FF2B5EF4-FFF2-40B4-BE49-F238E27FC236}">
                <a16:creationId xmlns:a16="http://schemas.microsoft.com/office/drawing/2014/main" id="{F11EB9E1-FEE8-C8E8-72BF-74032E593D9F}"/>
              </a:ext>
            </a:extLst>
          </p:cNvPr>
          <p:cNvSpPr/>
          <p:nvPr/>
        </p:nvSpPr>
        <p:spPr>
          <a:xfrm>
            <a:off x="6227064" y="3710478"/>
            <a:ext cx="2606040" cy="246888"/>
          </a:xfrm>
          <a:prstGeom prst="rect">
            <a:avLst/>
          </a:prstGeom>
          <a:noFill/>
          <a:ln/>
        </p:spPr>
        <p:txBody>
          <a:bodyPr wrap="square" lIns="0" tIns="0" rIns="0" bIns="0" rtlCol="0" anchor="ctr"/>
          <a:lstStyle/>
          <a:p>
            <a:pPr marL="0" indent="0">
              <a:buNone/>
            </a:pPr>
            <a:r>
              <a:rPr lang="en-US" sz="800" dirty="0">
                <a:solidFill>
                  <a:srgbClr val="1A1A1A"/>
                </a:solidFill>
              </a:rPr>
              <a:t>• Data cleaning</a:t>
            </a:r>
            <a:endParaRPr lang="en-US" sz="800" dirty="0"/>
          </a:p>
        </p:txBody>
      </p:sp>
      <p:sp>
        <p:nvSpPr>
          <p:cNvPr id="51" name="TextBox 50">
            <a:extLst>
              <a:ext uri="{FF2B5EF4-FFF2-40B4-BE49-F238E27FC236}">
                <a16:creationId xmlns:a16="http://schemas.microsoft.com/office/drawing/2014/main" id="{C74B0368-6BFF-683C-C082-B14C40FF226D}"/>
              </a:ext>
            </a:extLst>
          </p:cNvPr>
          <p:cNvSpPr txBox="1"/>
          <p:nvPr/>
        </p:nvSpPr>
        <p:spPr>
          <a:xfrm>
            <a:off x="374904" y="1843559"/>
            <a:ext cx="2421948" cy="246221"/>
          </a:xfrm>
          <a:prstGeom prst="rect">
            <a:avLst/>
          </a:prstGeom>
          <a:noFill/>
        </p:spPr>
        <p:txBody>
          <a:bodyPr wrap="square" rtlCol="0">
            <a:spAutoFit/>
          </a:bodyPr>
          <a:lstStyle/>
          <a:p>
            <a:r>
              <a:rPr lang="en-US" sz="1000" b="1" dirty="0">
                <a:solidFill>
                  <a:schemeClr val="bg1"/>
                </a:solidFill>
              </a:rPr>
              <a:t>Nourhan Khalifa</a:t>
            </a:r>
          </a:p>
        </p:txBody>
      </p:sp>
      <p:sp>
        <p:nvSpPr>
          <p:cNvPr id="52" name="TextBox 51">
            <a:extLst>
              <a:ext uri="{FF2B5EF4-FFF2-40B4-BE49-F238E27FC236}">
                <a16:creationId xmlns:a16="http://schemas.microsoft.com/office/drawing/2014/main" id="{331C2C8F-9559-E2D4-975C-14FCDA9369AE}"/>
              </a:ext>
            </a:extLst>
          </p:cNvPr>
          <p:cNvSpPr txBox="1"/>
          <p:nvPr/>
        </p:nvSpPr>
        <p:spPr>
          <a:xfrm>
            <a:off x="3271018" y="2575014"/>
            <a:ext cx="2181340" cy="246221"/>
          </a:xfrm>
          <a:prstGeom prst="rect">
            <a:avLst/>
          </a:prstGeom>
          <a:noFill/>
        </p:spPr>
        <p:txBody>
          <a:bodyPr wrap="square" rtlCol="0">
            <a:spAutoFit/>
          </a:bodyPr>
          <a:lstStyle>
            <a:lvl1pPr>
              <a:defRPr sz="1000" b="1">
                <a:solidFill>
                  <a:schemeClr val="bg1"/>
                </a:solidFill>
              </a:defRPr>
            </a:lvl1pPr>
          </a:lstStyle>
          <a:p>
            <a:r>
              <a:rPr lang="en-US" dirty="0"/>
              <a:t>Hannah Hany</a:t>
            </a:r>
          </a:p>
        </p:txBody>
      </p:sp>
      <p:sp>
        <p:nvSpPr>
          <p:cNvPr id="58" name="TextBox 57">
            <a:extLst>
              <a:ext uri="{FF2B5EF4-FFF2-40B4-BE49-F238E27FC236}">
                <a16:creationId xmlns:a16="http://schemas.microsoft.com/office/drawing/2014/main" id="{9E6B4961-E578-7A0C-2668-8EC85CD398E4}"/>
              </a:ext>
            </a:extLst>
          </p:cNvPr>
          <p:cNvSpPr txBox="1"/>
          <p:nvPr/>
        </p:nvSpPr>
        <p:spPr>
          <a:xfrm>
            <a:off x="6194650" y="3282315"/>
            <a:ext cx="1769970" cy="246221"/>
          </a:xfrm>
          <a:prstGeom prst="rect">
            <a:avLst/>
          </a:prstGeom>
          <a:noFill/>
        </p:spPr>
        <p:txBody>
          <a:bodyPr wrap="square" rtlCol="0">
            <a:spAutoFit/>
          </a:bodyPr>
          <a:lstStyle>
            <a:lvl1pPr>
              <a:defRPr sz="1000" b="1">
                <a:solidFill>
                  <a:schemeClr val="bg1"/>
                </a:solidFill>
              </a:defRPr>
            </a:lvl1pPr>
          </a:lstStyle>
          <a:p>
            <a:r>
              <a:rPr lang="en-US" dirty="0"/>
              <a:t>Youssef Amir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7160" y="219456"/>
            <a:ext cx="475488" cy="475488"/>
          </a:xfrm>
          <a:prstGeom prst="rect">
            <a:avLst/>
          </a:prstGeom>
          <a:noFill/>
          <a:ln/>
        </p:spPr>
        <p:txBody>
          <a:bodyPr wrap="square" lIns="0" tIns="0" rIns="0" bIns="0" rtlCol="0" anchor="ctr"/>
          <a:lstStyle/>
          <a:p>
            <a:pPr marL="0" indent="0" algn="ctr">
              <a:buNone/>
            </a:pPr>
            <a:r>
              <a:rPr lang="en-US" sz="700" b="1" dirty="0">
                <a:solidFill>
                  <a:srgbClr val="FFFFFF"/>
                </a:solidFill>
              </a:rPr>
              <a:t>DEPI</a:t>
            </a:r>
            <a:endParaRPr lang="en-US" sz="700" dirty="0"/>
          </a:p>
        </p:txBody>
      </p:sp>
      <p:sp>
        <p:nvSpPr>
          <p:cNvPr id="10" name="Text 8"/>
          <p:cNvSpPr/>
          <p:nvPr/>
        </p:nvSpPr>
        <p:spPr>
          <a:xfrm>
            <a:off x="137160" y="4850892"/>
            <a:ext cx="1097280" cy="292608"/>
          </a:xfrm>
          <a:prstGeom prst="rect">
            <a:avLst/>
          </a:prstGeom>
          <a:noFill/>
          <a:ln/>
        </p:spPr>
        <p:txBody>
          <a:bodyPr wrap="square" lIns="0" tIns="0" rIns="0" bIns="0" rtlCol="0" anchor="ctr"/>
          <a:lstStyle/>
          <a:p>
            <a:pPr marL="0" indent="0">
              <a:buNone/>
            </a:pPr>
            <a:r>
              <a:rPr lang="en-US" sz="900" dirty="0">
                <a:solidFill>
                  <a:srgbClr val="FFFFFF"/>
                </a:solidFill>
              </a:rPr>
              <a:t>12/05</a:t>
            </a:r>
            <a:r>
              <a:rPr lang="ar-EG" sz="900" dirty="0">
                <a:solidFill>
                  <a:srgbClr val="FFFFFF"/>
                </a:solidFill>
              </a:rPr>
              <a:t>/</a:t>
            </a:r>
            <a:r>
              <a:rPr lang="en-US" sz="900" dirty="0">
                <a:solidFill>
                  <a:srgbClr val="FFFFFF"/>
                </a:solidFill>
              </a:rPr>
              <a:t>2026</a:t>
            </a:r>
            <a:endParaRPr lang="en-US" sz="900" dirty="0"/>
          </a:p>
        </p:txBody>
      </p:sp>
      <p:sp>
        <p:nvSpPr>
          <p:cNvPr id="12" name="Shape 10"/>
          <p:cNvSpPr/>
          <p:nvPr/>
        </p:nvSpPr>
        <p:spPr>
          <a:xfrm>
            <a:off x="8732520" y="4878324"/>
            <a:ext cx="347472" cy="237744"/>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8732520" y="4878324"/>
            <a:ext cx="347472" cy="237744"/>
          </a:xfrm>
          <a:prstGeom prst="rect">
            <a:avLst/>
          </a:prstGeom>
          <a:noFill/>
          <a:ln/>
        </p:spPr>
        <p:txBody>
          <a:bodyPr wrap="square" lIns="0" tIns="0" rIns="0" bIns="0" rtlCol="0" anchor="ctr"/>
          <a:lstStyle/>
          <a:p>
            <a:pPr marL="0" indent="0" algn="ctr">
              <a:buNone/>
            </a:pPr>
            <a:endParaRPr lang="en-US" sz="1000" dirty="0"/>
          </a:p>
        </p:txBody>
      </p:sp>
      <p:sp>
        <p:nvSpPr>
          <p:cNvPr id="15" name="Text 13"/>
          <p:cNvSpPr/>
          <p:nvPr/>
        </p:nvSpPr>
        <p:spPr>
          <a:xfrm>
            <a:off x="457200" y="1124712"/>
            <a:ext cx="8229600" cy="822960"/>
          </a:xfrm>
          <a:prstGeom prst="rect">
            <a:avLst/>
          </a:prstGeom>
          <a:noFill/>
          <a:ln/>
        </p:spPr>
        <p:txBody>
          <a:bodyPr wrap="square" lIns="0" tIns="0" rIns="0" bIns="0" rtlCol="0" anchor="ctr"/>
          <a:lstStyle/>
          <a:p>
            <a:pPr marL="0" indent="0" algn="ctr">
              <a:buNone/>
            </a:pPr>
            <a:r>
              <a:rPr lang="en-US" sz="4400" b="1" dirty="0">
                <a:solidFill>
                  <a:srgbClr val="7030A0"/>
                </a:solidFill>
                <a:latin typeface="Times New Roman" panose="02020603050405020304" pitchFamily="18" charset="0"/>
                <a:cs typeface="Times New Roman" panose="02020603050405020304" pitchFamily="18" charset="0"/>
              </a:rPr>
              <a:t>Thank You!</a:t>
            </a:r>
            <a:endParaRPr lang="en-US" sz="4400" dirty="0">
              <a:solidFill>
                <a:srgbClr val="7030A0"/>
              </a:solidFill>
              <a:latin typeface="Times New Roman" panose="02020603050405020304" pitchFamily="18" charset="0"/>
              <a:cs typeface="Times New Roman" panose="02020603050405020304" pitchFamily="18" charset="0"/>
            </a:endParaRPr>
          </a:p>
        </p:txBody>
      </p:sp>
      <p:sp>
        <p:nvSpPr>
          <p:cNvPr id="16" name="Shape 14"/>
          <p:cNvSpPr/>
          <p:nvPr/>
        </p:nvSpPr>
        <p:spPr>
          <a:xfrm>
            <a:off x="2286000" y="2039112"/>
            <a:ext cx="4572000" cy="0"/>
          </a:xfrm>
          <a:prstGeom prst="line">
            <a:avLst/>
          </a:prstGeom>
          <a:noFill/>
          <a:ln w="38100">
            <a:solidFill>
              <a:schemeClr val="accent1"/>
            </a:solidFill>
            <a:prstDash val="solid"/>
          </a:ln>
        </p:spPr>
        <p:txBody>
          <a:bodyPr/>
          <a:lstStyle/>
          <a:p>
            <a:endParaRPr lang="en-US"/>
          </a:p>
        </p:txBody>
      </p:sp>
      <p:sp>
        <p:nvSpPr>
          <p:cNvPr id="17" name="Text 15"/>
          <p:cNvSpPr/>
          <p:nvPr/>
        </p:nvSpPr>
        <p:spPr>
          <a:xfrm>
            <a:off x="457200" y="2176272"/>
            <a:ext cx="8229600" cy="347472"/>
          </a:xfrm>
          <a:prstGeom prst="rect">
            <a:avLst/>
          </a:prstGeom>
          <a:noFill/>
          <a:ln/>
        </p:spPr>
        <p:txBody>
          <a:bodyPr wrap="square" lIns="0" tIns="0" rIns="0" bIns="0" rtlCol="0" anchor="ctr"/>
          <a:lstStyle/>
          <a:p>
            <a:pPr algn="ctr"/>
            <a:r>
              <a:rPr lang="en-US" sz="1400" b="1" dirty="0">
                <a:solidFill>
                  <a:srgbClr val="7030A0"/>
                </a:solidFill>
                <a:latin typeface="Times New Roman" panose="02020603050405020304" pitchFamily="18" charset="0"/>
                <a:cs typeface="Times New Roman" panose="02020603050405020304" pitchFamily="18" charset="0"/>
              </a:rPr>
              <a:t>Exoplanet Habitability Zone </a:t>
            </a:r>
          </a:p>
          <a:p>
            <a:pPr marL="0" indent="0" algn="ctr">
              <a:buNone/>
            </a:pPr>
            <a:r>
              <a:rPr lang="en-US" sz="1400" b="1" dirty="0">
                <a:solidFill>
                  <a:srgbClr val="7030A0"/>
                </a:solidFill>
              </a:rPr>
              <a:t>— DEPI Data Analysis Track</a:t>
            </a:r>
          </a:p>
        </p:txBody>
      </p:sp>
      <p:sp>
        <p:nvSpPr>
          <p:cNvPr id="18" name="Text 16"/>
          <p:cNvSpPr/>
          <p:nvPr/>
        </p:nvSpPr>
        <p:spPr>
          <a:xfrm>
            <a:off x="457200" y="2606040"/>
            <a:ext cx="8229600" cy="274320"/>
          </a:xfrm>
          <a:prstGeom prst="rect">
            <a:avLst/>
          </a:prstGeom>
          <a:noFill/>
          <a:ln/>
        </p:spPr>
        <p:txBody>
          <a:bodyPr wrap="square" lIns="0" tIns="0" rIns="0" bIns="0" rtlCol="0" anchor="ctr"/>
          <a:lstStyle/>
          <a:p>
            <a:pPr marL="0" indent="0" algn="ctr">
              <a:buNone/>
            </a:pPr>
            <a:r>
              <a:rPr lang="en-US" sz="1400" b="1" i="1" dirty="0">
                <a:solidFill>
                  <a:srgbClr val="7030A0"/>
                </a:solidFill>
              </a:rPr>
              <a:t>Questions &amp; Feedback Welcome</a:t>
            </a:r>
            <a:endParaRPr lang="en-US" sz="1400" b="1" dirty="0">
              <a:solidFill>
                <a:srgbClr val="7030A0"/>
              </a:solidFill>
            </a:endParaRPr>
          </a:p>
        </p:txBody>
      </p:sp>
      <p:sp>
        <p:nvSpPr>
          <p:cNvPr id="19" name="Shape 17"/>
          <p:cNvSpPr/>
          <p:nvPr/>
        </p:nvSpPr>
        <p:spPr>
          <a:xfrm>
            <a:off x="274320" y="3005094"/>
            <a:ext cx="1353312" cy="502920"/>
          </a:xfrm>
          <a:prstGeom prst="rect">
            <a:avLst/>
          </a:prstGeom>
          <a:solidFill>
            <a:srgbClr val="7030A0">
              <a:alpha val="80000"/>
            </a:srgbClr>
          </a:solidFill>
          <a:ln w="12700">
            <a:solidFill>
              <a:srgbClr val="7030A0"/>
            </a:solidFill>
            <a:prstDash val="solid"/>
          </a:ln>
        </p:spPr>
        <p:txBody>
          <a:bodyPr/>
          <a:lstStyle/>
          <a:p>
            <a:endParaRPr lang="en-US"/>
          </a:p>
        </p:txBody>
      </p:sp>
      <p:sp>
        <p:nvSpPr>
          <p:cNvPr id="20" name="Text 18"/>
          <p:cNvSpPr/>
          <p:nvPr/>
        </p:nvSpPr>
        <p:spPr>
          <a:xfrm>
            <a:off x="281093" y="3118104"/>
            <a:ext cx="1353312" cy="502920"/>
          </a:xfrm>
          <a:prstGeom prst="rect">
            <a:avLst/>
          </a:prstGeom>
          <a:noFill/>
          <a:ln/>
        </p:spPr>
        <p:txBody>
          <a:bodyPr wrap="square" lIns="0" tIns="0" rIns="0" bIns="0" rtlCol="0" anchor="ctr"/>
          <a:lstStyle/>
          <a:p>
            <a:pPr algn="ctr"/>
            <a:r>
              <a:rPr lang="en-US" sz="1400" dirty="0">
                <a:solidFill>
                  <a:schemeClr val="bg1"/>
                </a:solidFill>
                <a:latin typeface="Times New Roman" panose="02020603050405020304" pitchFamily="18" charset="0"/>
                <a:cs typeface="Times New Roman" panose="02020603050405020304" pitchFamily="18" charset="0"/>
              </a:rPr>
              <a:t>Youssef Abdullah</a:t>
            </a:r>
          </a:p>
          <a:p>
            <a:pPr marL="0" indent="0" algn="ctr">
              <a:buNone/>
            </a:pP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1" name="Shape 19"/>
          <p:cNvSpPr/>
          <p:nvPr/>
        </p:nvSpPr>
        <p:spPr>
          <a:xfrm>
            <a:off x="1719072" y="3005094"/>
            <a:ext cx="1353312" cy="502920"/>
          </a:xfrm>
          <a:prstGeom prst="rect">
            <a:avLst/>
          </a:prstGeom>
          <a:solidFill>
            <a:srgbClr val="002060">
              <a:alpha val="80000"/>
            </a:srgbClr>
          </a:solidFill>
          <a:ln w="12700">
            <a:solidFill>
              <a:srgbClr val="7030A0"/>
            </a:solidFill>
            <a:prstDash val="solid"/>
          </a:ln>
        </p:spPr>
        <p:txBody>
          <a:bodyPr/>
          <a:lstStyle/>
          <a:p>
            <a:endParaRPr lang="en-US" dirty="0"/>
          </a:p>
        </p:txBody>
      </p:sp>
      <p:sp>
        <p:nvSpPr>
          <p:cNvPr id="22" name="Text 20"/>
          <p:cNvSpPr/>
          <p:nvPr/>
        </p:nvSpPr>
        <p:spPr>
          <a:xfrm>
            <a:off x="1719072" y="2999232"/>
            <a:ext cx="1353312" cy="502920"/>
          </a:xfrm>
          <a:prstGeom prst="rect">
            <a:avLst/>
          </a:prstGeom>
          <a:noFill/>
          <a:ln/>
        </p:spPr>
        <p:txBody>
          <a:bodyPr wrap="square" lIns="0" tIns="0" rIns="0" bIns="0" rtlCol="0" anchor="ctr"/>
          <a:lstStyle/>
          <a:p>
            <a:pPr marL="0" indent="0" algn="ctr">
              <a:buNone/>
            </a:pPr>
            <a:r>
              <a:rPr lang="en-US" sz="1400" dirty="0">
                <a:solidFill>
                  <a:schemeClr val="bg1"/>
                </a:solidFill>
                <a:latin typeface="Times New Roman" panose="02020603050405020304" pitchFamily="18" charset="0"/>
                <a:cs typeface="Times New Roman" panose="02020603050405020304" pitchFamily="18" charset="0"/>
              </a:rPr>
              <a:t>Hannah Hanny</a:t>
            </a:r>
          </a:p>
        </p:txBody>
      </p:sp>
      <p:sp>
        <p:nvSpPr>
          <p:cNvPr id="24" name="Text 22"/>
          <p:cNvSpPr/>
          <p:nvPr/>
        </p:nvSpPr>
        <p:spPr>
          <a:xfrm>
            <a:off x="3157051" y="3004898"/>
            <a:ext cx="1353312" cy="502920"/>
          </a:xfrm>
          <a:prstGeom prst="rect">
            <a:avLst/>
          </a:prstGeom>
          <a:solidFill>
            <a:srgbClr val="7030A0">
              <a:alpha val="80000"/>
            </a:srgbClr>
          </a:solidFill>
          <a:ln w="12700">
            <a:solidFill>
              <a:srgbClr val="7030A0"/>
            </a:solidFill>
            <a:prstDash val="solid"/>
          </a:ln>
        </p:spPr>
        <p:txBody>
          <a:bodyPr wrap="square" lIns="0" tIns="0" rIns="0" bIns="0" rtlCol="0" anchor="ctr"/>
          <a:lstStyle/>
          <a:p>
            <a:pPr marL="0" indent="0" algn="ctr">
              <a:buNone/>
            </a:pPr>
            <a:r>
              <a:rPr lang="en-US" sz="1400" dirty="0">
                <a:solidFill>
                  <a:schemeClr val="bg1"/>
                </a:solidFill>
                <a:latin typeface="Times New Roman" panose="02020603050405020304" pitchFamily="18" charset="0"/>
                <a:cs typeface="Times New Roman" panose="02020603050405020304" pitchFamily="18" charset="0"/>
              </a:rPr>
              <a:t>Mohamed Essam</a:t>
            </a:r>
          </a:p>
        </p:txBody>
      </p:sp>
      <p:sp>
        <p:nvSpPr>
          <p:cNvPr id="25" name="Shape 23"/>
          <p:cNvSpPr/>
          <p:nvPr/>
        </p:nvSpPr>
        <p:spPr>
          <a:xfrm>
            <a:off x="4584657" y="3004388"/>
            <a:ext cx="1353312" cy="502920"/>
          </a:xfrm>
          <a:prstGeom prst="rect">
            <a:avLst/>
          </a:prstGeom>
          <a:solidFill>
            <a:srgbClr val="002060">
              <a:alpha val="80000"/>
            </a:srgbClr>
          </a:solidFill>
          <a:ln w="12700">
            <a:solidFill>
              <a:srgbClr val="7030A0"/>
            </a:solidFill>
            <a:prstDash val="solid"/>
          </a:ln>
        </p:spPr>
        <p:txBody>
          <a:bodyPr/>
          <a:lstStyle/>
          <a:p>
            <a:endParaRPr lang="en-US" dirty="0"/>
          </a:p>
        </p:txBody>
      </p:sp>
      <p:sp>
        <p:nvSpPr>
          <p:cNvPr id="26" name="Text 24"/>
          <p:cNvSpPr/>
          <p:nvPr/>
        </p:nvSpPr>
        <p:spPr>
          <a:xfrm>
            <a:off x="4608576" y="2999232"/>
            <a:ext cx="1353312" cy="502920"/>
          </a:xfrm>
          <a:prstGeom prst="rect">
            <a:avLst/>
          </a:prstGeom>
          <a:noFill/>
          <a:ln/>
        </p:spPr>
        <p:txBody>
          <a:bodyPr wrap="square" lIns="0" tIns="0" rIns="0" bIns="0" rtlCol="0" anchor="ctr"/>
          <a:lstStyle/>
          <a:p>
            <a:pPr marL="0" indent="0" algn="ctr">
              <a:buNone/>
            </a:pPr>
            <a:r>
              <a:rPr lang="en-US" sz="1400" dirty="0">
                <a:solidFill>
                  <a:schemeClr val="bg1"/>
                </a:solidFill>
                <a:latin typeface="Times New Roman" panose="02020603050405020304" pitchFamily="18" charset="0"/>
                <a:cs typeface="Times New Roman" panose="02020603050405020304" pitchFamily="18" charset="0"/>
              </a:rPr>
              <a:t>Nourhan Khalifa</a:t>
            </a:r>
          </a:p>
        </p:txBody>
      </p:sp>
      <p:sp>
        <p:nvSpPr>
          <p:cNvPr id="27" name="Shape 25"/>
          <p:cNvSpPr/>
          <p:nvPr/>
        </p:nvSpPr>
        <p:spPr>
          <a:xfrm>
            <a:off x="6053328" y="3005094"/>
            <a:ext cx="1353312" cy="502920"/>
          </a:xfrm>
          <a:prstGeom prst="rect">
            <a:avLst/>
          </a:prstGeom>
          <a:solidFill>
            <a:srgbClr val="7030A0">
              <a:alpha val="80000"/>
            </a:srgbClr>
          </a:solidFill>
          <a:ln w="12700">
            <a:solidFill>
              <a:srgbClr val="7030A0"/>
            </a:solidFill>
            <a:prstDash val="solid"/>
          </a:ln>
        </p:spPr>
        <p:txBody>
          <a:bodyPr/>
          <a:lstStyle/>
          <a:p>
            <a:endParaRPr lang="en-US"/>
          </a:p>
        </p:txBody>
      </p:sp>
      <p:sp>
        <p:nvSpPr>
          <p:cNvPr id="28" name="Text 26"/>
          <p:cNvSpPr/>
          <p:nvPr/>
        </p:nvSpPr>
        <p:spPr>
          <a:xfrm>
            <a:off x="6053328" y="2999232"/>
            <a:ext cx="1353312" cy="502920"/>
          </a:xfrm>
          <a:prstGeom prst="rect">
            <a:avLst/>
          </a:prstGeom>
          <a:noFill/>
          <a:ln/>
        </p:spPr>
        <p:txBody>
          <a:bodyPr wrap="square" lIns="0" tIns="0" rIns="0" bIns="0" rtlCol="0" anchor="ctr"/>
          <a:lstStyle/>
          <a:p>
            <a:pPr marL="0" indent="0" algn="ctr">
              <a:buNone/>
            </a:pPr>
            <a:r>
              <a:rPr lang="en-US" sz="1400" dirty="0">
                <a:solidFill>
                  <a:schemeClr val="bg1"/>
                </a:solidFill>
                <a:latin typeface="Times New Roman" panose="02020603050405020304" pitchFamily="18" charset="0"/>
                <a:cs typeface="Times New Roman" panose="02020603050405020304" pitchFamily="18" charset="0"/>
              </a:rPr>
              <a:t>Youssef Amir </a:t>
            </a:r>
          </a:p>
        </p:txBody>
      </p:sp>
      <p:sp>
        <p:nvSpPr>
          <p:cNvPr id="29" name="Shape 27"/>
          <p:cNvSpPr/>
          <p:nvPr/>
        </p:nvSpPr>
        <p:spPr>
          <a:xfrm>
            <a:off x="7498080" y="3005094"/>
            <a:ext cx="1353312" cy="502920"/>
          </a:xfrm>
          <a:prstGeom prst="rect">
            <a:avLst/>
          </a:prstGeom>
          <a:solidFill>
            <a:srgbClr val="002060">
              <a:alpha val="80000"/>
            </a:srgbClr>
          </a:solidFill>
          <a:ln w="12700">
            <a:solidFill>
              <a:schemeClr val="accent1"/>
            </a:solidFill>
            <a:prstDash val="solid"/>
          </a:ln>
        </p:spPr>
        <p:txBody>
          <a:bodyPr/>
          <a:lstStyle/>
          <a:p>
            <a:endParaRPr lang="en-US" dirty="0"/>
          </a:p>
        </p:txBody>
      </p:sp>
      <p:sp>
        <p:nvSpPr>
          <p:cNvPr id="30" name="Text 28"/>
          <p:cNvSpPr/>
          <p:nvPr/>
        </p:nvSpPr>
        <p:spPr>
          <a:xfrm>
            <a:off x="7572374" y="2999232"/>
            <a:ext cx="1279017" cy="458523"/>
          </a:xfrm>
          <a:prstGeom prst="rect">
            <a:avLst/>
          </a:prstGeom>
          <a:noFill/>
          <a:ln>
            <a:noFill/>
          </a:ln>
        </p:spPr>
        <p:txBody>
          <a:bodyPr wrap="square" lIns="0" tIns="0" rIns="0" bIns="0" rtlCol="0" anchor="ctr"/>
          <a:lstStyle/>
          <a:p>
            <a:pPr marL="0" indent="0" algn="ctr">
              <a:buNone/>
            </a:pPr>
            <a:r>
              <a:rPr lang="en-US" sz="1400" dirty="0">
                <a:solidFill>
                  <a:schemeClr val="bg1"/>
                </a:solidFill>
                <a:latin typeface="Times New Roman" panose="02020603050405020304" pitchFamily="18" charset="0"/>
                <a:cs typeface="Times New Roman" panose="02020603050405020304" pitchFamily="18" charset="0"/>
              </a:rPr>
              <a:t>Reham Osama</a:t>
            </a:r>
          </a:p>
        </p:txBody>
      </p:sp>
      <p:sp>
        <p:nvSpPr>
          <p:cNvPr id="31" name="Text 29"/>
          <p:cNvSpPr/>
          <p:nvPr/>
        </p:nvSpPr>
        <p:spPr>
          <a:xfrm>
            <a:off x="493776" y="3584448"/>
            <a:ext cx="8229600" cy="274320"/>
          </a:xfrm>
          <a:prstGeom prst="rect">
            <a:avLst/>
          </a:prstGeom>
          <a:noFill/>
          <a:ln/>
        </p:spPr>
        <p:txBody>
          <a:bodyPr wrap="square" lIns="0" tIns="0" rIns="0" bIns="0" rtlCol="0" anchor="ctr"/>
          <a:lstStyle/>
          <a:p>
            <a:pPr algn="ctr"/>
            <a:r>
              <a:rPr lang="en-US" sz="950" b="1" dirty="0"/>
              <a:t>Built with: • Python  • Figma  • Power BI</a:t>
            </a:r>
          </a:p>
        </p:txBody>
      </p:sp>
      <p:pic>
        <p:nvPicPr>
          <p:cNvPr id="32" name="Picture 2" descr="مبادرة رواد مصر الرقمية - YouTube">
            <a:extLst>
              <a:ext uri="{FF2B5EF4-FFF2-40B4-BE49-F238E27FC236}">
                <a16:creationId xmlns:a16="http://schemas.microsoft.com/office/drawing/2014/main" id="{889C3928-EDE9-48E7-BB9B-D1EA1A2C184E}"/>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333" b="20000"/>
          <a:stretch/>
        </p:blipFill>
        <p:spPr bwMode="auto">
          <a:xfrm>
            <a:off x="-73152" y="138189"/>
            <a:ext cx="1097280" cy="67665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الأصالة والمعاصرة: من عراقة الماضي نبني مستقبلنا ومن ينبوع التاريخ نستقي  الرؤية منذ ألفى عام، أدركت مصر أهمية البيانات وقيمتها بما تمنحه من مكانة  استراتيجية وقدرة تحويلية، ويظهر ذلك واضحًا من خلال">
            <a:extLst>
              <a:ext uri="{FF2B5EF4-FFF2-40B4-BE49-F238E27FC236}">
                <a16:creationId xmlns:a16="http://schemas.microsoft.com/office/drawing/2014/main" id="{870DBF11-DDDE-4086-8CBE-CD879452F3F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8163" y="154552"/>
            <a:ext cx="1366160" cy="67665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8D71686A-966D-4BE0-A932-ECD3BA92F0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0095" y="4838930"/>
            <a:ext cx="821436" cy="33207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01193A15-1B90-4F5C-BB1A-7E5FBCE9B41E}"/>
              </a:ext>
            </a:extLst>
          </p:cNvPr>
          <p:cNvSpPr txBox="1"/>
          <p:nvPr/>
        </p:nvSpPr>
        <p:spPr>
          <a:xfrm>
            <a:off x="2125328" y="3965720"/>
            <a:ext cx="4604656" cy="307777"/>
          </a:xfrm>
          <a:prstGeom prst="rect">
            <a:avLst/>
          </a:prstGeom>
          <a:noFill/>
        </p:spPr>
        <p:txBody>
          <a:bodyPr wrap="square">
            <a:spAutoFit/>
          </a:bodyPr>
          <a:lstStyle/>
          <a:p>
            <a:pPr algn="ctr"/>
            <a:r>
              <a:rPr lang="en-US" sz="1400" b="1" dirty="0">
                <a:latin typeface="Times New Roman" panose="02020603050405020304" pitchFamily="18" charset="0"/>
                <a:cs typeface="Times New Roman" panose="02020603050405020304" pitchFamily="18" charset="0"/>
              </a:rPr>
              <a:t>Supervised by: Eng. Mohamed El Emam</a:t>
            </a:r>
            <a:endParaRPr lang="en-AE"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1602</TotalTime>
  <Words>1960</Words>
  <Application>Microsoft Office PowerPoint</Application>
  <PresentationFormat>On-screen Show (16:9)</PresentationFormat>
  <Paragraphs>269</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Gaming &amp; Mental Health — DEPI</dc:title>
  <dc:subject>PptxGenJS Presentation</dc:subject>
  <dc:creator>PptxGenJS</dc:creator>
  <cp:lastModifiedBy>Nourhan Khalifa</cp:lastModifiedBy>
  <cp:revision>185</cp:revision>
  <dcterms:created xsi:type="dcterms:W3CDTF">2026-05-10T11:50:38Z</dcterms:created>
  <dcterms:modified xsi:type="dcterms:W3CDTF">2026-07-10T08:55:43Z</dcterms:modified>
</cp:coreProperties>
</file>